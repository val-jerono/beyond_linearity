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D3C9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OLS</c:v>
                  </c:pt>
                  <c:pt idx="1">
                    <c:v>Ridge (CV)</c:v>
                  </c:pt>
                  <c:pt idx="2">
                    <c:v>Lasso (CV)</c:v>
                  </c:pt>
                  <c:pt idx="3">
                    <c:v>Spline</c:v>
                  </c:pt>
                  <c:pt idx="4">
                    <c:v>GAM</c:v>
                  </c:pt>
                  <c:pt idx="5">
                    <c:v>Random Forest</c:v>
                  </c:pt>
                  <c:pt idx="6">
                    <c:v>Grad. Boosting</c:v>
                  </c:pt>
                  <c:pt idx="7">
                    <c:v>XGBoost</c:v>
                  </c:pt>
                  <c:pt idx="8">
                    <c:v>Neural Network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0.654</c:v>
                </c:pt>
                <c:pt idx="1">
                  <c:v>0.654</c:v>
                </c:pt>
                <c:pt idx="2">
                  <c:v>0.654</c:v>
                </c:pt>
                <c:pt idx="3">
                  <c:v>0.736</c:v>
                </c:pt>
                <c:pt idx="4">
                  <c:v>0.766</c:v>
                </c:pt>
                <c:pt idx="5">
                  <c:v>0.824</c:v>
                </c:pt>
                <c:pt idx="6">
                  <c:v>0.834</c:v>
                </c:pt>
                <c:pt idx="7">
                  <c:v>0.857</c:v>
                </c:pt>
                <c:pt idx="8">
                  <c:v>0.782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median_income</c:v>
                  </c:pt>
                  <c:pt idx="1">
                    <c:v>latitude</c:v>
                  </c:pt>
                  <c:pt idx="2">
                    <c:v>longitude</c:v>
                  </c:pt>
                  <c:pt idx="3">
                    <c:v>housing_median_age</c:v>
                  </c:pt>
                  <c:pt idx="4">
                    <c:v>rooms_per_household</c:v>
                  </c:pt>
                  <c:pt idx="5">
                    <c:v>population_per_household</c:v>
                  </c:pt>
                  <c:pt idx="6">
                    <c:v>bedrooms_per_room</c:v>
                  </c:pt>
                  <c:pt idx="7">
                    <c:v>households</c:v>
                  </c:pt>
                  <c:pt idx="8">
                    <c:v>population</c:v>
                  </c:pt>
                  <c:pt idx="9">
                    <c:v>total_bedrooms</c:v>
                  </c:pt>
                  <c:pt idx="10">
                    <c:v>total_rooms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0.312</c:v>
                </c:pt>
                <c:pt idx="1">
                  <c:v>0.228</c:v>
                </c:pt>
                <c:pt idx="2">
                  <c:v>0.185</c:v>
                </c:pt>
                <c:pt idx="3">
                  <c:v>0.082</c:v>
                </c:pt>
                <c:pt idx="4">
                  <c:v>0.061</c:v>
                </c:pt>
                <c:pt idx="5">
                  <c:v>0.044</c:v>
                </c:pt>
                <c:pt idx="6">
                  <c:v>0.032</c:v>
                </c:pt>
                <c:pt idx="7">
                  <c:v>0.022</c:v>
                </c:pt>
                <c:pt idx="8">
                  <c:v>0.018</c:v>
                </c:pt>
                <c:pt idx="9">
                  <c:v>0.01</c:v>
                </c:pt>
                <c:pt idx="10">
                  <c:v>0.006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D3C9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OLS</c:v>
                  </c:pt>
                  <c:pt idx="1">
                    <c:v>Ridge</c:v>
                  </c:pt>
                  <c:pt idx="2">
                    <c:v>Lasso</c:v>
                  </c:pt>
                  <c:pt idx="3">
                    <c:v>Spline</c:v>
                  </c:pt>
                  <c:pt idx="4">
                    <c:v>GAM</c:v>
                  </c:pt>
                  <c:pt idx="5">
                    <c:v>Rand. Forest</c:v>
                  </c:pt>
                  <c:pt idx="6">
                    <c:v>Grad. Boost</c:v>
                  </c:pt>
                  <c:pt idx="7">
                    <c:v>XGBoost</c:v>
                  </c:pt>
                  <c:pt idx="8">
                    <c:v>MLP</c:v>
                  </c:pt>
                  <c:pt idx="9">
                    <c:v>Spat. Lag</c:v>
                  </c:pt>
                  <c:pt idx="10">
                    <c:v>Spat. Error</c:v>
                  </c:pt>
                  <c:pt idx="11">
                    <c:v>GWR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0.654</c:v>
                </c:pt>
                <c:pt idx="1">
                  <c:v>0.654</c:v>
                </c:pt>
                <c:pt idx="2">
                  <c:v>0.654</c:v>
                </c:pt>
                <c:pt idx="3">
                  <c:v>0.736</c:v>
                </c:pt>
                <c:pt idx="4">
                  <c:v>0.766</c:v>
                </c:pt>
                <c:pt idx="5">
                  <c:v>0.824</c:v>
                </c:pt>
                <c:pt idx="6">
                  <c:v>0.834</c:v>
                </c:pt>
                <c:pt idx="7">
                  <c:v>0.857</c:v>
                </c:pt>
                <c:pt idx="8">
                  <c:v>0.782</c:v>
                </c:pt>
                <c:pt idx="9">
                  <c:v>0.819</c:v>
                </c:pt>
                <c:pt idx="10">
                  <c:v>0.6</c:v>
                </c:pt>
                <c:pt idx="11">
                  <c:v>0.872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743200"/>
            <a:ext cx="3200400" cy="3200400"/>
          </a:xfrm>
          <a:prstGeom prst="ellipse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8305: Linear Models  ·  Group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Linearity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Nonlinear Inquiry into California Housing Prices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438912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88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Valerie Jerono  ·  222331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Mideva  ·  135792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Assumpta Mwikali  ·  134022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Trevor Vuhyah  ·  224038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56032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2E86C1">
              <a:alpha val="60000"/>
            </a:srgbClr>
          </a:solidFill>
          <a:ln w="12700">
            <a:solidFill>
              <a:srgbClr val="F39C12">
                <a:alpha val="8000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724912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3504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20,640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03504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blocks · 1990 U.S. Census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 Dataset  ·  9 Features  ·  Log-Transformed Target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questions. Four acts.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64008" cy="1828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801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20756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nonlinear ensemble models outperform linear regression for housing price prediction?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1887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188720"/>
            <a:ext cx="64008" cy="18288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1801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383280" y="20756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most important nonlinear interactions between location and income?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0760" y="11887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0760" y="1188720"/>
            <a:ext cx="64008" cy="1828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801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17920" y="20756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family performs best: GNPR, Parametric, or ML Ensemble?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Acts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11480" y="36118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11480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1148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11480" y="4187952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Feature Engineering · OLS Baseline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2560320" y="36118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560320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256032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Nonlinear Models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2560320" y="4187952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Splines · GAMs · Random Forest · XGBoost · MLP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4709160" y="36118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709160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470916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Diagnostics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709160" y="4187952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Maps · Moran's I · Spatial Autocorrelation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858000" y="36118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858000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85800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Models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858000" y="4187952"/>
            <a:ext cx="1920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· SEM · GWR · Final Re-comparison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2359152" y="4224528"/>
            <a:ext cx="18288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507992" y="4224528"/>
            <a:ext cx="18288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656832" y="4224528"/>
            <a:ext cx="18288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Exploratory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 · 20,640 census blocks · 1990 U.S. Census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463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20,640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74320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Blocks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23160" y="10515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14300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23160" y="1463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2423160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0" y="10515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4300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1463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572000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Ceiling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720840" y="10515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14300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20840" y="1463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4.8%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6720840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Censored Obs.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36576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4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697480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1792" y="2679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right-skewed with hard cap at $500,001. Log-transform applied throughout.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108960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1792" y="3090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 is the strongest linear predictor (r ≈ 0.69)</a:t>
            </a:r>
            <a:endParaRPr lang="en-US" sz="10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520440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21792" y="3502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regions command a structural premium: Bay Area and LA Basin unmistakable</a:t>
            </a:r>
            <a:endParaRPr lang="en-US" sz="10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3931920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21792" y="3913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total_rooms, bedrooms &amp; households are highly collinear: problematic for OLS only</a:t>
            </a:r>
            <a:endParaRPr lang="en-US" sz="10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4343400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21792" y="4325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clustering is visible at a glance: location is a structural determinant</a:t>
            </a:r>
            <a:endParaRPr lang="en-US" sz="1050" dirty="0"/>
          </a:p>
        </p:txBody>
      </p:sp>
      <p:sp>
        <p:nvSpPr>
          <p:cNvPr id="32" name="Shape 21"/>
          <p:cNvSpPr/>
          <p:nvPr/>
        </p:nvSpPr>
        <p:spPr>
          <a:xfrm>
            <a:off x="4892040" y="2286000"/>
            <a:ext cx="3886200" cy="2697480"/>
          </a:xfrm>
          <a:prstGeom prst="rect">
            <a:avLst/>
          </a:prstGeom>
          <a:solidFill>
            <a:srgbClr val="F8F5F0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502920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Variables</a:t>
            </a:r>
            <a:endParaRPr lang="en-US" sz="1150" dirty="0"/>
          </a:p>
        </p:txBody>
      </p:sp>
      <p:sp>
        <p:nvSpPr>
          <p:cNvPr id="34" name="Shape 23"/>
          <p:cNvSpPr/>
          <p:nvPr/>
        </p:nvSpPr>
        <p:spPr>
          <a:xfrm>
            <a:off x="4892040" y="2651760"/>
            <a:ext cx="3886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4956048" y="2679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 / latitude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6949440" y="26791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coordinates</a:t>
            </a:r>
            <a:endParaRPr lang="en-US" sz="900" dirty="0"/>
          </a:p>
        </p:txBody>
      </p:sp>
      <p:sp>
        <p:nvSpPr>
          <p:cNvPr id="37" name="Shape 26"/>
          <p:cNvSpPr/>
          <p:nvPr/>
        </p:nvSpPr>
        <p:spPr>
          <a:xfrm>
            <a:off x="4892040" y="2999232"/>
            <a:ext cx="3886200" cy="329184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38" name="Text 27"/>
          <p:cNvSpPr/>
          <p:nvPr/>
        </p:nvSpPr>
        <p:spPr>
          <a:xfrm>
            <a:off x="4956048" y="3026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housing_median_age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6949440" y="30266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 age</a:t>
            </a:r>
            <a:endParaRPr lang="en-US" sz="900" dirty="0"/>
          </a:p>
        </p:txBody>
      </p:sp>
      <p:sp>
        <p:nvSpPr>
          <p:cNvPr id="40" name="Shape 29"/>
          <p:cNvSpPr/>
          <p:nvPr/>
        </p:nvSpPr>
        <p:spPr>
          <a:xfrm>
            <a:off x="4892040" y="3346704"/>
            <a:ext cx="3886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4956048" y="3374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total_rooms / bedrooms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6949440" y="33741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counts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4892040" y="3694176"/>
            <a:ext cx="3886200" cy="329184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4956048" y="3721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/ households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6949440" y="37216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demographics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4892040" y="4041648"/>
            <a:ext cx="3886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4956048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median_income</a:t>
            </a:r>
            <a:endParaRPr lang="en-US" sz="900" dirty="0"/>
          </a:p>
        </p:txBody>
      </p:sp>
      <p:sp>
        <p:nvSpPr>
          <p:cNvPr id="48" name="Text 37"/>
          <p:cNvSpPr/>
          <p:nvPr/>
        </p:nvSpPr>
        <p:spPr>
          <a:xfrm>
            <a:off x="694944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Residents' income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4892040" y="4389120"/>
            <a:ext cx="3886200" cy="32918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4956048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median_house_value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6949440" y="44165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 rarely tell the full story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16128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rooms_per_household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150876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 unit luxury. 10,000 rooms across 3,000 households is unremarkable; 3,000 across 100 signals affluence.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18688" y="10972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18688" y="1097280"/>
            <a:ext cx="26517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16128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bedrooms_per_room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328416" y="150876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density captures unit type. Large ratios signal single-family homes vs. dense apartments.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71616" y="10972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71616" y="1097280"/>
            <a:ext cx="26517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16128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population_per_household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181344" y="150876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Winsorised at 99th pct. Raw max=1,243 (prisons/dorms) corrupts StandardScaler for all scaled models.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65760" y="28803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2880360"/>
            <a:ext cx="265176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94436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income_age_interaction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75488" y="329184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joint premium of high income AND older (often more desirable) housing stock.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18688" y="28803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18688" y="2880360"/>
            <a:ext cx="265176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294436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84448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income_x_coastal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3328416" y="329184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Gaussian-weighted: income × exp(−0.3 × (lon+122)²). Peaks at Bay Area coast, fades inland. Linear models cannot discover this.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65760" y="4480560"/>
            <a:ext cx="8412480" cy="475488"/>
          </a:xfrm>
          <a:prstGeom prst="roundRect">
            <a:avLst>
              <a:gd name="adj" fmla="val 15385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02920" y="45079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 sets maintained:  |  feature_cols (13 features, with interactions): OLS, Splines, GAM, MLP  |  features_tree (11 features, no interactions): RF, XGBoost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Landscape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straight line to the neural net: three families, eight models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560320" cy="384048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56032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</a:t>
            </a:r>
            <a:endParaRPr lang="en-US" sz="1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2704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4996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Baseline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" y="17647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benchmark for all models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786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25511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(CV)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49808" y="28163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regularisation: addresses multicollinearity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3016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" y="360273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(CV)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49808" y="38679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regularisation: automatic feature selection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291840" y="1005840"/>
            <a:ext cx="2560320" cy="384048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291840" y="1005840"/>
            <a:ext cx="256032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29184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GNPR</a:t>
            </a:r>
            <a:endParaRPr lang="en-US" sz="11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270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67328" y="14996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 Regression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767328" y="17647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cubic splines, 5 knots + Ridge. Flexible piecewise curves.</a:t>
            </a:r>
            <a:endParaRPr lang="en-US" sz="9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03580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67328" y="30083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767328" y="32735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Generalised Additive Model: sum of smooth functions per feature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309360" y="1005840"/>
            <a:ext cx="2560320" cy="3840480"/>
          </a:xfrm>
          <a:prstGeom prst="rect">
            <a:avLst/>
          </a:prstGeom>
          <a:solidFill>
            <a:srgbClr val="F8F0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309360" y="1005840"/>
            <a:ext cx="25603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30936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ENSEMBLE</a:t>
            </a:r>
            <a:endParaRPr lang="en-US" sz="11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481328"/>
            <a:ext cx="246888" cy="2468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748272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6748272" y="17099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on bootstrapped samples. Parallel, averaging.</a:t>
            </a:r>
            <a:endParaRPr lang="en-US" sz="8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2286000"/>
            <a:ext cx="246888" cy="2468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48272" y="2267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6748272" y="25146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trees correcting residuals. sklearn.</a:t>
            </a:r>
            <a:endParaRPr lang="en-US" sz="8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090672"/>
            <a:ext cx="246888" cy="24688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748272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6748272" y="33192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 boosting with L1/L2. Tuned hyperparameters.</a:t>
            </a:r>
            <a:endParaRPr lang="en-US" sz="85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3895344"/>
            <a:ext cx="246888" cy="24688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748272" y="3877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6748272" y="41239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3 hidden layers. Activation ReLU, Adam optimiser.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OLS Baseline: Where Linearity Fails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that all nonlinear models must beat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194560" cy="2743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155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Performance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0.65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(log)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0.218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RMSE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~$60K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34640" y="1051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Assumption Violations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34640" y="1463040"/>
            <a:ext cx="5943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ADB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1536192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246120" y="151790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Heteroscedasticity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46120" y="175564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Breusch-Pagan test rejects homoscedasticity. Residual variance grows with fitted values; SEs are biased.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834640" y="2231136"/>
            <a:ext cx="5943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ADB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30428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46120" y="228600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246120" y="25237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&gt; 10 for room count variables. Ridge/Lasso correct this; tree models are unaffected.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834640" y="2999232"/>
            <a:ext cx="5943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ADB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68" y="307238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246120" y="305409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Nonlinearity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246120" y="32918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vs. fitted plots show clear curvature. The conditional expectation is not linear in income or location.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834640" y="3767328"/>
            <a:ext cx="5943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ADB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3840480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246120" y="38221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Autocorrelation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3246120" y="405993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Moran's I on OLS residuals is significantly positive. Residuals cluster geographically; independence assumption violated.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Non-Spatial Model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spatial correction: initial performance table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05840"/>
            <a:ext cx="164592" cy="1645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44184" y="9784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629400" y="1005840"/>
            <a:ext cx="164592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21424" y="9784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GNPR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406640" y="1005840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98664" y="9784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Ensemble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183880" y="1005840"/>
            <a:ext cx="164592" cy="1645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75904" y="9784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Deep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60720" y="1280160"/>
            <a:ext cx="3063240" cy="640080"/>
          </a:xfrm>
          <a:prstGeom prst="rect">
            <a:avLst/>
          </a:prstGeom>
          <a:solidFill>
            <a:srgbClr val="F8F5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280160"/>
            <a:ext cx="54864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44168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144768" y="13258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144768" y="15636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0.857: top non-spatial model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760720" y="1993392"/>
            <a:ext cx="3063240" cy="640080"/>
          </a:xfrm>
          <a:prstGeom prst="rect">
            <a:avLst/>
          </a:prstGeom>
          <a:solidFill>
            <a:srgbClr val="F8F5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760720" y="1993392"/>
            <a:ext cx="54864" cy="6400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5740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44768" y="203911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+20pp over OLS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144768" y="22768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 vs 0.654: decisively nonlinear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760720" y="2706624"/>
            <a:ext cx="3063240" cy="640080"/>
          </a:xfrm>
          <a:prstGeom prst="rect">
            <a:avLst/>
          </a:prstGeom>
          <a:solidFill>
            <a:srgbClr val="F8F5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760720" y="2706624"/>
            <a:ext cx="54864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77063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44768" y="275234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GAM: 4th overall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144768" y="29900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0.766: best GNPR, ahead of Neural Net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760720" y="3419856"/>
            <a:ext cx="3063240" cy="640080"/>
          </a:xfrm>
          <a:prstGeom prst="rect">
            <a:avLst/>
          </a:prstGeom>
          <a:solidFill>
            <a:srgbClr val="F8F5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760720" y="3419856"/>
            <a:ext cx="54864" cy="6400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483864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44768" y="346557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= 0.782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144768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 strong but below tree ensembles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760720" y="4133088"/>
            <a:ext cx="3063240" cy="640080"/>
          </a:xfrm>
          <a:prstGeom prst="rect">
            <a:avLst/>
          </a:prstGeom>
          <a:solidFill>
            <a:srgbClr val="F8F5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5760720" y="4133088"/>
            <a:ext cx="54864" cy="6400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4197096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144768" y="41788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test: p &lt; 0.0001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6144768" y="4416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gap over OLS is statistically real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is not just a feature: it is a structural determinant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Moran's 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90472"/>
            <a:ext cx="2377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positive autocorrelation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prices cluster in space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109728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1097280"/>
            <a:ext cx="1828800" cy="32918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115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Lag Model (SLM)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63240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63240" y="170078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spillover effects. Nearby property values influence each other via Maximum Likelihood.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109728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097280"/>
            <a:ext cx="182880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115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Error Model (SEM)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74920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74920" y="170078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for spatially correlated omitted variables. Fixes the independence assumption for valid SEs.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040880" y="109728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1097280"/>
            <a:ext cx="18288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115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Geographically Weighted Regression (GWR)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86600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86600" y="170078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vary continuously across space. The income effect in Bay Area vs. Central Valley is mapped at every block.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743200"/>
            <a:ext cx="8412480" cy="32918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70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OLS Test: Income Coefficient by California Region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154680"/>
            <a:ext cx="2651760" cy="16916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3255264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41248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Area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75488" y="3566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role: High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75488" y="382219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premiums dominate. Income is secondary.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218688" y="3154680"/>
            <a:ext cx="2651760" cy="1691640"/>
          </a:xfrm>
          <a:prstGeom prst="rect">
            <a:avLst/>
          </a:prstGeom>
          <a:solidFill>
            <a:srgbClr val="FEF9E7"/>
          </a:solidFill>
          <a:ln w="12700">
            <a:solidFill>
              <a:srgbClr val="D6EAF8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3255264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694176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Valley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328416" y="3566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role: Primary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3328416" y="382219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is the dominant driver; location matters less.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071616" y="3154680"/>
            <a:ext cx="2651760" cy="16916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55264"/>
            <a:ext cx="274320" cy="2743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547104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CA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6181344" y="3566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role: Medium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6181344" y="382219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effect: income x location interaction.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Income coefficient varies 3.5x across regions. One global OLS slope is a statistical fiction.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Analysis: Opening the XGBoost Black Box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539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Explanations: cooperative game theory applied to every neighbourhood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87552"/>
          <a:ext cx="50292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23560" y="987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SHAP Findings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3246120" cy="731520"/>
          </a:xfrm>
          <a:prstGeom prst="rect">
            <a:avLst/>
          </a:prstGeom>
          <a:solidFill>
            <a:srgbClr val="F8F5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77840" y="1417320"/>
            <a:ext cx="54864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49961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98464" y="148132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= #1 driver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98464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~23% of XGBoost's total predictive power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577840" y="2240280"/>
            <a:ext cx="3246120" cy="731520"/>
          </a:xfrm>
          <a:prstGeom prst="rect">
            <a:avLst/>
          </a:prstGeom>
          <a:solidFill>
            <a:srgbClr val="F8F5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577840" y="2240280"/>
            <a:ext cx="54864" cy="7315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232257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98464" y="230428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= 57% power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998464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+ longitude combined dominate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577840" y="3063240"/>
            <a:ext cx="3246120" cy="731520"/>
          </a:xfrm>
          <a:prstGeom prst="rect">
            <a:avLst/>
          </a:prstGeom>
          <a:solidFill>
            <a:srgbClr val="F8F5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577840" y="3063240"/>
            <a:ext cx="54864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314553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98464" y="31272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interaction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998464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× coastal proximity is discovered without hand-crafting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577840" y="3886200"/>
            <a:ext cx="3246120" cy="731520"/>
          </a:xfrm>
          <a:prstGeom prst="rect">
            <a:avLst/>
          </a:prstGeom>
          <a:solidFill>
            <a:srgbClr val="F8F5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577840" y="3886200"/>
            <a:ext cx="54864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396849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998464" y="39502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models justified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998464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geographic share validates SLM, SEM, and GWR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Model Re-Comparison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spatial models: all families, honest assessment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by Purpose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23560" y="1417320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23560" y="1417320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1444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prediction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0" y="144475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Random Forest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23560" y="1920240"/>
            <a:ext cx="3246120" cy="475488"/>
          </a:xfrm>
          <a:prstGeom prst="rect">
            <a:avLst/>
          </a:prstGeom>
          <a:solidFill>
            <a:srgbClr val="F8F5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23560" y="1920240"/>
            <a:ext cx="54864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1947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+ accuracy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0" y="19476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23560" y="2423160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23560" y="2423160"/>
            <a:ext cx="54864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24505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spillover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15200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Lag Model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23560" y="2926080"/>
            <a:ext cx="3246120" cy="475488"/>
          </a:xfrm>
          <a:prstGeom prst="rect">
            <a:avLst/>
          </a:prstGeom>
          <a:solidFill>
            <a:srgbClr val="F8F5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23560" y="2926080"/>
            <a:ext cx="54864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0" y="29535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Omitted var. correction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15200" y="29535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Error Model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623560" y="3429000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23560" y="3429000"/>
            <a:ext cx="54864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15000" y="3456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geography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15200" y="3456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623560" y="3931920"/>
            <a:ext cx="3246120" cy="475488"/>
          </a:xfrm>
          <a:prstGeom prst="rect">
            <a:avLst/>
          </a:prstGeom>
          <a:solidFill>
            <a:srgbClr val="F8F5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23560" y="3931920"/>
            <a:ext cx="54864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15000" y="3959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inference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315200" y="395935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+ spatial SEs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690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is not a single winner. The choice of model is a choice about purpose.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2E86C1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E67E22">
              <a:alpha val="25000"/>
            </a:srgbClr>
          </a:solidFill>
          <a:ln w="12700">
            <a:solidFill>
              <a:srgbClr val="E67E2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lies beyond linearity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321040" cy="960120"/>
          </a:xfrm>
          <a:prstGeom prst="rect">
            <a:avLst/>
          </a:prstGeom>
          <a:solidFill>
            <a:srgbClr val="2E86C1">
              <a:alpha val="45000"/>
            </a:srgbClr>
          </a:solidFill>
          <a:ln w="12700">
            <a:solidFill>
              <a:srgbClr val="2E86C1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9601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3441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72768" y="13258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decisively. XGBoost R² = 0.857 vs OLS R² = 0.654: a +20 percentage point gain, stable across 5-fold CV, confirmed significant by Diebold-Mariano (p &lt; 0.0001).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8321040" cy="960120"/>
          </a:xfrm>
          <a:prstGeom prst="rect">
            <a:avLst/>
          </a:prstGeom>
          <a:solidFill>
            <a:srgbClr val="2E86C1">
              <a:alpha val="45000"/>
            </a:srgbClr>
          </a:solidFill>
          <a:ln w="12700">
            <a:solidFill>
              <a:srgbClr val="2E86C1">
                <a:alpha val="4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377440"/>
            <a:ext cx="54864" cy="960120"/>
          </a:xfrm>
          <a:prstGeom prst="rect">
            <a:avLst/>
          </a:prstGeom>
          <a:solidFill>
            <a:srgbClr val="A9DFBF"/>
          </a:solidFill>
          <a:ln w="12700">
            <a:solidFill>
              <a:srgbClr val="A9DFB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688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4414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572768" y="242316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+ income. SHAP: latitude/longitude = 57% of XGBoost power; income = 23%. Income coefficient varies 3.5x across regions. One global slope is a statistical fiction.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474720"/>
            <a:ext cx="8321040" cy="960120"/>
          </a:xfrm>
          <a:prstGeom prst="rect">
            <a:avLst/>
          </a:prstGeom>
          <a:solidFill>
            <a:srgbClr val="2E86C1">
              <a:alpha val="45000"/>
            </a:srgbClr>
          </a:solidFill>
          <a:ln w="12700">
            <a:solidFill>
              <a:srgbClr val="2E86C1">
                <a:alpha val="4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474720"/>
            <a:ext cx="54864" cy="9601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661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5387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572768" y="352044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Ensembles win on prediction. GAMs win on interpretability. Spatial models win for valid inference. No single family dominates all criteria.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44165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housing is a nonlinear, spatially structured world. We have mapped its contours, measured its gradients, and begun to model the forces that shape 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Linearity: California Housing Prices</dc:title>
  <dc:subject>PptxGenJS Presentation</dc:subject>
  <dc:creator>Group 6, DSA 8305</dc:creator>
  <cp:lastModifiedBy>Group 6, DSA 8305</cp:lastModifiedBy>
  <cp:revision>1</cp:revision>
  <dcterms:created xsi:type="dcterms:W3CDTF">2026-06-08T11:59:08Z</dcterms:created>
  <dcterms:modified xsi:type="dcterms:W3CDTF">2026-06-08T11:59:08Z</dcterms:modified>
</cp:coreProperties>
</file>