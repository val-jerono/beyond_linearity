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8" r:id="rId6"/>
    <p:sldId id="269" r:id="rId7"/>
    <p:sldId id="272" r:id="rId8"/>
    <p:sldId id="270" r:id="rId9"/>
    <p:sldId id="273" r:id="rId10"/>
    <p:sldId id="276" r:id="rId11"/>
    <p:sldId id="261" r:id="rId12"/>
    <p:sldId id="262" r:id="rId13"/>
    <p:sldId id="274" r:id="rId14"/>
    <p:sldId id="264" r:id="rId15"/>
    <p:sldId id="275" r:id="rId16"/>
    <p:sldId id="265" r:id="rId17"/>
    <p:sldId id="266" r:id="rId18"/>
    <p:sldId id="267"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5" d="100"/>
          <a:sy n="115" d="100"/>
        </p:scale>
        <p:origin x="51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0000"/>
                </a:solidFill>
                <a:latin typeface="Arial"/>
              </a:defRPr>
            </a:pPr>
            <a:r>
              <a:rPr lang="en-US" sz="1200" b="0" i="0" u="none" strike="noStrike">
                <a:solidFill>
                  <a:srgbClr val="000000"/>
                </a:solidFill>
                <a:latin typeface="Arial"/>
              </a:rPr>
              <a:t>R² by Model</a:t>
            </a:r>
          </a:p>
        </c:rich>
      </c:tx>
      <c:overlay val="0"/>
    </c:title>
    <c:autoTitleDeleted val="0"/>
    <c:plotArea>
      <c:layout/>
      <c:barChart>
        <c:barDir val="col"/>
        <c:grouping val="clustered"/>
        <c:varyColors val="0"/>
        <c:ser>
          <c:idx val="0"/>
          <c:order val="0"/>
          <c:tx>
            <c:strRef>
              <c:f>Sheet1!$B$1</c:f>
              <c:strCache>
                <c:ptCount val="1"/>
                <c:pt idx="0">
                  <c:v>R²</c:v>
                </c:pt>
              </c:strCache>
            </c:strRef>
          </c:tx>
          <c:spPr>
            <a:solidFill>
              <a:srgbClr val="D7191C"/>
            </a:solidFill>
            <a:effectLst/>
          </c:spPr>
          <c:invertIfNegative val="0"/>
          <c:dPt>
            <c:idx val="0"/>
            <c:invertIfNegative val="0"/>
            <c:bubble3D val="0"/>
            <c:extLst>
              <c:ext xmlns:c16="http://schemas.microsoft.com/office/drawing/2014/chart" uri="{C3380CC4-5D6E-409C-BE32-E72D297353CC}">
                <c16:uniqueId val="{00000001-EBC2-41C5-B037-7BE4417CE8FB}"/>
              </c:ext>
            </c:extLst>
          </c:dPt>
          <c:dPt>
            <c:idx val="1"/>
            <c:invertIfNegative val="0"/>
            <c:bubble3D val="0"/>
            <c:extLst>
              <c:ext xmlns:c16="http://schemas.microsoft.com/office/drawing/2014/chart" uri="{C3380CC4-5D6E-409C-BE32-E72D297353CC}">
                <c16:uniqueId val="{00000003-EBC2-41C5-B037-7BE4417CE8FB}"/>
              </c:ext>
            </c:extLst>
          </c:dPt>
          <c:dPt>
            <c:idx val="2"/>
            <c:invertIfNegative val="0"/>
            <c:bubble3D val="0"/>
            <c:extLst>
              <c:ext xmlns:c16="http://schemas.microsoft.com/office/drawing/2014/chart" uri="{C3380CC4-5D6E-409C-BE32-E72D297353CC}">
                <c16:uniqueId val="{00000005-EBC2-41C5-B037-7BE4417CE8FB}"/>
              </c:ext>
            </c:extLst>
          </c:dPt>
          <c:dPt>
            <c:idx val="3"/>
            <c:invertIfNegative val="0"/>
            <c:bubble3D val="0"/>
            <c:spPr>
              <a:solidFill>
                <a:srgbClr val="FDAE61"/>
              </a:solidFill>
              <a:effectLst/>
            </c:spPr>
            <c:extLst>
              <c:ext xmlns:c16="http://schemas.microsoft.com/office/drawing/2014/chart" uri="{C3380CC4-5D6E-409C-BE32-E72D297353CC}">
                <c16:uniqueId val="{00000007-EBC2-41C5-B037-7BE4417CE8FB}"/>
              </c:ext>
            </c:extLst>
          </c:dPt>
          <c:dPt>
            <c:idx val="4"/>
            <c:invertIfNegative val="0"/>
            <c:bubble3D val="0"/>
            <c:spPr>
              <a:solidFill>
                <a:srgbClr val="FDAE61"/>
              </a:solidFill>
              <a:effectLst/>
            </c:spPr>
            <c:extLst>
              <c:ext xmlns:c16="http://schemas.microsoft.com/office/drawing/2014/chart" uri="{C3380CC4-5D6E-409C-BE32-E72D297353CC}">
                <c16:uniqueId val="{00000009-EBC2-41C5-B037-7BE4417CE8FB}"/>
              </c:ext>
            </c:extLst>
          </c:dPt>
          <c:dPt>
            <c:idx val="5"/>
            <c:invertIfNegative val="0"/>
            <c:bubble3D val="0"/>
            <c:spPr>
              <a:solidFill>
                <a:srgbClr val="1A9641"/>
              </a:solidFill>
              <a:effectLst/>
            </c:spPr>
            <c:extLst>
              <c:ext xmlns:c16="http://schemas.microsoft.com/office/drawing/2014/chart" uri="{C3380CC4-5D6E-409C-BE32-E72D297353CC}">
                <c16:uniqueId val="{0000000B-EBC2-41C5-B037-7BE4417CE8FB}"/>
              </c:ext>
            </c:extLst>
          </c:dPt>
          <c:dPt>
            <c:idx val="6"/>
            <c:invertIfNegative val="0"/>
            <c:bubble3D val="0"/>
            <c:spPr>
              <a:solidFill>
                <a:srgbClr val="2C7BB6"/>
              </a:solidFill>
              <a:effectLst/>
            </c:spPr>
            <c:extLst>
              <c:ext xmlns:c16="http://schemas.microsoft.com/office/drawing/2014/chart" uri="{C3380CC4-5D6E-409C-BE32-E72D297353CC}">
                <c16:uniqueId val="{0000000D-EBC2-41C5-B037-7BE4417CE8FB}"/>
              </c:ext>
            </c:extLst>
          </c:dPt>
          <c:dPt>
            <c:idx val="7"/>
            <c:invertIfNegative val="0"/>
            <c:bubble3D val="0"/>
            <c:spPr>
              <a:solidFill>
                <a:srgbClr val="2C7BB6"/>
              </a:solidFill>
              <a:effectLst/>
            </c:spPr>
            <c:extLst>
              <c:ext xmlns:c16="http://schemas.microsoft.com/office/drawing/2014/chart" uri="{C3380CC4-5D6E-409C-BE32-E72D297353CC}">
                <c16:uniqueId val="{0000000F-EBC2-41C5-B037-7BE4417CE8FB}"/>
              </c:ext>
            </c:extLst>
          </c:dPt>
          <c:dPt>
            <c:idx val="8"/>
            <c:invertIfNegative val="0"/>
            <c:bubble3D val="0"/>
            <c:spPr>
              <a:solidFill>
                <a:srgbClr val="2C7BB6"/>
              </a:solidFill>
              <a:effectLst/>
            </c:spPr>
            <c:extLst>
              <c:ext xmlns:c16="http://schemas.microsoft.com/office/drawing/2014/chart" uri="{C3380CC4-5D6E-409C-BE32-E72D297353CC}">
                <c16:uniqueId val="{00000011-EBC2-41C5-B037-7BE4417CE8FB}"/>
              </c:ext>
            </c:extLst>
          </c:dPt>
          <c:dLbls>
            <c:numFmt formatCode="#,##0" sourceLinked="0"/>
            <c:spPr>
              <a:noFill/>
              <a:ln>
                <a:noFill/>
              </a:ln>
              <a:effectLst/>
            </c:spPr>
            <c:txPr>
              <a:bodyPr/>
              <a:lstStyle/>
              <a:p>
                <a:pPr>
                  <a:defRPr sz="800" b="0" i="0" u="none" strike="noStrike">
                    <a:solidFill>
                      <a:srgbClr val="1E293B"/>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OLS</c:v>
                </c:pt>
                <c:pt idx="1">
                  <c:v>Lasso</c:v>
                </c:pt>
                <c:pt idx="2">
                  <c:v>Ridge</c:v>
                </c:pt>
                <c:pt idx="3">
                  <c:v>GAM</c:v>
                </c:pt>
                <c:pt idx="4">
                  <c:v>Spline</c:v>
                </c:pt>
                <c:pt idx="5">
                  <c:v>Neural Net</c:v>
                </c:pt>
                <c:pt idx="6">
                  <c:v>Rand. Forest</c:v>
                </c:pt>
                <c:pt idx="7">
                  <c:v>Grad. Boost</c:v>
                </c:pt>
                <c:pt idx="8">
                  <c:v>XGBoost</c:v>
                </c:pt>
              </c:strCache>
            </c:strRef>
          </c:cat>
          <c:val>
            <c:numRef>
              <c:f>Sheet1!$B$2:$B$10</c:f>
              <c:numCache>
                <c:formatCode>General</c:formatCode>
                <c:ptCount val="9"/>
                <c:pt idx="0">
                  <c:v>0.63300000000000001</c:v>
                </c:pt>
                <c:pt idx="1">
                  <c:v>0.61850000000000005</c:v>
                </c:pt>
                <c:pt idx="2">
                  <c:v>0.63300000000000001</c:v>
                </c:pt>
                <c:pt idx="3">
                  <c:v>0.7591</c:v>
                </c:pt>
                <c:pt idx="4">
                  <c:v>0.71750000000000003</c:v>
                </c:pt>
                <c:pt idx="5">
                  <c:v>0.74519999999999997</c:v>
                </c:pt>
                <c:pt idx="6">
                  <c:v>0.82279999999999998</c:v>
                </c:pt>
                <c:pt idx="7">
                  <c:v>0.83679999999999999</c:v>
                </c:pt>
                <c:pt idx="8">
                  <c:v>0.85050000000000003</c:v>
                </c:pt>
              </c:numCache>
            </c:numRef>
          </c:val>
          <c:extLst>
            <c:ext xmlns:c16="http://schemas.microsoft.com/office/drawing/2014/chart" uri="{C3380CC4-5D6E-409C-BE32-E72D297353CC}">
              <c16:uniqueId val="{00000012-EBC2-41C5-B037-7BE4417CE8FB}"/>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D"/>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1224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90F1C-97D5-6428-1BB3-5E93D9D6F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76EC5-FCCD-CAE5-E7EB-ECBCF5A57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9EF9F-DBAB-C1D2-E238-9389D1436E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C23067-FB4E-1F92-63F8-6C1417713BA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26658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ECA76-3513-9D96-FBBA-4BA0BF6A4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40355-0772-3973-7E08-766314F61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42EDDB-6665-A040-2694-F157E9DF31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DE9DA6-DDCE-6478-70F7-7B9F1A252B9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139688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BC7F6-3150-FDD1-2C3D-F2C8A16E6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9F9B4-FF56-51E3-8350-40572D0B9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47A1C-EFD5-1E82-D05A-56E5E6CE2A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019E74-5091-38A5-A71C-C0E0AEC2224B}"/>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206938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0" y="0"/>
            <a:ext cx="9144000" cy="3291840"/>
          </a:xfrm>
          <a:prstGeom prst="rect">
            <a:avLst/>
          </a:prstGeom>
          <a:solidFill>
            <a:srgbClr val="1E2761"/>
          </a:solidFill>
          <a:ln w="12700">
            <a:solidFill>
              <a:srgbClr val="1E2761"/>
            </a:solidFill>
            <a:prstDash val="solid"/>
          </a:ln>
        </p:spPr>
        <p:txBody>
          <a:bodyPr/>
          <a:lstStyle/>
          <a:p>
            <a:endParaRPr lang="en-US" dirty="0"/>
          </a:p>
        </p:txBody>
      </p:sp>
      <p:sp>
        <p:nvSpPr>
          <p:cNvPr id="3" name="Shape 1"/>
          <p:cNvSpPr/>
          <p:nvPr/>
        </p:nvSpPr>
        <p:spPr>
          <a:xfrm>
            <a:off x="0" y="3291840"/>
            <a:ext cx="9144000" cy="54864"/>
          </a:xfrm>
          <a:prstGeom prst="rect">
            <a:avLst/>
          </a:prstGeom>
          <a:solidFill>
            <a:srgbClr val="D7191C"/>
          </a:solidFill>
          <a:ln w="12700">
            <a:solidFill>
              <a:srgbClr val="D7191C"/>
            </a:solidFill>
            <a:prstDash val="solid"/>
          </a:ln>
        </p:spPr>
        <p:txBody>
          <a:bodyPr/>
          <a:lstStyle/>
          <a:p>
            <a:endParaRPr lang="en-US"/>
          </a:p>
        </p:txBody>
      </p:sp>
      <p:sp>
        <p:nvSpPr>
          <p:cNvPr id="4" name="Text 2"/>
          <p:cNvSpPr/>
          <p:nvPr/>
        </p:nvSpPr>
        <p:spPr>
          <a:xfrm>
            <a:off x="548640" y="502920"/>
            <a:ext cx="8046720" cy="1097280"/>
          </a:xfrm>
          <a:prstGeom prst="rect">
            <a:avLst/>
          </a:prstGeom>
          <a:noFill/>
          <a:ln/>
        </p:spPr>
        <p:txBody>
          <a:bodyPr wrap="square" rtlCol="0" anchor="ctr"/>
          <a:lstStyle/>
          <a:p>
            <a:pPr marL="0" indent="0" algn="ctr">
              <a:buNone/>
            </a:pPr>
            <a:r>
              <a:rPr lang="en-US" sz="4800" b="1" kern="0" spc="400" dirty="0">
                <a:solidFill>
                  <a:srgbClr val="FFFFFF"/>
                </a:solidFill>
                <a:latin typeface="Cambria" pitchFamily="34" charset="0"/>
                <a:ea typeface="Cambria" pitchFamily="34" charset="-122"/>
                <a:cs typeface="Cambria" pitchFamily="34" charset="-120"/>
              </a:rPr>
              <a:t>California Housing Price Prediction</a:t>
            </a:r>
            <a:endParaRPr lang="en-US" sz="4800" dirty="0"/>
          </a:p>
        </p:txBody>
      </p:sp>
      <p:sp>
        <p:nvSpPr>
          <p:cNvPr id="6" name="Text 4"/>
          <p:cNvSpPr/>
          <p:nvPr/>
        </p:nvSpPr>
        <p:spPr>
          <a:xfrm>
            <a:off x="548640" y="2286000"/>
            <a:ext cx="8046720" cy="365760"/>
          </a:xfrm>
          <a:prstGeom prst="rect">
            <a:avLst/>
          </a:prstGeom>
          <a:noFill/>
          <a:ln/>
        </p:spPr>
        <p:txBody>
          <a:bodyPr wrap="square" rtlCol="0" anchor="ctr"/>
          <a:lstStyle/>
          <a:p>
            <a:pPr marL="0" indent="0" algn="ctr">
              <a:buNone/>
            </a:pPr>
            <a:r>
              <a:rPr lang="en-US" sz="1100" dirty="0">
                <a:solidFill>
                  <a:srgbClr val="8899AA"/>
                </a:solidFill>
                <a:latin typeface="Calibri" pitchFamily="34" charset="0"/>
                <a:ea typeface="Calibri" pitchFamily="34" charset="-122"/>
                <a:cs typeface="Calibri" pitchFamily="34" charset="-120"/>
              </a:rPr>
              <a:t>California Housing Dataset   |  20,640 Observations</a:t>
            </a:r>
            <a:endParaRPr lang="en-US" sz="1100" dirty="0"/>
          </a:p>
        </p:txBody>
      </p:sp>
      <p:sp>
        <p:nvSpPr>
          <p:cNvPr id="7" name="Shape 5"/>
          <p:cNvSpPr/>
          <p:nvPr/>
        </p:nvSpPr>
        <p:spPr>
          <a:xfrm>
            <a:off x="0" y="3346704"/>
            <a:ext cx="9144000" cy="1796796"/>
          </a:xfrm>
          <a:prstGeom prst="rect">
            <a:avLst/>
          </a:prstGeom>
          <a:solidFill>
            <a:srgbClr val="141B2D"/>
          </a:solidFill>
          <a:ln w="12700">
            <a:solidFill>
              <a:srgbClr val="141B2D"/>
            </a:solidFill>
            <a:prstDash val="solid"/>
          </a:ln>
        </p:spPr>
        <p:txBody>
          <a:bodyPr/>
          <a:lstStyle/>
          <a:p>
            <a:endParaRPr lang="en-US"/>
          </a:p>
        </p:txBody>
      </p:sp>
      <p:sp>
        <p:nvSpPr>
          <p:cNvPr id="8" name="Text 6"/>
          <p:cNvSpPr/>
          <p:nvPr/>
        </p:nvSpPr>
        <p:spPr>
          <a:xfrm>
            <a:off x="457200" y="3438144"/>
            <a:ext cx="8229600" cy="320040"/>
          </a:xfrm>
          <a:prstGeom prst="rect">
            <a:avLst/>
          </a:prstGeom>
          <a:noFill/>
          <a:ln/>
        </p:spPr>
        <p:txBody>
          <a:bodyPr wrap="square" rtlCol="0" anchor="ctr"/>
          <a:lstStyle/>
          <a:p>
            <a:pPr marL="0" indent="0">
              <a:buNone/>
            </a:pPr>
            <a:r>
              <a:rPr lang="en-US" sz="1000" b="1" kern="0" spc="200" dirty="0">
                <a:solidFill>
                  <a:srgbClr val="8899AA"/>
                </a:solidFill>
                <a:latin typeface="Calibri" pitchFamily="34" charset="0"/>
                <a:ea typeface="Calibri" pitchFamily="34" charset="-122"/>
                <a:cs typeface="Calibri" pitchFamily="34" charset="-120"/>
              </a:rPr>
              <a:t>The Team</a:t>
            </a:r>
            <a:endParaRPr lang="en-US" sz="1000" dirty="0"/>
          </a:p>
        </p:txBody>
      </p:sp>
      <p:sp>
        <p:nvSpPr>
          <p:cNvPr id="9" name="Text 7"/>
          <p:cNvSpPr/>
          <p:nvPr/>
        </p:nvSpPr>
        <p:spPr>
          <a:xfrm>
            <a:off x="457200" y="3794760"/>
            <a:ext cx="2011680" cy="365760"/>
          </a:xfrm>
          <a:prstGeom prst="rect">
            <a:avLst/>
          </a:prstGeom>
          <a:noFill/>
          <a:ln/>
        </p:spPr>
        <p:txBody>
          <a:bodyPr wrap="square"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Assumpta Mwikali  134022</a:t>
            </a:r>
            <a:endParaRPr lang="en-US" sz="1100" dirty="0"/>
          </a:p>
        </p:txBody>
      </p:sp>
      <p:sp>
        <p:nvSpPr>
          <p:cNvPr id="10" name="Text 8"/>
          <p:cNvSpPr/>
          <p:nvPr/>
        </p:nvSpPr>
        <p:spPr>
          <a:xfrm>
            <a:off x="2560320" y="3794760"/>
            <a:ext cx="2011680" cy="365760"/>
          </a:xfrm>
          <a:prstGeom prst="rect">
            <a:avLst/>
          </a:prstGeom>
          <a:noFill/>
          <a:ln/>
        </p:spPr>
        <p:txBody>
          <a:bodyPr wrap="square"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Olive Mideva Muloma  135792</a:t>
            </a:r>
            <a:endParaRPr lang="en-US" sz="1100" dirty="0"/>
          </a:p>
        </p:txBody>
      </p:sp>
      <p:sp>
        <p:nvSpPr>
          <p:cNvPr id="11" name="Text 9"/>
          <p:cNvSpPr/>
          <p:nvPr/>
        </p:nvSpPr>
        <p:spPr>
          <a:xfrm>
            <a:off x="4663440" y="3794760"/>
            <a:ext cx="2011680" cy="365760"/>
          </a:xfrm>
          <a:prstGeom prst="rect">
            <a:avLst/>
          </a:prstGeom>
          <a:noFill/>
          <a:ln/>
        </p:spPr>
        <p:txBody>
          <a:bodyPr wrap="square"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Trevor Anjeyo Vuhyah  224038</a:t>
            </a:r>
            <a:endParaRPr lang="en-US" sz="1100" dirty="0"/>
          </a:p>
        </p:txBody>
      </p:sp>
      <p:sp>
        <p:nvSpPr>
          <p:cNvPr id="12" name="Text 10"/>
          <p:cNvSpPr/>
          <p:nvPr/>
        </p:nvSpPr>
        <p:spPr>
          <a:xfrm>
            <a:off x="6766560" y="3794760"/>
            <a:ext cx="2011680" cy="365760"/>
          </a:xfrm>
          <a:prstGeom prst="rect">
            <a:avLst/>
          </a:prstGeom>
          <a:noFill/>
          <a:ln/>
        </p:spPr>
        <p:txBody>
          <a:bodyPr wrap="square"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Valerie Jerono  222331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dirty="0"/>
          </a:p>
        </p:txBody>
      </p:sp>
      <p:sp>
        <p:nvSpPr>
          <p:cNvPr id="3" name="Text 1"/>
          <p:cNvSpPr/>
          <p:nvPr/>
        </p:nvSpPr>
        <p:spPr>
          <a:xfrm>
            <a:off x="411480" y="73152"/>
            <a:ext cx="832104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rPr>
              <a:t>Research Questions</a:t>
            </a:r>
            <a:endParaRPr lang="en-US" sz="2600" dirty="0"/>
          </a:p>
        </p:txBody>
      </p:sp>
      <p:sp>
        <p:nvSpPr>
          <p:cNvPr id="6" name="Shape 4"/>
          <p:cNvSpPr/>
          <p:nvPr/>
        </p:nvSpPr>
        <p:spPr>
          <a:xfrm>
            <a:off x="274320" y="1836173"/>
            <a:ext cx="2743200" cy="2286000"/>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411480" y="1955045"/>
            <a:ext cx="2468880" cy="384048"/>
          </a:xfrm>
          <a:prstGeom prst="rect">
            <a:avLst/>
          </a:prstGeom>
          <a:noFill/>
          <a:ln/>
        </p:spPr>
        <p:txBody>
          <a:bodyPr wrap="square" lIns="0" tIns="0" rIns="0" bIns="0" rtlCol="0" anchor="ctr"/>
          <a:lstStyle/>
          <a:p>
            <a:pPr marL="0" indent="0">
              <a:buNone/>
            </a:pPr>
            <a:r>
              <a:rPr lang="en-US" sz="1300" b="1" dirty="0">
                <a:solidFill>
                  <a:srgbClr val="D7191C"/>
                </a:solidFill>
                <a:latin typeface="Cambria" pitchFamily="34" charset="0"/>
                <a:ea typeface="Cambria" pitchFamily="34" charset="-122"/>
                <a:cs typeface="Cambria" pitchFamily="34" charset="-120"/>
              </a:rPr>
              <a:t>RQ 1</a:t>
            </a:r>
            <a:endParaRPr lang="en-US" sz="1300" dirty="0"/>
          </a:p>
        </p:txBody>
      </p:sp>
      <p:sp>
        <p:nvSpPr>
          <p:cNvPr id="8" name="Text 6"/>
          <p:cNvSpPr/>
          <p:nvPr/>
        </p:nvSpPr>
        <p:spPr>
          <a:xfrm>
            <a:off x="411480" y="2384813"/>
            <a:ext cx="2468880" cy="160020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Can ensemble nonlinear models outperform linear regression in predicting California house prices?</a:t>
            </a:r>
            <a:endParaRPr lang="en-US" sz="1150" dirty="0"/>
          </a:p>
        </p:txBody>
      </p:sp>
      <p:sp>
        <p:nvSpPr>
          <p:cNvPr id="9" name="Shape 7"/>
          <p:cNvSpPr/>
          <p:nvPr/>
        </p:nvSpPr>
        <p:spPr>
          <a:xfrm>
            <a:off x="3218688" y="1836173"/>
            <a:ext cx="2743200" cy="2286000"/>
          </a:xfrm>
          <a:prstGeom prst="rect">
            <a:avLst/>
          </a:prstGeom>
          <a:solidFill>
            <a:srgbClr val="2C4B8A"/>
          </a:solidFill>
          <a:ln w="12700">
            <a:solidFill>
              <a:srgbClr val="1E2761"/>
            </a:solidFill>
            <a:prstDash val="solid"/>
          </a:ln>
        </p:spPr>
        <p:txBody>
          <a:bodyPr/>
          <a:lstStyle/>
          <a:p>
            <a:endParaRPr lang="en-US"/>
          </a:p>
        </p:txBody>
      </p:sp>
      <p:sp>
        <p:nvSpPr>
          <p:cNvPr id="10" name="Text 8"/>
          <p:cNvSpPr/>
          <p:nvPr/>
        </p:nvSpPr>
        <p:spPr>
          <a:xfrm>
            <a:off x="3355848" y="1955045"/>
            <a:ext cx="2468880" cy="384048"/>
          </a:xfrm>
          <a:prstGeom prst="rect">
            <a:avLst/>
          </a:prstGeom>
          <a:noFill/>
          <a:ln/>
        </p:spPr>
        <p:txBody>
          <a:bodyPr wrap="square" lIns="0" tIns="0" rIns="0" bIns="0" rtlCol="0" anchor="ctr"/>
          <a:lstStyle/>
          <a:p>
            <a:pPr marL="0" indent="0">
              <a:buNone/>
            </a:pPr>
            <a:r>
              <a:rPr lang="en-US" sz="1300" b="1" dirty="0">
                <a:solidFill>
                  <a:srgbClr val="D7191C"/>
                </a:solidFill>
                <a:latin typeface="Cambria" pitchFamily="34" charset="0"/>
                <a:ea typeface="Cambria" pitchFamily="34" charset="-122"/>
                <a:cs typeface="Cambria" pitchFamily="34" charset="-120"/>
              </a:rPr>
              <a:t>RQ 2</a:t>
            </a:r>
            <a:endParaRPr lang="en-US" sz="1300" dirty="0"/>
          </a:p>
        </p:txBody>
      </p:sp>
      <p:sp>
        <p:nvSpPr>
          <p:cNvPr id="11" name="Text 9"/>
          <p:cNvSpPr/>
          <p:nvPr/>
        </p:nvSpPr>
        <p:spPr>
          <a:xfrm>
            <a:off x="3355848" y="2384813"/>
            <a:ext cx="2468880" cy="160020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What are the most important nonlinear interactions between location and income?</a:t>
            </a:r>
            <a:endParaRPr lang="en-US" sz="1150" dirty="0"/>
          </a:p>
        </p:txBody>
      </p:sp>
      <p:sp>
        <p:nvSpPr>
          <p:cNvPr id="12" name="Shape 10"/>
          <p:cNvSpPr/>
          <p:nvPr/>
        </p:nvSpPr>
        <p:spPr>
          <a:xfrm>
            <a:off x="6163056" y="1836173"/>
            <a:ext cx="2743200" cy="2286000"/>
          </a:xfrm>
          <a:prstGeom prst="rect">
            <a:avLst/>
          </a:prstGeom>
          <a:solidFill>
            <a:srgbClr val="1E2761"/>
          </a:solidFill>
          <a:ln w="12700">
            <a:solidFill>
              <a:srgbClr val="1E2761"/>
            </a:solidFill>
            <a:prstDash val="solid"/>
          </a:ln>
        </p:spPr>
        <p:txBody>
          <a:bodyPr/>
          <a:lstStyle/>
          <a:p>
            <a:endParaRPr lang="en-US"/>
          </a:p>
        </p:txBody>
      </p:sp>
      <p:sp>
        <p:nvSpPr>
          <p:cNvPr id="13" name="Text 11"/>
          <p:cNvSpPr/>
          <p:nvPr/>
        </p:nvSpPr>
        <p:spPr>
          <a:xfrm>
            <a:off x="6300216" y="1955045"/>
            <a:ext cx="2468880" cy="384048"/>
          </a:xfrm>
          <a:prstGeom prst="rect">
            <a:avLst/>
          </a:prstGeom>
          <a:noFill/>
          <a:ln/>
        </p:spPr>
        <p:txBody>
          <a:bodyPr wrap="square" lIns="0" tIns="0" rIns="0" bIns="0" rtlCol="0" anchor="ctr"/>
          <a:lstStyle/>
          <a:p>
            <a:pPr marL="0" indent="0">
              <a:buNone/>
            </a:pPr>
            <a:r>
              <a:rPr lang="en-US" sz="1300" b="1" dirty="0">
                <a:solidFill>
                  <a:srgbClr val="D7191C"/>
                </a:solidFill>
                <a:latin typeface="Cambria" pitchFamily="34" charset="0"/>
                <a:ea typeface="Cambria" pitchFamily="34" charset="-122"/>
                <a:cs typeface="Cambria" pitchFamily="34" charset="-120"/>
              </a:rPr>
              <a:t>RQ 3</a:t>
            </a:r>
            <a:endParaRPr lang="en-US" sz="1300" dirty="0"/>
          </a:p>
        </p:txBody>
      </p:sp>
      <p:sp>
        <p:nvSpPr>
          <p:cNvPr id="14" name="Text 12"/>
          <p:cNvSpPr/>
          <p:nvPr/>
        </p:nvSpPr>
        <p:spPr>
          <a:xfrm>
            <a:off x="6300216" y="2384813"/>
            <a:ext cx="2468880" cy="160020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Which model family (GNPR, Parametric, or Machine Learning) provides the best predictive accuracy?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dirty="0"/>
          </a:p>
        </p:txBody>
      </p:sp>
      <p:sp>
        <p:nvSpPr>
          <p:cNvPr id="3" name="Text 1"/>
          <p:cNvSpPr/>
          <p:nvPr/>
        </p:nvSpPr>
        <p:spPr>
          <a:xfrm>
            <a:off x="411480" y="73152"/>
            <a:ext cx="832104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rPr>
              <a:t>Data Understanding</a:t>
            </a:r>
            <a:endParaRPr lang="en-US" sz="2600" dirty="0"/>
          </a:p>
        </p:txBody>
      </p:sp>
      <p:sp>
        <p:nvSpPr>
          <p:cNvPr id="5" name="Shape 3"/>
          <p:cNvSpPr/>
          <p:nvPr/>
        </p:nvSpPr>
        <p:spPr>
          <a:xfrm>
            <a:off x="365760" y="1463040"/>
            <a:ext cx="1920240" cy="1005840"/>
          </a:xfrm>
          <a:prstGeom prst="rect">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365760" y="1536192"/>
            <a:ext cx="19202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20,640</a:t>
            </a:r>
            <a:endParaRPr lang="en-US" sz="3200" dirty="0"/>
          </a:p>
        </p:txBody>
      </p:sp>
      <p:sp>
        <p:nvSpPr>
          <p:cNvPr id="7" name="Text 5"/>
          <p:cNvSpPr/>
          <p:nvPr/>
        </p:nvSpPr>
        <p:spPr>
          <a:xfrm>
            <a:off x="365760" y="2057400"/>
            <a:ext cx="1920240" cy="347472"/>
          </a:xfrm>
          <a:prstGeom prst="rect">
            <a:avLst/>
          </a:prstGeom>
          <a:noFill/>
          <a:ln/>
        </p:spPr>
        <p:txBody>
          <a:bodyPr wrap="square" lIns="0" tIns="0" rIns="0" bIns="0" rtlCol="0" anchor="ctr"/>
          <a:lstStyle/>
          <a:p>
            <a:pPr marL="0" indent="0" algn="ctr">
              <a:buNone/>
            </a:pPr>
            <a:r>
              <a:rPr lang="en-US" sz="950" dirty="0">
                <a:solidFill>
                  <a:srgbClr val="C8D8F0"/>
                </a:solidFill>
                <a:latin typeface="Calibri" pitchFamily="34" charset="0"/>
                <a:ea typeface="Calibri" pitchFamily="34" charset="-122"/>
                <a:cs typeface="Calibri" pitchFamily="34" charset="-120"/>
              </a:rPr>
              <a:t>Entries</a:t>
            </a:r>
            <a:endParaRPr lang="en-US" sz="950" dirty="0"/>
          </a:p>
        </p:txBody>
      </p:sp>
      <p:sp>
        <p:nvSpPr>
          <p:cNvPr id="8" name="Shape 6"/>
          <p:cNvSpPr/>
          <p:nvPr/>
        </p:nvSpPr>
        <p:spPr>
          <a:xfrm>
            <a:off x="2423160" y="1463040"/>
            <a:ext cx="1920240" cy="1005840"/>
          </a:xfrm>
          <a:prstGeom prst="rect">
            <a:avLst/>
          </a:prstGeom>
          <a:solidFill>
            <a:srgbClr val="2C4B8A"/>
          </a:solidFill>
          <a:ln w="12700">
            <a:solidFill>
              <a:srgbClr val="2C4B8A"/>
            </a:solidFill>
            <a:prstDash val="solid"/>
          </a:ln>
        </p:spPr>
        <p:txBody>
          <a:bodyPr/>
          <a:lstStyle/>
          <a:p>
            <a:endParaRPr lang="en-US" dirty="0"/>
          </a:p>
        </p:txBody>
      </p:sp>
      <p:sp>
        <p:nvSpPr>
          <p:cNvPr id="9" name="Text 7"/>
          <p:cNvSpPr/>
          <p:nvPr/>
        </p:nvSpPr>
        <p:spPr>
          <a:xfrm>
            <a:off x="2423160" y="1536192"/>
            <a:ext cx="19202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9</a:t>
            </a:r>
            <a:endParaRPr lang="en-US" sz="3200" dirty="0"/>
          </a:p>
        </p:txBody>
      </p:sp>
      <p:sp>
        <p:nvSpPr>
          <p:cNvPr id="10" name="Text 8"/>
          <p:cNvSpPr/>
          <p:nvPr/>
        </p:nvSpPr>
        <p:spPr>
          <a:xfrm>
            <a:off x="2423160" y="2057400"/>
            <a:ext cx="1920240" cy="347472"/>
          </a:xfrm>
          <a:prstGeom prst="rect">
            <a:avLst/>
          </a:prstGeom>
          <a:noFill/>
          <a:ln/>
        </p:spPr>
        <p:txBody>
          <a:bodyPr wrap="square" lIns="0" tIns="0" rIns="0" bIns="0" rtlCol="0" anchor="ctr"/>
          <a:lstStyle/>
          <a:p>
            <a:pPr algn="ctr"/>
            <a:r>
              <a:rPr lang="en-US" sz="1000" dirty="0">
                <a:solidFill>
                  <a:srgbClr val="C8D8F0"/>
                </a:solidFill>
                <a:latin typeface="Calibri" pitchFamily="34" charset="0"/>
                <a:ea typeface="Calibri" pitchFamily="34" charset="-122"/>
                <a:cs typeface="Calibri" pitchFamily="34" charset="-120"/>
              </a:rPr>
              <a:t>Variables (8 predictors + 1 target)</a:t>
            </a:r>
            <a:endParaRPr lang="en-US" sz="1000" dirty="0"/>
          </a:p>
        </p:txBody>
      </p:sp>
      <p:sp>
        <p:nvSpPr>
          <p:cNvPr id="11" name="Shape 9"/>
          <p:cNvSpPr/>
          <p:nvPr/>
        </p:nvSpPr>
        <p:spPr>
          <a:xfrm>
            <a:off x="4480560" y="1463040"/>
            <a:ext cx="1920240" cy="1005840"/>
          </a:xfrm>
          <a:prstGeom prst="rect">
            <a:avLst/>
          </a:prstGeom>
          <a:solidFill>
            <a:srgbClr val="D7191C"/>
          </a:solidFill>
          <a:ln w="12700">
            <a:solidFill>
              <a:srgbClr val="D7191C"/>
            </a:solidFill>
            <a:prstDash val="solid"/>
          </a:ln>
        </p:spPr>
        <p:txBody>
          <a:bodyPr/>
          <a:lstStyle/>
          <a:p>
            <a:endParaRPr lang="en-US"/>
          </a:p>
        </p:txBody>
      </p:sp>
      <p:sp>
        <p:nvSpPr>
          <p:cNvPr id="12" name="Text 10"/>
          <p:cNvSpPr/>
          <p:nvPr/>
        </p:nvSpPr>
        <p:spPr>
          <a:xfrm>
            <a:off x="4480560" y="1536192"/>
            <a:ext cx="19202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rPr>
              <a:t>0.6330</a:t>
            </a:r>
            <a:endParaRPr lang="en-US" sz="3200" dirty="0"/>
          </a:p>
        </p:txBody>
      </p:sp>
      <p:sp>
        <p:nvSpPr>
          <p:cNvPr id="13" name="Text 11"/>
          <p:cNvSpPr/>
          <p:nvPr/>
        </p:nvSpPr>
        <p:spPr>
          <a:xfrm>
            <a:off x="4480560" y="2057400"/>
            <a:ext cx="1920240" cy="347472"/>
          </a:xfrm>
          <a:prstGeom prst="rect">
            <a:avLst/>
          </a:prstGeom>
          <a:noFill/>
          <a:ln/>
        </p:spPr>
        <p:txBody>
          <a:bodyPr wrap="square" lIns="0" tIns="0" rIns="0" bIns="0" rtlCol="0" anchor="ctr"/>
          <a:lstStyle/>
          <a:p>
            <a:pPr algn="ctr"/>
            <a:r>
              <a:rPr lang="en-US" sz="1000" dirty="0">
                <a:solidFill>
                  <a:srgbClr val="C8D8F0"/>
                </a:solidFill>
                <a:latin typeface="Calibri" pitchFamily="34" charset="0"/>
                <a:ea typeface="Calibri" pitchFamily="34" charset="-122"/>
                <a:cs typeface="Calibri" pitchFamily="34" charset="-120"/>
              </a:rPr>
              <a:t>OLS Baseline R²</a:t>
            </a:r>
            <a:endParaRPr lang="en-US" sz="1000" dirty="0"/>
          </a:p>
        </p:txBody>
      </p:sp>
      <p:sp>
        <p:nvSpPr>
          <p:cNvPr id="14" name="Shape 12"/>
          <p:cNvSpPr/>
          <p:nvPr/>
        </p:nvSpPr>
        <p:spPr>
          <a:xfrm>
            <a:off x="6537960" y="1463040"/>
            <a:ext cx="1920240" cy="1005840"/>
          </a:xfrm>
          <a:prstGeom prst="rect">
            <a:avLst/>
          </a:prstGeom>
          <a:solidFill>
            <a:srgbClr val="2C5F2D"/>
          </a:solidFill>
          <a:ln w="12700">
            <a:solidFill>
              <a:srgbClr val="2C5F2D"/>
            </a:solidFill>
            <a:prstDash val="solid"/>
          </a:ln>
        </p:spPr>
        <p:txBody>
          <a:bodyPr/>
          <a:lstStyle/>
          <a:p>
            <a:endParaRPr lang="en-US"/>
          </a:p>
        </p:txBody>
      </p:sp>
      <p:sp>
        <p:nvSpPr>
          <p:cNvPr id="15" name="Text 13"/>
          <p:cNvSpPr/>
          <p:nvPr/>
        </p:nvSpPr>
        <p:spPr>
          <a:xfrm>
            <a:off x="6537960" y="1536192"/>
            <a:ext cx="192024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0.8505</a:t>
            </a:r>
            <a:endParaRPr lang="en-US" sz="3200" dirty="0"/>
          </a:p>
        </p:txBody>
      </p:sp>
      <p:sp>
        <p:nvSpPr>
          <p:cNvPr id="16" name="Text 14"/>
          <p:cNvSpPr/>
          <p:nvPr/>
        </p:nvSpPr>
        <p:spPr>
          <a:xfrm>
            <a:off x="6537960" y="2057400"/>
            <a:ext cx="1920240" cy="347472"/>
          </a:xfrm>
          <a:prstGeom prst="rect">
            <a:avLst/>
          </a:prstGeom>
          <a:noFill/>
          <a:ln/>
        </p:spPr>
        <p:txBody>
          <a:bodyPr wrap="square" lIns="0" tIns="0" rIns="0" bIns="0" rtlCol="0" anchor="ctr"/>
          <a:lstStyle/>
          <a:p>
            <a:pPr algn="ctr"/>
            <a:r>
              <a:rPr lang="en-US" sz="1000" dirty="0">
                <a:solidFill>
                  <a:srgbClr val="C8D8F0"/>
                </a:solidFill>
                <a:latin typeface="Calibri" pitchFamily="34" charset="0"/>
                <a:ea typeface="Calibri" pitchFamily="34" charset="-122"/>
                <a:cs typeface="Calibri" pitchFamily="34" charset="-120"/>
              </a:rPr>
              <a:t>Best Model R² (</a:t>
            </a:r>
            <a:r>
              <a:rPr lang="en-US" sz="1000" dirty="0" err="1">
                <a:solidFill>
                  <a:srgbClr val="C8D8F0"/>
                </a:solidFill>
                <a:latin typeface="Calibri" pitchFamily="34" charset="0"/>
                <a:ea typeface="Calibri" pitchFamily="34" charset="-122"/>
                <a:cs typeface="Calibri" pitchFamily="34" charset="-120"/>
              </a:rPr>
              <a:t>XGBoost</a:t>
            </a:r>
            <a:r>
              <a:rPr lang="en-US" sz="1000" dirty="0">
                <a:solidFill>
                  <a:srgbClr val="C8D8F0"/>
                </a:solidFill>
                <a:latin typeface="Calibri" pitchFamily="34" charset="0"/>
                <a:ea typeface="Calibri" pitchFamily="34" charset="-122"/>
                <a:cs typeface="Calibri" pitchFamily="34" charset="-120"/>
              </a:rPr>
              <a:t>)</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852779038"/>
              </p:ext>
            </p:extLst>
          </p:nvPr>
        </p:nvGraphicFramePr>
        <p:xfrm>
          <a:off x="365760" y="2651760"/>
          <a:ext cx="8412480" cy="2048256"/>
        </p:xfrm>
        <a:graphic>
          <a:graphicData uri="http://schemas.openxmlformats.org/drawingml/2006/table">
            <a:tbl>
              <a:tblPr/>
              <a:tblGrid>
                <a:gridCol w="274320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longitude / latitude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Latitude and Longitude coordinates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housing_median_age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Median age of houses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total_rooms / bedrooms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Total number of rooms/ bedrooms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population / households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Population of block/ Number of households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median_income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Median income of residents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median_house_value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100" b="1" dirty="0">
                          <a:solidFill>
                            <a:srgbClr val="FF0000"/>
                          </a:solidFill>
                          <a:latin typeface="Calibri" pitchFamily="34" charset="0"/>
                          <a:ea typeface="Calibri" pitchFamily="34" charset="-122"/>
                          <a:cs typeface="Calibri" pitchFamily="34" charset="-120"/>
                        </a:rPr>
                        <a:t>Target variable</a:t>
                      </a:r>
                      <a:r>
                        <a:rPr lang="en-US" sz="1100" b="1" dirty="0">
                          <a:solidFill>
                            <a:srgbClr val="000000"/>
                          </a:solidFill>
                          <a:latin typeface="Calibri" pitchFamily="34" charset="0"/>
                          <a:ea typeface="Calibri" pitchFamily="34" charset="-122"/>
                          <a:cs typeface="Calibri" pitchFamily="34" charset="-120"/>
                        </a:rPr>
                        <a:t>: </a:t>
                      </a:r>
                      <a:r>
                        <a:rPr lang="en-US" sz="1100" b="0" dirty="0">
                          <a:solidFill>
                            <a:srgbClr val="000000"/>
                          </a:solidFill>
                          <a:latin typeface="Calibri" pitchFamily="34" charset="0"/>
                          <a:ea typeface="Calibri" pitchFamily="34" charset="-122"/>
                          <a:cs typeface="Calibri" pitchFamily="34" charset="-120"/>
                        </a:rPr>
                        <a:t>Median house value</a:t>
                      </a:r>
                      <a:endParaRPr lang="en-US" sz="1100" b="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dirty="0"/>
          </a:p>
        </p:txBody>
      </p:sp>
      <p:sp>
        <p:nvSpPr>
          <p:cNvPr id="3" name="Text 1"/>
          <p:cNvSpPr/>
          <p:nvPr/>
        </p:nvSpPr>
        <p:spPr>
          <a:xfrm>
            <a:off x="411480" y="73152"/>
            <a:ext cx="832104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EDA: Distribution of Median House Values</a:t>
            </a:r>
            <a:endParaRPr lang="en-US" sz="2600" dirty="0"/>
          </a:p>
        </p:txBody>
      </p:sp>
      <p:sp>
        <p:nvSpPr>
          <p:cNvPr id="5" name="Text 3"/>
          <p:cNvSpPr/>
          <p:nvPr/>
        </p:nvSpPr>
        <p:spPr>
          <a:xfrm>
            <a:off x="365760" y="1417320"/>
            <a:ext cx="4114800" cy="3383280"/>
          </a:xfrm>
          <a:prstGeom prst="rect">
            <a:avLst/>
          </a:prstGeom>
          <a:noFill/>
          <a:ln/>
        </p:spPr>
        <p:txBody>
          <a:bodyPr wrap="square" rtlCol="0" anchor="t"/>
          <a:lstStyle/>
          <a:p>
            <a:pPr marL="0" indent="0">
              <a:buNone/>
            </a:pPr>
            <a:endParaRPr lang="en-US" sz="1300" dirty="0"/>
          </a:p>
        </p:txBody>
      </p:sp>
      <p:sp>
        <p:nvSpPr>
          <p:cNvPr id="20" name="Text 3">
            <a:extLst>
              <a:ext uri="{FF2B5EF4-FFF2-40B4-BE49-F238E27FC236}">
                <a16:creationId xmlns:a16="http://schemas.microsoft.com/office/drawing/2014/main" id="{4EC609FD-29FA-474C-171D-2A63F83AA522}"/>
              </a:ext>
            </a:extLst>
          </p:cNvPr>
          <p:cNvSpPr/>
          <p:nvPr/>
        </p:nvSpPr>
        <p:spPr>
          <a:xfrm>
            <a:off x="4835325" y="1509760"/>
            <a:ext cx="4114800" cy="3383280"/>
          </a:xfrm>
          <a:prstGeom prst="rect">
            <a:avLst/>
          </a:prstGeom>
          <a:noFill/>
          <a:ln/>
        </p:spPr>
        <p:txBody>
          <a:bodyPr wrap="square" rtlCol="0" anchor="t"/>
          <a:lstStyle/>
          <a:p>
            <a:r>
              <a:rPr lang="en-US" b="1" dirty="0"/>
              <a:t>Key observations:</a:t>
            </a:r>
          </a:p>
          <a:p>
            <a:endParaRPr lang="en-US" dirty="0"/>
          </a:p>
          <a:p>
            <a:pPr marL="285750" indent="-285750">
              <a:buFont typeface="Arial" panose="020B0604020202020204" pitchFamily="34" charset="0"/>
              <a:buChar char="•"/>
            </a:pPr>
            <a:r>
              <a:rPr lang="en-US" sz="1600" dirty="0"/>
              <a:t>Distribution is positively skewed.</a:t>
            </a:r>
          </a:p>
          <a:p>
            <a:pPr marL="285750" indent="-285750">
              <a:buFont typeface="Arial" panose="020B0604020202020204" pitchFamily="34" charset="0"/>
              <a:buChar char="•"/>
            </a:pPr>
            <a:r>
              <a:rPr lang="en-US" sz="1600" dirty="0"/>
              <a:t>Most houses are within the lower – middle price ranges</a:t>
            </a:r>
          </a:p>
          <a:p>
            <a:pPr marL="285750" indent="-285750">
              <a:buFont typeface="Arial" panose="020B0604020202020204" pitchFamily="34" charset="0"/>
              <a:buChar char="•"/>
            </a:pPr>
            <a:r>
              <a:rPr lang="en-US" sz="1600" dirty="0"/>
              <a:t>The data contains a few highly priced houses.</a:t>
            </a:r>
          </a:p>
          <a:p>
            <a:endParaRPr lang="en-US" sz="1600" dirty="0"/>
          </a:p>
          <a:p>
            <a:r>
              <a:rPr lang="en-US" sz="1600" b="1" dirty="0"/>
              <a:t>Interpretation</a:t>
            </a:r>
            <a:r>
              <a:rPr lang="en-US" sz="1600" dirty="0"/>
              <a:t>:</a:t>
            </a:r>
          </a:p>
          <a:p>
            <a:pPr marL="285750" indent="-285750">
              <a:buFont typeface="Arial" panose="020B0604020202020204" pitchFamily="34" charset="0"/>
              <a:buChar char="•"/>
            </a:pPr>
            <a:r>
              <a:rPr lang="en-US" sz="1600" dirty="0"/>
              <a:t>This suggests that the target variable is not completely normally distributed</a:t>
            </a:r>
          </a:p>
        </p:txBody>
      </p:sp>
      <p:pic>
        <p:nvPicPr>
          <p:cNvPr id="22" name="Picture 21">
            <a:extLst>
              <a:ext uri="{FF2B5EF4-FFF2-40B4-BE49-F238E27FC236}">
                <a16:creationId xmlns:a16="http://schemas.microsoft.com/office/drawing/2014/main" id="{D83C1084-D165-3A01-FA4E-105C03A7CA01}"/>
              </a:ext>
            </a:extLst>
          </p:cNvPr>
          <p:cNvPicPr>
            <a:picLocks noChangeAspect="1"/>
          </p:cNvPicPr>
          <p:nvPr/>
        </p:nvPicPr>
        <p:blipFill>
          <a:blip r:embed="rId3"/>
          <a:stretch>
            <a:fillRect/>
          </a:stretch>
        </p:blipFill>
        <p:spPr>
          <a:xfrm>
            <a:off x="513583" y="1509760"/>
            <a:ext cx="4144359" cy="2743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7FE21-31CE-B606-3FB8-66F79E1A17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70985B4-6F6B-C028-B0F2-407DDA6D063E}"/>
              </a:ext>
            </a:extLst>
          </p:cNvPr>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dirty="0"/>
          </a:p>
        </p:txBody>
      </p:sp>
      <p:sp>
        <p:nvSpPr>
          <p:cNvPr id="3" name="Text 1">
            <a:extLst>
              <a:ext uri="{FF2B5EF4-FFF2-40B4-BE49-F238E27FC236}">
                <a16:creationId xmlns:a16="http://schemas.microsoft.com/office/drawing/2014/main" id="{78C36113-F065-2688-3AC8-9EC1671EC08A}"/>
              </a:ext>
            </a:extLst>
          </p:cNvPr>
          <p:cNvSpPr/>
          <p:nvPr/>
        </p:nvSpPr>
        <p:spPr>
          <a:xfrm>
            <a:off x="411480" y="73152"/>
            <a:ext cx="832104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EDA: Geographic Distribution of House Values</a:t>
            </a:r>
            <a:endParaRPr lang="en-US" sz="2600" dirty="0"/>
          </a:p>
        </p:txBody>
      </p:sp>
      <p:sp>
        <p:nvSpPr>
          <p:cNvPr id="5" name="Text 3">
            <a:extLst>
              <a:ext uri="{FF2B5EF4-FFF2-40B4-BE49-F238E27FC236}">
                <a16:creationId xmlns:a16="http://schemas.microsoft.com/office/drawing/2014/main" id="{5CB6C542-7777-6458-C355-7218B70E5C3D}"/>
              </a:ext>
            </a:extLst>
          </p:cNvPr>
          <p:cNvSpPr/>
          <p:nvPr/>
        </p:nvSpPr>
        <p:spPr>
          <a:xfrm>
            <a:off x="365760" y="1417320"/>
            <a:ext cx="4114800" cy="3383280"/>
          </a:xfrm>
          <a:prstGeom prst="rect">
            <a:avLst/>
          </a:prstGeom>
          <a:noFill/>
          <a:ln/>
        </p:spPr>
        <p:txBody>
          <a:bodyPr wrap="square" rtlCol="0" anchor="t"/>
          <a:lstStyle/>
          <a:p>
            <a:pPr marL="0" indent="0">
              <a:buNone/>
            </a:pPr>
            <a:endParaRPr lang="en-US" sz="1300" dirty="0"/>
          </a:p>
        </p:txBody>
      </p:sp>
      <p:pic>
        <p:nvPicPr>
          <p:cNvPr id="17" name="Picture 16">
            <a:extLst>
              <a:ext uri="{FF2B5EF4-FFF2-40B4-BE49-F238E27FC236}">
                <a16:creationId xmlns:a16="http://schemas.microsoft.com/office/drawing/2014/main" id="{C967F785-04A8-0FA1-4622-F453D9215667}"/>
              </a:ext>
            </a:extLst>
          </p:cNvPr>
          <p:cNvPicPr>
            <a:picLocks noChangeAspect="1"/>
          </p:cNvPicPr>
          <p:nvPr/>
        </p:nvPicPr>
        <p:blipFill>
          <a:blip r:embed="rId3"/>
          <a:stretch>
            <a:fillRect/>
          </a:stretch>
        </p:blipFill>
        <p:spPr>
          <a:xfrm>
            <a:off x="217356" y="1293048"/>
            <a:ext cx="4572000" cy="3731280"/>
          </a:xfrm>
          <a:prstGeom prst="rect">
            <a:avLst/>
          </a:prstGeom>
        </p:spPr>
      </p:pic>
      <p:sp>
        <p:nvSpPr>
          <p:cNvPr id="20" name="Text 3">
            <a:extLst>
              <a:ext uri="{FF2B5EF4-FFF2-40B4-BE49-F238E27FC236}">
                <a16:creationId xmlns:a16="http://schemas.microsoft.com/office/drawing/2014/main" id="{98D08CF1-600D-956D-3709-35F065A4A4A6}"/>
              </a:ext>
            </a:extLst>
          </p:cNvPr>
          <p:cNvSpPr/>
          <p:nvPr/>
        </p:nvSpPr>
        <p:spPr>
          <a:xfrm>
            <a:off x="4835325" y="1509760"/>
            <a:ext cx="4114800" cy="3383280"/>
          </a:xfrm>
          <a:prstGeom prst="rect">
            <a:avLst/>
          </a:prstGeom>
          <a:noFill/>
          <a:ln/>
        </p:spPr>
        <p:txBody>
          <a:bodyPr wrap="square" rtlCol="0" anchor="t"/>
          <a:lstStyle/>
          <a:p>
            <a:r>
              <a:rPr lang="en-US" b="1" dirty="0"/>
              <a:t>Key observations:</a:t>
            </a:r>
          </a:p>
          <a:p>
            <a:endParaRPr lang="en-US" dirty="0"/>
          </a:p>
          <a:p>
            <a:pPr marL="285750" indent="-285750" algn="just">
              <a:buFont typeface="Arial" panose="020B0604020202020204" pitchFamily="34" charset="0"/>
              <a:buChar char="•"/>
            </a:pPr>
            <a:r>
              <a:rPr lang="en-US" sz="1600" b="1" dirty="0"/>
              <a:t>Coastal regions</a:t>
            </a:r>
            <a:r>
              <a:rPr lang="en-US" sz="1600" dirty="0"/>
              <a:t> (</a:t>
            </a:r>
            <a:r>
              <a:rPr lang="en-US" sz="1600" i="1" dirty="0"/>
              <a:t>longitude -122 to -121 and latitude 37 to 38), </a:t>
            </a:r>
            <a:r>
              <a:rPr lang="en-US" sz="1600" dirty="0"/>
              <a:t>generally show higher property values. </a:t>
            </a:r>
          </a:p>
          <a:p>
            <a:pPr marL="285750" indent="-285750" algn="just">
              <a:buFont typeface="Arial" panose="020B0604020202020204" pitchFamily="34" charset="0"/>
              <a:buChar char="•"/>
            </a:pPr>
            <a:r>
              <a:rPr lang="en-US" sz="1600" b="1" dirty="0"/>
              <a:t>Inland areas </a:t>
            </a:r>
            <a:r>
              <a:rPr lang="en-US" sz="1600" dirty="0"/>
              <a:t>(</a:t>
            </a:r>
            <a:r>
              <a:rPr lang="en-US" sz="1600" i="1" dirty="0"/>
              <a:t>longitude -121 to -118 and latitude 35 to 37), </a:t>
            </a:r>
            <a:r>
              <a:rPr lang="en-US" sz="1600" dirty="0"/>
              <a:t>tend to have comparatively lower housing prices. </a:t>
            </a:r>
          </a:p>
          <a:p>
            <a:pPr marL="285750" indent="-285750" algn="just">
              <a:buFont typeface="Arial" panose="020B0604020202020204" pitchFamily="34" charset="0"/>
              <a:buChar char="•"/>
            </a:pPr>
            <a:r>
              <a:rPr lang="en-US" sz="1600" b="1" dirty="0"/>
              <a:t>Spatial clustering </a:t>
            </a:r>
            <a:r>
              <a:rPr lang="en-US" sz="1600" dirty="0"/>
              <a:t>across different latitude and longitude ranges suggests that geographic location plays a major role in determining house value.</a:t>
            </a:r>
          </a:p>
        </p:txBody>
      </p:sp>
    </p:spTree>
    <p:extLst>
      <p:ext uri="{BB962C8B-B14F-4D97-AF65-F5344CB8AC3E}">
        <p14:creationId xmlns:p14="http://schemas.microsoft.com/office/powerpoint/2010/main" val="1115889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175A0-83E8-6F62-AD8F-36E5D48CD91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BE1C074-290B-EE62-E64E-470C566ABD25}"/>
              </a:ext>
            </a:extLst>
          </p:cNvPr>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dirty="0"/>
          </a:p>
        </p:txBody>
      </p:sp>
      <p:sp>
        <p:nvSpPr>
          <p:cNvPr id="3" name="Text 1">
            <a:extLst>
              <a:ext uri="{FF2B5EF4-FFF2-40B4-BE49-F238E27FC236}">
                <a16:creationId xmlns:a16="http://schemas.microsoft.com/office/drawing/2014/main" id="{20C6F738-A466-F46F-B865-6593E2A4E63E}"/>
              </a:ext>
            </a:extLst>
          </p:cNvPr>
          <p:cNvSpPr/>
          <p:nvPr/>
        </p:nvSpPr>
        <p:spPr>
          <a:xfrm>
            <a:off x="411480" y="73152"/>
            <a:ext cx="832104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Correlation Analysis</a:t>
            </a:r>
            <a:endParaRPr lang="en-US" sz="2600" dirty="0"/>
          </a:p>
        </p:txBody>
      </p:sp>
      <p:sp>
        <p:nvSpPr>
          <p:cNvPr id="5" name="Text 3">
            <a:extLst>
              <a:ext uri="{FF2B5EF4-FFF2-40B4-BE49-F238E27FC236}">
                <a16:creationId xmlns:a16="http://schemas.microsoft.com/office/drawing/2014/main" id="{CEC27548-3A04-F698-BFE5-2B7EC4BEA2F4}"/>
              </a:ext>
            </a:extLst>
          </p:cNvPr>
          <p:cNvSpPr/>
          <p:nvPr/>
        </p:nvSpPr>
        <p:spPr>
          <a:xfrm>
            <a:off x="365760" y="1417320"/>
            <a:ext cx="4114800" cy="3383280"/>
          </a:xfrm>
          <a:prstGeom prst="rect">
            <a:avLst/>
          </a:prstGeom>
          <a:noFill/>
          <a:ln/>
        </p:spPr>
        <p:txBody>
          <a:bodyPr wrap="square" rtlCol="0" anchor="t"/>
          <a:lstStyle/>
          <a:p>
            <a:pPr marL="0" indent="0">
              <a:buNone/>
            </a:pPr>
            <a:endParaRPr lang="en-US" sz="1300" dirty="0"/>
          </a:p>
        </p:txBody>
      </p:sp>
      <p:sp>
        <p:nvSpPr>
          <p:cNvPr id="20" name="Text 3">
            <a:extLst>
              <a:ext uri="{FF2B5EF4-FFF2-40B4-BE49-F238E27FC236}">
                <a16:creationId xmlns:a16="http://schemas.microsoft.com/office/drawing/2014/main" id="{6417C921-3618-F7F8-31E3-47BD5058F92F}"/>
              </a:ext>
            </a:extLst>
          </p:cNvPr>
          <p:cNvSpPr/>
          <p:nvPr/>
        </p:nvSpPr>
        <p:spPr>
          <a:xfrm>
            <a:off x="4835325" y="1280160"/>
            <a:ext cx="4114800" cy="3612880"/>
          </a:xfrm>
          <a:prstGeom prst="rect">
            <a:avLst/>
          </a:prstGeom>
          <a:noFill/>
          <a:ln/>
        </p:spPr>
        <p:txBody>
          <a:bodyPr wrap="square" rtlCol="0" anchor="t"/>
          <a:lstStyle/>
          <a:p>
            <a:r>
              <a:rPr lang="en-US" b="1" dirty="0"/>
              <a:t>Key observations:</a:t>
            </a:r>
            <a:endParaRPr lang="en-US" dirty="0"/>
          </a:p>
          <a:p>
            <a:pPr marL="285750" indent="-285750" algn="just">
              <a:buFont typeface="Arial" panose="020B0604020202020204" pitchFamily="34" charset="0"/>
              <a:buChar char="•"/>
            </a:pPr>
            <a:r>
              <a:rPr lang="en-US" sz="1600" b="1" dirty="0"/>
              <a:t>Median income </a:t>
            </a:r>
            <a:r>
              <a:rPr lang="en-US" sz="1600" dirty="0"/>
              <a:t>has the strongest positive correlation with house prices.</a:t>
            </a:r>
          </a:p>
          <a:p>
            <a:pPr marL="285750" indent="-285750" algn="just">
              <a:buFont typeface="Arial" panose="020B0604020202020204" pitchFamily="34" charset="0"/>
              <a:buChar char="•"/>
            </a:pPr>
            <a:r>
              <a:rPr lang="en-US" sz="1600" b="1" dirty="0"/>
              <a:t>Latitude </a:t>
            </a:r>
            <a:r>
              <a:rPr lang="en-US" sz="1600" dirty="0"/>
              <a:t>and </a:t>
            </a:r>
            <a:r>
              <a:rPr lang="en-US" sz="1600" b="1" dirty="0"/>
              <a:t>longitude </a:t>
            </a:r>
            <a:r>
              <a:rPr lang="en-US" sz="1600" dirty="0"/>
              <a:t>show geographic influence.</a:t>
            </a:r>
          </a:p>
          <a:p>
            <a:pPr marL="285750" indent="-285750" algn="just">
              <a:buFont typeface="Arial" panose="020B0604020202020204" pitchFamily="34" charset="0"/>
              <a:buChar char="•"/>
            </a:pPr>
            <a:r>
              <a:rPr lang="en-US" sz="1600" b="1" dirty="0"/>
              <a:t>Total rooms </a:t>
            </a:r>
            <a:r>
              <a:rPr lang="en-US" sz="1600" dirty="0"/>
              <a:t>and </a:t>
            </a:r>
            <a:r>
              <a:rPr lang="en-US" sz="1600" b="1" dirty="0"/>
              <a:t>households </a:t>
            </a:r>
            <a:r>
              <a:rPr lang="en-US" sz="1600" dirty="0"/>
              <a:t>are highly correlated.</a:t>
            </a:r>
          </a:p>
          <a:p>
            <a:pPr marL="285750" indent="-285750" algn="just">
              <a:buFont typeface="Arial" panose="020B0604020202020204" pitchFamily="34" charset="0"/>
              <a:buChar char="•"/>
            </a:pPr>
            <a:r>
              <a:rPr lang="en-US" sz="1600" b="1" dirty="0"/>
              <a:t>Population related </a:t>
            </a:r>
            <a:r>
              <a:rPr lang="en-US" sz="1600" dirty="0"/>
              <a:t>variables exhibit multicollinearity.</a:t>
            </a:r>
          </a:p>
          <a:p>
            <a:pPr algn="just"/>
            <a:endParaRPr lang="en-US" sz="1600" dirty="0"/>
          </a:p>
          <a:p>
            <a:pPr algn="just"/>
            <a:r>
              <a:rPr lang="en-US" sz="1600" b="1" dirty="0"/>
              <a:t>Interpretation:</a:t>
            </a:r>
          </a:p>
          <a:p>
            <a:pPr marL="285750" indent="-285750" algn="just">
              <a:buFont typeface="Arial" panose="020B0604020202020204" pitchFamily="34" charset="0"/>
              <a:buChar char="•"/>
            </a:pPr>
            <a:r>
              <a:rPr lang="en-US" sz="1600" dirty="0"/>
              <a:t>The relationships are not entirely linear, hence justifying the use of GAMs, Random Forest and </a:t>
            </a:r>
            <a:r>
              <a:rPr lang="en-US" sz="1600" dirty="0" err="1"/>
              <a:t>XGBoost</a:t>
            </a:r>
            <a:r>
              <a:rPr lang="en-US" sz="1600" dirty="0"/>
              <a:t>.</a:t>
            </a:r>
          </a:p>
          <a:p>
            <a:pPr marL="285750" indent="-285750" algn="just">
              <a:buFont typeface="Arial" panose="020B0604020202020204" pitchFamily="34" charset="0"/>
              <a:buChar char="•"/>
            </a:pPr>
            <a:endParaRPr lang="en-US" sz="1600" b="1" dirty="0"/>
          </a:p>
        </p:txBody>
      </p:sp>
      <p:pic>
        <p:nvPicPr>
          <p:cNvPr id="6" name="Picture 5">
            <a:extLst>
              <a:ext uri="{FF2B5EF4-FFF2-40B4-BE49-F238E27FC236}">
                <a16:creationId xmlns:a16="http://schemas.microsoft.com/office/drawing/2014/main" id="{B97D775A-C526-7AED-66C7-59AF71E59698}"/>
              </a:ext>
            </a:extLst>
          </p:cNvPr>
          <p:cNvPicPr>
            <a:picLocks noChangeAspect="1"/>
          </p:cNvPicPr>
          <p:nvPr/>
        </p:nvPicPr>
        <p:blipFill>
          <a:blip r:embed="rId3"/>
          <a:stretch>
            <a:fillRect/>
          </a:stretch>
        </p:blipFill>
        <p:spPr>
          <a:xfrm>
            <a:off x="402615" y="1280160"/>
            <a:ext cx="4120417" cy="3657600"/>
          </a:xfrm>
          <a:prstGeom prst="rect">
            <a:avLst/>
          </a:prstGeom>
        </p:spPr>
      </p:pic>
    </p:spTree>
    <p:extLst>
      <p:ext uri="{BB962C8B-B14F-4D97-AF65-F5344CB8AC3E}">
        <p14:creationId xmlns:p14="http://schemas.microsoft.com/office/powerpoint/2010/main" val="1588279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4008" cy="5148072"/>
          </a:xfrm>
          <a:prstGeom prst="rect">
            <a:avLst/>
          </a:prstGeom>
          <a:solidFill>
            <a:srgbClr val="C0392B"/>
          </a:solidFill>
          <a:ln w="12700">
            <a:solidFill>
              <a:srgbClr val="C0392B"/>
            </a:solidFill>
            <a:prstDash val="solid"/>
          </a:ln>
        </p:spPr>
        <p:txBody>
          <a:bodyPr/>
          <a:lstStyle/>
          <a:p>
            <a:endParaRPr lang="en-US"/>
          </a:p>
        </p:txBody>
      </p:sp>
      <p:sp>
        <p:nvSpPr>
          <p:cNvPr id="3" name="Text 1"/>
          <p:cNvSpPr/>
          <p:nvPr/>
        </p:nvSpPr>
        <p:spPr>
          <a:xfrm>
            <a:off x="228600" y="164592"/>
            <a:ext cx="8503920" cy="621792"/>
          </a:xfrm>
          <a:prstGeom prst="rect">
            <a:avLst/>
          </a:prstGeom>
          <a:noFill/>
          <a:ln/>
        </p:spPr>
        <p:txBody>
          <a:bodyPr wrap="square" lIns="0" tIns="0" rIns="0" bIns="0" rtlCol="0" anchor="ctr"/>
          <a:lstStyle/>
          <a:p>
            <a:pPr marL="0" indent="0">
              <a:buNone/>
            </a:pPr>
            <a:r>
              <a:rPr lang="en-US" sz="2800" b="1" dirty="0">
                <a:solidFill>
                  <a:srgbClr val="1A2456"/>
                </a:solidFill>
                <a:latin typeface="Cambria" pitchFamily="34" charset="0"/>
                <a:ea typeface="Cambria" pitchFamily="34" charset="-122"/>
                <a:cs typeface="Cambria" pitchFamily="34" charset="-120"/>
              </a:rPr>
              <a:t>RQ 2: The Income and Location Interaction</a:t>
            </a:r>
            <a:endParaRPr lang="en-US" sz="2800" dirty="0"/>
          </a:p>
        </p:txBody>
      </p:sp>
      <p:sp>
        <p:nvSpPr>
          <p:cNvPr id="4" name="Text 2"/>
          <p:cNvSpPr/>
          <p:nvPr/>
        </p:nvSpPr>
        <p:spPr>
          <a:xfrm>
            <a:off x="228600" y="804672"/>
            <a:ext cx="8503920" cy="292608"/>
          </a:xfrm>
          <a:prstGeom prst="rect">
            <a:avLst/>
          </a:prstGeom>
          <a:noFill/>
          <a:ln/>
        </p:spPr>
        <p:txBody>
          <a:bodyPr wrap="square" lIns="0" tIns="0" rIns="0" bIns="0" rtlCol="0" anchor="ctr"/>
          <a:lstStyle/>
          <a:p>
            <a:pPr marL="0" indent="0">
              <a:buNone/>
            </a:pPr>
            <a:r>
              <a:rPr lang="en-US" sz="1150" i="1" dirty="0">
                <a:solidFill>
                  <a:srgbClr val="7F8FA4"/>
                </a:solidFill>
                <a:latin typeface="Calibri" pitchFamily="34" charset="0"/>
                <a:ea typeface="Calibri" pitchFamily="34" charset="-122"/>
                <a:cs typeface="Calibri" pitchFamily="34" charset="-120"/>
              </a:rPr>
              <a:t>What are the most important nonlinear interactions between location and income?</a:t>
            </a:r>
            <a:endParaRPr lang="en-US" sz="1150" dirty="0"/>
          </a:p>
        </p:txBody>
      </p:sp>
      <p:sp>
        <p:nvSpPr>
          <p:cNvPr id="5" name="Shape 3"/>
          <p:cNvSpPr/>
          <p:nvPr/>
        </p:nvSpPr>
        <p:spPr>
          <a:xfrm>
            <a:off x="228600" y="1115568"/>
            <a:ext cx="8686800" cy="22860"/>
          </a:xfrm>
          <a:prstGeom prst="rect">
            <a:avLst/>
          </a:prstGeom>
          <a:solidFill>
            <a:srgbClr val="C8D8F0"/>
          </a:solidFill>
          <a:ln w="12700">
            <a:solidFill>
              <a:srgbClr val="C8D8F0"/>
            </a:solidFill>
            <a:prstDash val="solid"/>
          </a:ln>
        </p:spPr>
        <p:txBody>
          <a:bodyPr/>
          <a:lstStyle/>
          <a:p>
            <a:endParaRPr lang="en-US"/>
          </a:p>
        </p:txBody>
      </p:sp>
      <p:sp>
        <p:nvSpPr>
          <p:cNvPr id="6" name="Shape 4"/>
          <p:cNvSpPr/>
          <p:nvPr/>
        </p:nvSpPr>
        <p:spPr>
          <a:xfrm>
            <a:off x="228600" y="1207008"/>
            <a:ext cx="4846320" cy="256032"/>
          </a:xfrm>
          <a:prstGeom prst="rect">
            <a:avLst/>
          </a:prstGeom>
          <a:solidFill>
            <a:srgbClr val="1A2456"/>
          </a:solidFill>
          <a:ln w="12700">
            <a:solidFill>
              <a:srgbClr val="1A2456"/>
            </a:solidFill>
            <a:prstDash val="solid"/>
          </a:ln>
        </p:spPr>
        <p:txBody>
          <a:bodyPr/>
          <a:lstStyle/>
          <a:p>
            <a:endParaRPr lang="en-US"/>
          </a:p>
        </p:txBody>
      </p:sp>
      <p:sp>
        <p:nvSpPr>
          <p:cNvPr id="7" name="Text 5"/>
          <p:cNvSpPr/>
          <p:nvPr/>
        </p:nvSpPr>
        <p:spPr>
          <a:xfrm>
            <a:off x="256032" y="1216152"/>
            <a:ext cx="4800600" cy="219456"/>
          </a:xfrm>
          <a:prstGeom prst="rect">
            <a:avLst/>
          </a:prstGeom>
          <a:noFill/>
          <a:ln/>
        </p:spPr>
        <p:txBody>
          <a:bodyPr wrap="square" lIns="25400" tIns="25400" rIns="25400" bIns="254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Fig 8  |  Income vs log(House Value) by Region</a:t>
            </a:r>
            <a:endParaRPr lang="en-US" sz="950" dirty="0"/>
          </a:p>
        </p:txBody>
      </p:sp>
      <p:pic>
        <p:nvPicPr>
          <p:cNvPr id="8" name="Image 0" descr="preencoded.png"/>
          <p:cNvPicPr>
            <a:picLocks noChangeAspect="1"/>
          </p:cNvPicPr>
          <p:nvPr/>
        </p:nvPicPr>
        <p:blipFill>
          <a:blip r:embed="rId3"/>
          <a:stretch>
            <a:fillRect/>
          </a:stretch>
        </p:blipFill>
        <p:spPr>
          <a:xfrm>
            <a:off x="228600" y="1463040"/>
            <a:ext cx="4846320" cy="2926080"/>
          </a:xfrm>
          <a:prstGeom prst="rect">
            <a:avLst/>
          </a:prstGeom>
        </p:spPr>
      </p:pic>
      <p:sp>
        <p:nvSpPr>
          <p:cNvPr id="9" name="Shape 6"/>
          <p:cNvSpPr/>
          <p:nvPr/>
        </p:nvSpPr>
        <p:spPr>
          <a:xfrm>
            <a:off x="5212080" y="1207008"/>
            <a:ext cx="3657600" cy="256032"/>
          </a:xfrm>
          <a:prstGeom prst="rect">
            <a:avLst/>
          </a:prstGeom>
          <a:solidFill>
            <a:srgbClr val="1A2456"/>
          </a:solidFill>
          <a:ln w="12700">
            <a:solidFill>
              <a:srgbClr val="1A2456"/>
            </a:solidFill>
            <a:prstDash val="solid"/>
          </a:ln>
        </p:spPr>
        <p:txBody>
          <a:bodyPr/>
          <a:lstStyle/>
          <a:p>
            <a:endParaRPr lang="en-US"/>
          </a:p>
        </p:txBody>
      </p:sp>
      <p:sp>
        <p:nvSpPr>
          <p:cNvPr id="10" name="Text 7"/>
          <p:cNvSpPr/>
          <p:nvPr/>
        </p:nvSpPr>
        <p:spPr>
          <a:xfrm>
            <a:off x="5239512" y="1216152"/>
            <a:ext cx="3611880" cy="219456"/>
          </a:xfrm>
          <a:prstGeom prst="rect">
            <a:avLst/>
          </a:prstGeom>
          <a:noFill/>
          <a:ln/>
        </p:spPr>
        <p:txBody>
          <a:bodyPr wrap="square" lIns="25400" tIns="25400" rIns="25400" bIns="254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Fig 9  |  RF Feature Importances</a:t>
            </a:r>
            <a:endParaRPr lang="en-US" sz="950" dirty="0"/>
          </a:p>
        </p:txBody>
      </p:sp>
      <p:pic>
        <p:nvPicPr>
          <p:cNvPr id="11" name="Image 1" descr="preencoded.png"/>
          <p:cNvPicPr>
            <a:picLocks noChangeAspect="1"/>
          </p:cNvPicPr>
          <p:nvPr/>
        </p:nvPicPr>
        <p:blipFill>
          <a:blip r:embed="rId4"/>
          <a:stretch>
            <a:fillRect/>
          </a:stretch>
        </p:blipFill>
        <p:spPr>
          <a:xfrm>
            <a:off x="5212080" y="1463040"/>
            <a:ext cx="3657600" cy="2926080"/>
          </a:xfrm>
          <a:prstGeom prst="rect">
            <a:avLst/>
          </a:prstGeom>
        </p:spPr>
      </p:pic>
      <p:sp>
        <p:nvSpPr>
          <p:cNvPr id="12" name="Shape 8"/>
          <p:cNvSpPr/>
          <p:nvPr/>
        </p:nvSpPr>
        <p:spPr>
          <a:xfrm>
            <a:off x="228600" y="4535424"/>
            <a:ext cx="8686800" cy="502920"/>
          </a:xfrm>
          <a:prstGeom prst="rect">
            <a:avLst/>
          </a:prstGeom>
          <a:solidFill>
            <a:srgbClr val="1A2456"/>
          </a:solidFill>
          <a:ln w="12700">
            <a:solidFill>
              <a:srgbClr val="1A2456"/>
            </a:solidFill>
            <a:prstDash val="solid"/>
          </a:ln>
        </p:spPr>
        <p:txBody>
          <a:bodyPr/>
          <a:lstStyle/>
          <a:p>
            <a:endParaRPr lang="en-US"/>
          </a:p>
        </p:txBody>
      </p:sp>
      <p:sp>
        <p:nvSpPr>
          <p:cNvPr id="13" name="Text 9"/>
          <p:cNvSpPr/>
          <p:nvPr/>
        </p:nvSpPr>
        <p:spPr>
          <a:xfrm>
            <a:off x="320040" y="4562856"/>
            <a:ext cx="8503920" cy="43891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median_income ranks first in feature importance (importance &gt; 0.52), followed by longitude and latitude (~0.11 each). The income effect is not uniform; Bay Area block groups sit higher on the value axis at every income level, confirming a non-additive spatial interaction.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70D53-3F33-5CB4-5C32-CCFC39FA426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ED30E69-999F-4623-F636-65C96ED8BEB4}"/>
              </a:ext>
            </a:extLst>
          </p:cNvPr>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dirty="0"/>
          </a:p>
        </p:txBody>
      </p:sp>
      <p:sp>
        <p:nvSpPr>
          <p:cNvPr id="3" name="Text 1">
            <a:extLst>
              <a:ext uri="{FF2B5EF4-FFF2-40B4-BE49-F238E27FC236}">
                <a16:creationId xmlns:a16="http://schemas.microsoft.com/office/drawing/2014/main" id="{D2250D1B-1856-5080-2894-D2789EC68B32}"/>
              </a:ext>
            </a:extLst>
          </p:cNvPr>
          <p:cNvSpPr/>
          <p:nvPr/>
        </p:nvSpPr>
        <p:spPr>
          <a:xfrm>
            <a:off x="411480" y="73152"/>
            <a:ext cx="832104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Feature Engineering: New Variables Created</a:t>
            </a:r>
            <a:endParaRPr lang="en-US" sz="2600" dirty="0"/>
          </a:p>
        </p:txBody>
      </p:sp>
      <p:sp>
        <p:nvSpPr>
          <p:cNvPr id="5" name="Text 3">
            <a:extLst>
              <a:ext uri="{FF2B5EF4-FFF2-40B4-BE49-F238E27FC236}">
                <a16:creationId xmlns:a16="http://schemas.microsoft.com/office/drawing/2014/main" id="{4E0E4C4D-48B6-6BE7-8EE6-2800BA6AFEBE}"/>
              </a:ext>
            </a:extLst>
          </p:cNvPr>
          <p:cNvSpPr/>
          <p:nvPr/>
        </p:nvSpPr>
        <p:spPr>
          <a:xfrm>
            <a:off x="365760" y="1417320"/>
            <a:ext cx="4114800" cy="3383280"/>
          </a:xfrm>
          <a:prstGeom prst="rect">
            <a:avLst/>
          </a:prstGeom>
          <a:noFill/>
          <a:ln/>
        </p:spPr>
        <p:txBody>
          <a:bodyPr wrap="square" rtlCol="0" anchor="t"/>
          <a:lstStyle/>
          <a:p>
            <a:pPr marL="0" indent="0">
              <a:buNone/>
            </a:pPr>
            <a:endParaRPr lang="en-US" sz="1300" dirty="0"/>
          </a:p>
        </p:txBody>
      </p:sp>
      <p:graphicFrame>
        <p:nvGraphicFramePr>
          <p:cNvPr id="8" name="Table 7">
            <a:extLst>
              <a:ext uri="{FF2B5EF4-FFF2-40B4-BE49-F238E27FC236}">
                <a16:creationId xmlns:a16="http://schemas.microsoft.com/office/drawing/2014/main" id="{7DBC3E67-4AE1-60E1-E094-4BCC8B069835}"/>
              </a:ext>
            </a:extLst>
          </p:cNvPr>
          <p:cNvGraphicFramePr>
            <a:graphicFrameLocks noGrp="1"/>
          </p:cNvGraphicFramePr>
          <p:nvPr>
            <p:extLst>
              <p:ext uri="{D42A27DB-BD31-4B8C-83A1-F6EECF244321}">
                <p14:modId xmlns:p14="http://schemas.microsoft.com/office/powerpoint/2010/main" val="1834587366"/>
              </p:ext>
            </p:extLst>
          </p:nvPr>
        </p:nvGraphicFramePr>
        <p:xfrm>
          <a:off x="1432559" y="2020924"/>
          <a:ext cx="6662130" cy="1752600"/>
        </p:xfrm>
        <a:graphic>
          <a:graphicData uri="http://schemas.openxmlformats.org/drawingml/2006/table">
            <a:tbl>
              <a:tblPr firstRow="1" bandRow="1">
                <a:tableStyleId>{5C22544A-7EE6-4342-B048-85BDC9FD1C3A}</a:tableStyleId>
              </a:tblPr>
              <a:tblGrid>
                <a:gridCol w="3331065">
                  <a:extLst>
                    <a:ext uri="{9D8B030D-6E8A-4147-A177-3AD203B41FA5}">
                      <a16:colId xmlns:a16="http://schemas.microsoft.com/office/drawing/2014/main" val="3748892837"/>
                    </a:ext>
                  </a:extLst>
                </a:gridCol>
                <a:gridCol w="3331065">
                  <a:extLst>
                    <a:ext uri="{9D8B030D-6E8A-4147-A177-3AD203B41FA5}">
                      <a16:colId xmlns:a16="http://schemas.microsoft.com/office/drawing/2014/main" val="3868626459"/>
                    </a:ext>
                  </a:extLst>
                </a:gridCol>
              </a:tblGrid>
              <a:tr h="370840">
                <a:tc>
                  <a:txBody>
                    <a:bodyPr/>
                    <a:lstStyle/>
                    <a:p>
                      <a:r>
                        <a:rPr lang="en-US" dirty="0"/>
                        <a:t>Variable</a:t>
                      </a:r>
                    </a:p>
                  </a:txBody>
                  <a:tcPr/>
                </a:tc>
                <a:tc>
                  <a:txBody>
                    <a:bodyPr/>
                    <a:lstStyle/>
                    <a:p>
                      <a:r>
                        <a:rPr lang="en-US" dirty="0"/>
                        <a:t>Use</a:t>
                      </a:r>
                    </a:p>
                  </a:txBody>
                  <a:tcPr/>
                </a:tc>
                <a:extLst>
                  <a:ext uri="{0D108BD9-81ED-4DB2-BD59-A6C34878D82A}">
                    <a16:rowId xmlns:a16="http://schemas.microsoft.com/office/drawing/2014/main" val="1113287545"/>
                  </a:ext>
                </a:extLst>
              </a:tr>
              <a:tr h="370840">
                <a:tc>
                  <a:txBody>
                    <a:bodyPr/>
                    <a:lstStyle/>
                    <a:p>
                      <a:r>
                        <a:rPr lang="en-US" dirty="0" err="1"/>
                        <a:t>rooms_per_household</a:t>
                      </a:r>
                      <a:endParaRPr lang="en-US" dirty="0"/>
                    </a:p>
                  </a:txBody>
                  <a:tcPr/>
                </a:tc>
                <a:tc>
                  <a:txBody>
                    <a:bodyPr/>
                    <a:lstStyle/>
                    <a:p>
                      <a:r>
                        <a:rPr lang="en-US" dirty="0"/>
                        <a:t>Household density</a:t>
                      </a:r>
                    </a:p>
                  </a:txBody>
                  <a:tcPr/>
                </a:tc>
                <a:extLst>
                  <a:ext uri="{0D108BD9-81ED-4DB2-BD59-A6C34878D82A}">
                    <a16:rowId xmlns:a16="http://schemas.microsoft.com/office/drawing/2014/main" val="3956956774"/>
                  </a:ext>
                </a:extLst>
              </a:tr>
              <a:tr h="370840">
                <a:tc>
                  <a:txBody>
                    <a:bodyPr/>
                    <a:lstStyle/>
                    <a:p>
                      <a:r>
                        <a:rPr lang="en-US" dirty="0" err="1"/>
                        <a:t>bedrooms_per_room</a:t>
                      </a:r>
                      <a:endParaRPr lang="en-US" dirty="0"/>
                    </a:p>
                  </a:txBody>
                  <a:tcPr/>
                </a:tc>
                <a:tc>
                  <a:txBody>
                    <a:bodyPr/>
                    <a:lstStyle/>
                    <a:p>
                      <a:r>
                        <a:rPr lang="en-US" dirty="0"/>
                        <a:t>Housing structure</a:t>
                      </a:r>
                    </a:p>
                  </a:txBody>
                  <a:tcPr/>
                </a:tc>
                <a:extLst>
                  <a:ext uri="{0D108BD9-81ED-4DB2-BD59-A6C34878D82A}">
                    <a16:rowId xmlns:a16="http://schemas.microsoft.com/office/drawing/2014/main" val="3452413744"/>
                  </a:ext>
                </a:extLst>
              </a:tr>
              <a:tr h="370840">
                <a:tc>
                  <a:txBody>
                    <a:bodyPr/>
                    <a:lstStyle/>
                    <a:p>
                      <a:r>
                        <a:rPr lang="en-US" dirty="0" err="1"/>
                        <a:t>population_per_household</a:t>
                      </a:r>
                      <a:endParaRPr lang="en-US" dirty="0"/>
                    </a:p>
                  </a:txBody>
                  <a:tcPr/>
                </a:tc>
                <a:tc>
                  <a:txBody>
                    <a:bodyPr/>
                    <a:lstStyle/>
                    <a:p>
                      <a:r>
                        <a:rPr lang="en-US" dirty="0"/>
                        <a:t>Number of people in the household</a:t>
                      </a:r>
                    </a:p>
                  </a:txBody>
                  <a:tcPr/>
                </a:tc>
                <a:extLst>
                  <a:ext uri="{0D108BD9-81ED-4DB2-BD59-A6C34878D82A}">
                    <a16:rowId xmlns:a16="http://schemas.microsoft.com/office/drawing/2014/main" val="428890702"/>
                  </a:ext>
                </a:extLst>
              </a:tr>
            </a:tbl>
          </a:graphicData>
        </a:graphic>
      </p:graphicFrame>
    </p:spTree>
    <p:extLst>
      <p:ext uri="{BB962C8B-B14F-4D97-AF65-F5344CB8AC3E}">
        <p14:creationId xmlns:p14="http://schemas.microsoft.com/office/powerpoint/2010/main" val="3269205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4008" cy="5148072"/>
          </a:xfrm>
          <a:prstGeom prst="rect">
            <a:avLst/>
          </a:prstGeom>
          <a:solidFill>
            <a:srgbClr val="C0392B"/>
          </a:solidFill>
          <a:ln w="12700">
            <a:solidFill>
              <a:srgbClr val="C0392B"/>
            </a:solidFill>
            <a:prstDash val="solid"/>
          </a:ln>
        </p:spPr>
        <p:txBody>
          <a:bodyPr/>
          <a:lstStyle/>
          <a:p>
            <a:endParaRPr lang="en-US"/>
          </a:p>
        </p:txBody>
      </p:sp>
      <p:sp>
        <p:nvSpPr>
          <p:cNvPr id="3" name="Text 1"/>
          <p:cNvSpPr/>
          <p:nvPr/>
        </p:nvSpPr>
        <p:spPr>
          <a:xfrm>
            <a:off x="228600" y="164592"/>
            <a:ext cx="8503920" cy="621792"/>
          </a:xfrm>
          <a:prstGeom prst="rect">
            <a:avLst/>
          </a:prstGeom>
          <a:noFill/>
          <a:ln/>
        </p:spPr>
        <p:txBody>
          <a:bodyPr wrap="square" lIns="0" tIns="0" rIns="0" bIns="0" rtlCol="0" anchor="ctr"/>
          <a:lstStyle/>
          <a:p>
            <a:pPr marL="0" indent="0">
              <a:buNone/>
            </a:pPr>
            <a:r>
              <a:rPr lang="en-US" sz="2800" b="1" dirty="0">
                <a:solidFill>
                  <a:srgbClr val="1A2456"/>
                </a:solidFill>
                <a:latin typeface="Cambria" pitchFamily="34" charset="0"/>
                <a:ea typeface="Cambria" pitchFamily="34" charset="-122"/>
                <a:cs typeface="Cambria" pitchFamily="34" charset="-120"/>
              </a:rPr>
              <a:t>RQ 1: The OLS Baseline: What It Sees and What It Misses</a:t>
            </a:r>
            <a:endParaRPr lang="en-US" sz="2800" dirty="0"/>
          </a:p>
        </p:txBody>
      </p:sp>
      <p:sp>
        <p:nvSpPr>
          <p:cNvPr id="4" name="Text 2"/>
          <p:cNvSpPr/>
          <p:nvPr/>
        </p:nvSpPr>
        <p:spPr>
          <a:xfrm>
            <a:off x="228600" y="804672"/>
            <a:ext cx="8503920" cy="292608"/>
          </a:xfrm>
          <a:prstGeom prst="rect">
            <a:avLst/>
          </a:prstGeom>
          <a:noFill/>
          <a:ln/>
        </p:spPr>
        <p:txBody>
          <a:bodyPr wrap="square" lIns="0" tIns="0" rIns="0" bIns="0" rtlCol="0" anchor="ctr"/>
          <a:lstStyle/>
          <a:p>
            <a:pPr marL="0" indent="0">
              <a:buNone/>
            </a:pPr>
            <a:r>
              <a:rPr lang="en-US" sz="1150" i="1" dirty="0">
                <a:solidFill>
                  <a:srgbClr val="7F8FA4"/>
                </a:solidFill>
                <a:latin typeface="Calibri" pitchFamily="34" charset="0"/>
                <a:ea typeface="Calibri" pitchFamily="34" charset="-122"/>
                <a:cs typeface="Calibri" pitchFamily="34" charset="-120"/>
              </a:rPr>
              <a:t>Can ensemble nonlinear models outperform linear regression?</a:t>
            </a:r>
            <a:endParaRPr lang="en-US" sz="1150" dirty="0"/>
          </a:p>
        </p:txBody>
      </p:sp>
      <p:sp>
        <p:nvSpPr>
          <p:cNvPr id="5" name="Shape 3"/>
          <p:cNvSpPr/>
          <p:nvPr/>
        </p:nvSpPr>
        <p:spPr>
          <a:xfrm>
            <a:off x="228600" y="1115568"/>
            <a:ext cx="8686800" cy="22860"/>
          </a:xfrm>
          <a:prstGeom prst="rect">
            <a:avLst/>
          </a:prstGeom>
          <a:solidFill>
            <a:srgbClr val="C8D8F0"/>
          </a:solidFill>
          <a:ln w="12700">
            <a:solidFill>
              <a:srgbClr val="C8D8F0"/>
            </a:solidFill>
            <a:prstDash val="solid"/>
          </a:ln>
        </p:spPr>
        <p:txBody>
          <a:bodyPr/>
          <a:lstStyle/>
          <a:p>
            <a:endParaRPr lang="en-US"/>
          </a:p>
        </p:txBody>
      </p:sp>
      <p:sp>
        <p:nvSpPr>
          <p:cNvPr id="6" name="Shape 4"/>
          <p:cNvSpPr/>
          <p:nvPr/>
        </p:nvSpPr>
        <p:spPr>
          <a:xfrm>
            <a:off x="228600" y="1207008"/>
            <a:ext cx="5166360" cy="256032"/>
          </a:xfrm>
          <a:prstGeom prst="rect">
            <a:avLst/>
          </a:prstGeom>
          <a:solidFill>
            <a:srgbClr val="1A2456"/>
          </a:solidFill>
          <a:ln w="12700">
            <a:solidFill>
              <a:srgbClr val="1A2456"/>
            </a:solidFill>
            <a:prstDash val="solid"/>
          </a:ln>
        </p:spPr>
        <p:txBody>
          <a:bodyPr/>
          <a:lstStyle/>
          <a:p>
            <a:endParaRPr lang="en-US"/>
          </a:p>
        </p:txBody>
      </p:sp>
      <p:sp>
        <p:nvSpPr>
          <p:cNvPr id="7" name="Text 5"/>
          <p:cNvSpPr/>
          <p:nvPr/>
        </p:nvSpPr>
        <p:spPr>
          <a:xfrm>
            <a:off x="256032" y="1216152"/>
            <a:ext cx="5120640" cy="219456"/>
          </a:xfrm>
          <a:prstGeom prst="rect">
            <a:avLst/>
          </a:prstGeom>
          <a:noFill/>
          <a:ln/>
        </p:spPr>
        <p:txBody>
          <a:bodyPr wrap="square" lIns="25400" tIns="25400" rIns="25400" bIns="254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Fig 5  |  OLS Residual Diagnostics</a:t>
            </a:r>
            <a:endParaRPr lang="en-US" sz="950" dirty="0"/>
          </a:p>
        </p:txBody>
      </p:sp>
      <p:pic>
        <p:nvPicPr>
          <p:cNvPr id="8" name="Image 0" descr="preencoded.png"/>
          <p:cNvPicPr>
            <a:picLocks noChangeAspect="1"/>
          </p:cNvPicPr>
          <p:nvPr/>
        </p:nvPicPr>
        <p:blipFill>
          <a:blip r:embed="rId3"/>
          <a:stretch>
            <a:fillRect/>
          </a:stretch>
        </p:blipFill>
        <p:spPr>
          <a:xfrm>
            <a:off x="228600" y="1463040"/>
            <a:ext cx="5166360" cy="2423160"/>
          </a:xfrm>
          <a:prstGeom prst="rect">
            <a:avLst/>
          </a:prstGeom>
        </p:spPr>
      </p:pic>
      <p:sp>
        <p:nvSpPr>
          <p:cNvPr id="9" name="Text 6"/>
          <p:cNvSpPr/>
          <p:nvPr/>
        </p:nvSpPr>
        <p:spPr>
          <a:xfrm>
            <a:off x="228600" y="3931920"/>
            <a:ext cx="5166360" cy="658368"/>
          </a:xfrm>
          <a:prstGeom prst="rect">
            <a:avLst/>
          </a:prstGeom>
          <a:noFill/>
          <a:ln/>
        </p:spPr>
        <p:txBody>
          <a:bodyPr wrap="square" lIns="0" tIns="0" rIns="0" bIns="0" rtlCol="0" anchor="t"/>
          <a:lstStyle/>
          <a:p>
            <a:pPr marL="0" indent="0">
              <a:buNone/>
            </a:pPr>
            <a:r>
              <a:rPr lang="en-US" sz="1100" dirty="0">
                <a:solidFill>
                  <a:srgbClr val="111827"/>
                </a:solidFill>
                <a:latin typeface="Calibri" pitchFamily="34" charset="0"/>
                <a:ea typeface="Calibri" pitchFamily="34" charset="-122"/>
                <a:cs typeface="Calibri" pitchFamily="34" charset="-120"/>
              </a:rPr>
              <a:t>The residual fan confirms heteroscedasticity. The Q-Q plot shows tail departures from normality. These are not minor violations; they are the signature of a model at the limit of its representational capacity.</a:t>
            </a:r>
            <a:endParaRPr lang="en-US" sz="1100" dirty="0"/>
          </a:p>
        </p:txBody>
      </p:sp>
      <p:sp>
        <p:nvSpPr>
          <p:cNvPr id="10" name="Shape 7"/>
          <p:cNvSpPr/>
          <p:nvPr/>
        </p:nvSpPr>
        <p:spPr>
          <a:xfrm>
            <a:off x="5577840" y="1234440"/>
            <a:ext cx="1920240" cy="914400"/>
          </a:xfrm>
          <a:prstGeom prst="rect">
            <a:avLst/>
          </a:prstGeom>
          <a:solidFill>
            <a:srgbClr val="1A2456"/>
          </a:solidFill>
          <a:ln w="12700">
            <a:solidFill>
              <a:srgbClr val="1A2456"/>
            </a:solidFill>
            <a:prstDash val="solid"/>
          </a:ln>
        </p:spPr>
        <p:txBody>
          <a:bodyPr/>
          <a:lstStyle/>
          <a:p>
            <a:endParaRPr lang="en-US"/>
          </a:p>
        </p:txBody>
      </p:sp>
      <p:sp>
        <p:nvSpPr>
          <p:cNvPr id="11" name="Text 8"/>
          <p:cNvSpPr/>
          <p:nvPr/>
        </p:nvSpPr>
        <p:spPr>
          <a:xfrm>
            <a:off x="5577840" y="1289304"/>
            <a:ext cx="1920240" cy="53035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0.6330</a:t>
            </a:r>
            <a:endParaRPr lang="en-US" sz="2600" dirty="0"/>
          </a:p>
        </p:txBody>
      </p:sp>
      <p:sp>
        <p:nvSpPr>
          <p:cNvPr id="12" name="Text 9"/>
          <p:cNvSpPr/>
          <p:nvPr/>
        </p:nvSpPr>
        <p:spPr>
          <a:xfrm>
            <a:off x="5577840" y="1828800"/>
            <a:ext cx="1920240" cy="256032"/>
          </a:xfrm>
          <a:prstGeom prst="rect">
            <a:avLst/>
          </a:prstGeom>
          <a:noFill/>
          <a:ln/>
        </p:spPr>
        <p:txBody>
          <a:bodyPr wrap="square" lIns="0" tIns="0" rIns="0" bIns="0" rtlCol="0" anchor="ctr"/>
          <a:lstStyle/>
          <a:p>
            <a:pPr marL="0" indent="0" algn="ctr">
              <a:buNone/>
            </a:pPr>
            <a:r>
              <a:rPr lang="en-US" sz="900" dirty="0">
                <a:solidFill>
                  <a:srgbClr val="C8D8F0"/>
                </a:solidFill>
                <a:latin typeface="Calibri" pitchFamily="34" charset="0"/>
                <a:ea typeface="Calibri" pitchFamily="34" charset="-122"/>
                <a:cs typeface="Calibri" pitchFamily="34" charset="-120"/>
              </a:rPr>
              <a:t>OLS R² (test set)</a:t>
            </a:r>
            <a:endParaRPr lang="en-US" sz="900" dirty="0"/>
          </a:p>
        </p:txBody>
      </p:sp>
      <p:sp>
        <p:nvSpPr>
          <p:cNvPr id="13" name="Shape 10"/>
          <p:cNvSpPr/>
          <p:nvPr/>
        </p:nvSpPr>
        <p:spPr>
          <a:xfrm>
            <a:off x="5577840" y="2304288"/>
            <a:ext cx="1920240" cy="914400"/>
          </a:xfrm>
          <a:prstGeom prst="rect">
            <a:avLst/>
          </a:prstGeom>
          <a:solidFill>
            <a:srgbClr val="1A2456"/>
          </a:solidFill>
          <a:ln w="12700">
            <a:solidFill>
              <a:srgbClr val="1A2456"/>
            </a:solidFill>
            <a:prstDash val="solid"/>
          </a:ln>
        </p:spPr>
        <p:txBody>
          <a:bodyPr/>
          <a:lstStyle/>
          <a:p>
            <a:endParaRPr lang="en-US"/>
          </a:p>
        </p:txBody>
      </p:sp>
      <p:sp>
        <p:nvSpPr>
          <p:cNvPr id="14" name="Text 11"/>
          <p:cNvSpPr/>
          <p:nvPr/>
        </p:nvSpPr>
        <p:spPr>
          <a:xfrm>
            <a:off x="5577840" y="2359152"/>
            <a:ext cx="1920240" cy="530352"/>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0.3451</a:t>
            </a:r>
            <a:endParaRPr lang="en-US" sz="2600" dirty="0"/>
          </a:p>
        </p:txBody>
      </p:sp>
      <p:sp>
        <p:nvSpPr>
          <p:cNvPr id="15" name="Text 12"/>
          <p:cNvSpPr/>
          <p:nvPr/>
        </p:nvSpPr>
        <p:spPr>
          <a:xfrm>
            <a:off x="5577840" y="2898648"/>
            <a:ext cx="1920240" cy="256032"/>
          </a:xfrm>
          <a:prstGeom prst="rect">
            <a:avLst/>
          </a:prstGeom>
          <a:noFill/>
          <a:ln/>
        </p:spPr>
        <p:txBody>
          <a:bodyPr wrap="square" lIns="0" tIns="0" rIns="0" bIns="0" rtlCol="0" anchor="ctr"/>
          <a:lstStyle/>
          <a:p>
            <a:pPr marL="0" indent="0" algn="ctr">
              <a:buNone/>
            </a:pPr>
            <a:r>
              <a:rPr lang="en-US" sz="900" dirty="0">
                <a:solidFill>
                  <a:srgbClr val="C8D8F0"/>
                </a:solidFill>
                <a:latin typeface="Calibri" pitchFamily="34" charset="0"/>
                <a:ea typeface="Calibri" pitchFamily="34" charset="-122"/>
                <a:cs typeface="Calibri" pitchFamily="34" charset="-120"/>
              </a:rPr>
              <a:t>OLS RMSE (log scale)</a:t>
            </a:r>
            <a:endParaRPr lang="en-US" sz="900" dirty="0"/>
          </a:p>
        </p:txBody>
      </p:sp>
      <p:sp>
        <p:nvSpPr>
          <p:cNvPr id="16" name="Text 13"/>
          <p:cNvSpPr/>
          <p:nvPr/>
        </p:nvSpPr>
        <p:spPr>
          <a:xfrm>
            <a:off x="5577840" y="3401568"/>
            <a:ext cx="3200400" cy="320040"/>
          </a:xfrm>
          <a:prstGeom prst="rect">
            <a:avLst/>
          </a:prstGeom>
          <a:noFill/>
          <a:ln/>
        </p:spPr>
        <p:txBody>
          <a:bodyPr wrap="square" lIns="0" tIns="0" rIns="0" bIns="0" rtlCol="0" anchor="ctr"/>
          <a:lstStyle/>
          <a:p>
            <a:pPr marL="0" indent="0">
              <a:buNone/>
            </a:pPr>
            <a:r>
              <a:rPr lang="en-US" sz="1300" b="1" dirty="0">
                <a:solidFill>
                  <a:srgbClr val="C0392B"/>
                </a:solidFill>
                <a:latin typeface="Cambria" pitchFamily="34" charset="0"/>
                <a:ea typeface="Cambria" pitchFamily="34" charset="-122"/>
                <a:cs typeface="Cambria" pitchFamily="34" charset="-120"/>
              </a:rPr>
              <a:t>What OLS Misses</a:t>
            </a:r>
            <a:endParaRPr lang="en-US" sz="1300" dirty="0"/>
          </a:p>
        </p:txBody>
      </p:sp>
      <p:sp>
        <p:nvSpPr>
          <p:cNvPr id="17" name="Shape 14"/>
          <p:cNvSpPr/>
          <p:nvPr/>
        </p:nvSpPr>
        <p:spPr>
          <a:xfrm>
            <a:off x="5577840" y="3767328"/>
            <a:ext cx="54864" cy="201168"/>
          </a:xfrm>
          <a:prstGeom prst="rect">
            <a:avLst/>
          </a:prstGeom>
          <a:solidFill>
            <a:srgbClr val="C0392B"/>
          </a:solidFill>
          <a:ln w="12700">
            <a:solidFill>
              <a:srgbClr val="C0392B"/>
            </a:solidFill>
            <a:prstDash val="solid"/>
          </a:ln>
        </p:spPr>
        <p:txBody>
          <a:bodyPr/>
          <a:lstStyle/>
          <a:p>
            <a:endParaRPr lang="en-US"/>
          </a:p>
        </p:txBody>
      </p:sp>
      <p:sp>
        <p:nvSpPr>
          <p:cNvPr id="18" name="Text 15"/>
          <p:cNvSpPr/>
          <p:nvPr/>
        </p:nvSpPr>
        <p:spPr>
          <a:xfrm>
            <a:off x="5705856" y="3749040"/>
            <a:ext cx="3063240" cy="256032"/>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Nonlinear income effect (concave, not linear)</a:t>
            </a:r>
            <a:endParaRPr lang="en-US" sz="1100" dirty="0"/>
          </a:p>
        </p:txBody>
      </p:sp>
      <p:sp>
        <p:nvSpPr>
          <p:cNvPr id="19" name="Shape 16"/>
          <p:cNvSpPr/>
          <p:nvPr/>
        </p:nvSpPr>
        <p:spPr>
          <a:xfrm>
            <a:off x="5577840" y="4041648"/>
            <a:ext cx="54864" cy="201168"/>
          </a:xfrm>
          <a:prstGeom prst="rect">
            <a:avLst/>
          </a:prstGeom>
          <a:solidFill>
            <a:srgbClr val="C0392B"/>
          </a:solidFill>
          <a:ln w="12700">
            <a:solidFill>
              <a:srgbClr val="C0392B"/>
            </a:solidFill>
            <a:prstDash val="solid"/>
          </a:ln>
        </p:spPr>
        <p:txBody>
          <a:bodyPr/>
          <a:lstStyle/>
          <a:p>
            <a:endParaRPr lang="en-US"/>
          </a:p>
        </p:txBody>
      </p:sp>
      <p:sp>
        <p:nvSpPr>
          <p:cNvPr id="20" name="Text 17"/>
          <p:cNvSpPr/>
          <p:nvPr/>
        </p:nvSpPr>
        <p:spPr>
          <a:xfrm>
            <a:off x="5705856" y="4023360"/>
            <a:ext cx="3063240" cy="256032"/>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Geographic premium (coastal underprediction)</a:t>
            </a:r>
            <a:endParaRPr lang="en-US" sz="1100" dirty="0"/>
          </a:p>
        </p:txBody>
      </p:sp>
      <p:sp>
        <p:nvSpPr>
          <p:cNvPr id="21" name="Shape 18"/>
          <p:cNvSpPr/>
          <p:nvPr/>
        </p:nvSpPr>
        <p:spPr>
          <a:xfrm>
            <a:off x="5577840" y="4315968"/>
            <a:ext cx="54864" cy="201168"/>
          </a:xfrm>
          <a:prstGeom prst="rect">
            <a:avLst/>
          </a:prstGeom>
          <a:solidFill>
            <a:srgbClr val="C0392B"/>
          </a:solidFill>
          <a:ln w="12700">
            <a:solidFill>
              <a:srgbClr val="C0392B"/>
            </a:solidFill>
            <a:prstDash val="solid"/>
          </a:ln>
        </p:spPr>
        <p:txBody>
          <a:bodyPr/>
          <a:lstStyle/>
          <a:p>
            <a:endParaRPr lang="en-US"/>
          </a:p>
        </p:txBody>
      </p:sp>
      <p:sp>
        <p:nvSpPr>
          <p:cNvPr id="22" name="Text 19"/>
          <p:cNvSpPr/>
          <p:nvPr/>
        </p:nvSpPr>
        <p:spPr>
          <a:xfrm>
            <a:off x="5705856" y="4297680"/>
            <a:ext cx="3063240" cy="256032"/>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Interaction between location and income</a:t>
            </a:r>
            <a:endParaRPr lang="en-US" sz="1100" dirty="0"/>
          </a:p>
        </p:txBody>
      </p:sp>
      <p:sp>
        <p:nvSpPr>
          <p:cNvPr id="23" name="Shape 20"/>
          <p:cNvSpPr/>
          <p:nvPr/>
        </p:nvSpPr>
        <p:spPr>
          <a:xfrm>
            <a:off x="5577840" y="4590288"/>
            <a:ext cx="54864" cy="201168"/>
          </a:xfrm>
          <a:prstGeom prst="rect">
            <a:avLst/>
          </a:prstGeom>
          <a:solidFill>
            <a:srgbClr val="C0392B"/>
          </a:solidFill>
          <a:ln w="12700">
            <a:solidFill>
              <a:srgbClr val="C0392B"/>
            </a:solidFill>
            <a:prstDash val="solid"/>
          </a:ln>
        </p:spPr>
        <p:txBody>
          <a:bodyPr/>
          <a:lstStyle/>
          <a:p>
            <a:endParaRPr lang="en-US"/>
          </a:p>
        </p:txBody>
      </p:sp>
      <p:sp>
        <p:nvSpPr>
          <p:cNvPr id="24" name="Text 21"/>
          <p:cNvSpPr/>
          <p:nvPr/>
        </p:nvSpPr>
        <p:spPr>
          <a:xfrm>
            <a:off x="5705856" y="4572000"/>
            <a:ext cx="3063240" cy="256032"/>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Heteroscedastic variance structure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4008" cy="5148072"/>
          </a:xfrm>
          <a:prstGeom prst="rect">
            <a:avLst/>
          </a:prstGeom>
          <a:solidFill>
            <a:srgbClr val="C0392B"/>
          </a:solidFill>
          <a:ln w="12700">
            <a:solidFill>
              <a:srgbClr val="C0392B"/>
            </a:solidFill>
            <a:prstDash val="solid"/>
          </a:ln>
        </p:spPr>
        <p:txBody>
          <a:bodyPr/>
          <a:lstStyle/>
          <a:p>
            <a:endParaRPr lang="en-US"/>
          </a:p>
        </p:txBody>
      </p:sp>
      <p:sp>
        <p:nvSpPr>
          <p:cNvPr id="3" name="Text 1"/>
          <p:cNvSpPr/>
          <p:nvPr/>
        </p:nvSpPr>
        <p:spPr>
          <a:xfrm>
            <a:off x="228600" y="164592"/>
            <a:ext cx="8503920" cy="621792"/>
          </a:xfrm>
          <a:prstGeom prst="rect">
            <a:avLst/>
          </a:prstGeom>
          <a:noFill/>
          <a:ln/>
        </p:spPr>
        <p:txBody>
          <a:bodyPr wrap="square" lIns="0" tIns="0" rIns="0" bIns="0" rtlCol="0" anchor="ctr"/>
          <a:lstStyle/>
          <a:p>
            <a:pPr marL="0" indent="0">
              <a:buNone/>
            </a:pPr>
            <a:r>
              <a:rPr lang="en-US" sz="2800" b="1" dirty="0">
                <a:solidFill>
                  <a:srgbClr val="1A2456"/>
                </a:solidFill>
                <a:latin typeface="Cambria" pitchFamily="34" charset="0"/>
                <a:ea typeface="Cambria" pitchFamily="34" charset="-122"/>
                <a:cs typeface="Cambria" pitchFamily="34" charset="-120"/>
              </a:rPr>
              <a:t>GNPR: GAM Partial Dependence Plots</a:t>
            </a:r>
            <a:endParaRPr lang="en-US" sz="2800" dirty="0"/>
          </a:p>
        </p:txBody>
      </p:sp>
      <p:sp>
        <p:nvSpPr>
          <p:cNvPr id="4" name="Text 2"/>
          <p:cNvSpPr/>
          <p:nvPr/>
        </p:nvSpPr>
        <p:spPr>
          <a:xfrm>
            <a:off x="228600" y="804672"/>
            <a:ext cx="8503920" cy="292608"/>
          </a:xfrm>
          <a:prstGeom prst="rect">
            <a:avLst/>
          </a:prstGeom>
          <a:noFill/>
          <a:ln/>
        </p:spPr>
        <p:txBody>
          <a:bodyPr wrap="square" lIns="0" tIns="0" rIns="0" bIns="0" rtlCol="0" anchor="ctr"/>
          <a:lstStyle/>
          <a:p>
            <a:pPr marL="0" indent="0">
              <a:buNone/>
            </a:pPr>
            <a:r>
              <a:rPr lang="en-US" sz="1150" i="1" dirty="0">
                <a:solidFill>
                  <a:srgbClr val="7F8FA4"/>
                </a:solidFill>
                <a:latin typeface="Calibri" pitchFamily="34" charset="0"/>
                <a:ea typeface="Calibri" pitchFamily="34" charset="-122"/>
                <a:cs typeface="Calibri" pitchFamily="34" charset="-120"/>
              </a:rPr>
              <a:t>The shape of each predictor's marginal contribution: interpretability at its richest</a:t>
            </a:r>
            <a:endParaRPr lang="en-US" sz="1150" dirty="0"/>
          </a:p>
        </p:txBody>
      </p:sp>
      <p:sp>
        <p:nvSpPr>
          <p:cNvPr id="5" name="Shape 3"/>
          <p:cNvSpPr/>
          <p:nvPr/>
        </p:nvSpPr>
        <p:spPr>
          <a:xfrm>
            <a:off x="228600" y="1115568"/>
            <a:ext cx="8686800" cy="22860"/>
          </a:xfrm>
          <a:prstGeom prst="rect">
            <a:avLst/>
          </a:prstGeom>
          <a:solidFill>
            <a:srgbClr val="C8D8F0"/>
          </a:solidFill>
          <a:ln w="12700">
            <a:solidFill>
              <a:srgbClr val="C8D8F0"/>
            </a:solidFill>
            <a:prstDash val="solid"/>
          </a:ln>
        </p:spPr>
        <p:txBody>
          <a:bodyPr/>
          <a:lstStyle/>
          <a:p>
            <a:endParaRPr lang="en-US"/>
          </a:p>
        </p:txBody>
      </p:sp>
      <p:sp>
        <p:nvSpPr>
          <p:cNvPr id="6" name="Shape 4"/>
          <p:cNvSpPr/>
          <p:nvPr/>
        </p:nvSpPr>
        <p:spPr>
          <a:xfrm>
            <a:off x="228600" y="1207008"/>
            <a:ext cx="5943600" cy="256032"/>
          </a:xfrm>
          <a:prstGeom prst="rect">
            <a:avLst/>
          </a:prstGeom>
          <a:solidFill>
            <a:srgbClr val="1A2456"/>
          </a:solidFill>
          <a:ln w="12700">
            <a:solidFill>
              <a:srgbClr val="1A2456"/>
            </a:solidFill>
            <a:prstDash val="solid"/>
          </a:ln>
        </p:spPr>
        <p:txBody>
          <a:bodyPr/>
          <a:lstStyle/>
          <a:p>
            <a:endParaRPr lang="en-US"/>
          </a:p>
        </p:txBody>
      </p:sp>
      <p:sp>
        <p:nvSpPr>
          <p:cNvPr id="7" name="Text 5"/>
          <p:cNvSpPr/>
          <p:nvPr/>
        </p:nvSpPr>
        <p:spPr>
          <a:xfrm>
            <a:off x="256032" y="1216152"/>
            <a:ext cx="5897880" cy="219456"/>
          </a:xfrm>
          <a:prstGeom prst="rect">
            <a:avLst/>
          </a:prstGeom>
          <a:noFill/>
          <a:ln/>
        </p:spPr>
        <p:txBody>
          <a:bodyPr wrap="square" lIns="25400" tIns="25400" rIns="25400" bIns="254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Fig 6  |  GAM Partial Dependence: All 12 Features (Penalised Splines)</a:t>
            </a:r>
            <a:endParaRPr lang="en-US" sz="950" dirty="0"/>
          </a:p>
        </p:txBody>
      </p:sp>
      <p:pic>
        <p:nvPicPr>
          <p:cNvPr id="8" name="Image 0" descr="preencoded.png"/>
          <p:cNvPicPr>
            <a:picLocks noChangeAspect="1"/>
          </p:cNvPicPr>
          <p:nvPr/>
        </p:nvPicPr>
        <p:blipFill>
          <a:blip r:embed="rId3"/>
          <a:stretch>
            <a:fillRect/>
          </a:stretch>
        </p:blipFill>
        <p:spPr>
          <a:xfrm>
            <a:off x="228600" y="1463040"/>
            <a:ext cx="5943600" cy="3566160"/>
          </a:xfrm>
          <a:prstGeom prst="rect">
            <a:avLst/>
          </a:prstGeom>
        </p:spPr>
      </p:pic>
      <p:sp>
        <p:nvSpPr>
          <p:cNvPr id="9" name="Text 6"/>
          <p:cNvSpPr/>
          <p:nvPr/>
        </p:nvSpPr>
        <p:spPr>
          <a:xfrm>
            <a:off x="6355080" y="1234440"/>
            <a:ext cx="2514600" cy="320040"/>
          </a:xfrm>
          <a:prstGeom prst="rect">
            <a:avLst/>
          </a:prstGeom>
          <a:noFill/>
          <a:ln/>
        </p:spPr>
        <p:txBody>
          <a:bodyPr wrap="square" lIns="0" tIns="0" rIns="0" bIns="0" rtlCol="0" anchor="ctr"/>
          <a:lstStyle/>
          <a:p>
            <a:pPr marL="0" indent="0">
              <a:buNone/>
            </a:pPr>
            <a:r>
              <a:rPr lang="en-US" sz="1300" b="1" dirty="0">
                <a:solidFill>
                  <a:srgbClr val="1A2456"/>
                </a:solidFill>
                <a:latin typeface="Cambria" pitchFamily="34" charset="0"/>
                <a:ea typeface="Cambria" pitchFamily="34" charset="-122"/>
                <a:cs typeface="Cambria" pitchFamily="34" charset="-120"/>
              </a:rPr>
              <a:t>GAM Findings</a:t>
            </a:r>
            <a:endParaRPr lang="en-US" sz="1300" dirty="0"/>
          </a:p>
        </p:txBody>
      </p:sp>
      <p:sp>
        <p:nvSpPr>
          <p:cNvPr id="10" name="Shape 7"/>
          <p:cNvSpPr/>
          <p:nvPr/>
        </p:nvSpPr>
        <p:spPr>
          <a:xfrm>
            <a:off x="6355080" y="1491932"/>
            <a:ext cx="2514600" cy="804672"/>
          </a:xfrm>
          <a:prstGeom prst="rect">
            <a:avLst/>
          </a:prstGeom>
          <a:solidFill>
            <a:srgbClr val="F4F7FC"/>
          </a:solidFill>
          <a:ln w="12700">
            <a:solidFill>
              <a:srgbClr val="D4DCE8"/>
            </a:solidFill>
            <a:prstDash val="solid"/>
          </a:ln>
        </p:spPr>
        <p:txBody>
          <a:bodyPr/>
          <a:lstStyle/>
          <a:p>
            <a:endParaRPr lang="en-US"/>
          </a:p>
        </p:txBody>
      </p:sp>
      <p:sp>
        <p:nvSpPr>
          <p:cNvPr id="11" name="Text 8"/>
          <p:cNvSpPr/>
          <p:nvPr/>
        </p:nvSpPr>
        <p:spPr>
          <a:xfrm>
            <a:off x="6400800" y="1546796"/>
            <a:ext cx="2423160" cy="228600"/>
          </a:xfrm>
          <a:prstGeom prst="rect">
            <a:avLst/>
          </a:prstGeom>
          <a:noFill/>
          <a:ln/>
        </p:spPr>
        <p:txBody>
          <a:bodyPr wrap="square" lIns="0" tIns="0" rIns="0" bIns="0"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median_income</a:t>
            </a:r>
            <a:endParaRPr lang="en-US" sz="1050" dirty="0"/>
          </a:p>
        </p:txBody>
      </p:sp>
      <p:sp>
        <p:nvSpPr>
          <p:cNvPr id="12" name="Text 9"/>
          <p:cNvSpPr/>
          <p:nvPr/>
        </p:nvSpPr>
        <p:spPr>
          <a:xfrm>
            <a:off x="6400800" y="1784540"/>
            <a:ext cx="2423160" cy="457200"/>
          </a:xfrm>
          <a:prstGeom prst="rect">
            <a:avLst/>
          </a:prstGeom>
          <a:noFill/>
          <a:ln/>
        </p:spPr>
        <p:txBody>
          <a:bodyPr wrap="square" lIns="0" tIns="0" rIns="0" bIns="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Concave relationship. Marginal returns to income diminish above the median.</a:t>
            </a:r>
            <a:endParaRPr lang="en-US" sz="1000" dirty="0"/>
          </a:p>
        </p:txBody>
      </p:sp>
      <p:sp>
        <p:nvSpPr>
          <p:cNvPr id="13" name="Shape 10"/>
          <p:cNvSpPr/>
          <p:nvPr/>
        </p:nvSpPr>
        <p:spPr>
          <a:xfrm>
            <a:off x="6355080" y="2360612"/>
            <a:ext cx="2514600" cy="804672"/>
          </a:xfrm>
          <a:prstGeom prst="rect">
            <a:avLst/>
          </a:prstGeom>
          <a:solidFill>
            <a:srgbClr val="F4F7FC"/>
          </a:solidFill>
          <a:ln w="12700">
            <a:solidFill>
              <a:srgbClr val="D4DCE8"/>
            </a:solidFill>
            <a:prstDash val="solid"/>
          </a:ln>
        </p:spPr>
        <p:txBody>
          <a:bodyPr/>
          <a:lstStyle/>
          <a:p>
            <a:endParaRPr lang="en-US"/>
          </a:p>
        </p:txBody>
      </p:sp>
      <p:sp>
        <p:nvSpPr>
          <p:cNvPr id="14" name="Text 11"/>
          <p:cNvSpPr/>
          <p:nvPr/>
        </p:nvSpPr>
        <p:spPr>
          <a:xfrm>
            <a:off x="6400800" y="2415476"/>
            <a:ext cx="2423160" cy="228600"/>
          </a:xfrm>
          <a:prstGeom prst="rect">
            <a:avLst/>
          </a:prstGeom>
          <a:noFill/>
          <a:ln/>
        </p:spPr>
        <p:txBody>
          <a:bodyPr wrap="square" lIns="0" tIns="0" rIns="0" bIns="0"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latitude</a:t>
            </a:r>
            <a:endParaRPr lang="en-US" sz="1050" dirty="0"/>
          </a:p>
        </p:txBody>
      </p:sp>
      <p:sp>
        <p:nvSpPr>
          <p:cNvPr id="15" name="Text 12"/>
          <p:cNvSpPr/>
          <p:nvPr/>
        </p:nvSpPr>
        <p:spPr>
          <a:xfrm>
            <a:off x="6400800" y="2653220"/>
            <a:ext cx="2423160" cy="457200"/>
          </a:xfrm>
          <a:prstGeom prst="rect">
            <a:avLst/>
          </a:prstGeom>
          <a:noFill/>
          <a:ln/>
        </p:spPr>
        <p:txBody>
          <a:bodyPr wrap="square" lIns="0" tIns="0" rIns="0" bIns="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Sharp discontinuity around lat 37.5; the Bay Area premium is visible as a structural break.</a:t>
            </a:r>
            <a:endParaRPr lang="en-US" sz="1000" dirty="0"/>
          </a:p>
        </p:txBody>
      </p:sp>
      <p:sp>
        <p:nvSpPr>
          <p:cNvPr id="16" name="Shape 13"/>
          <p:cNvSpPr/>
          <p:nvPr/>
        </p:nvSpPr>
        <p:spPr>
          <a:xfrm>
            <a:off x="6355080" y="3229292"/>
            <a:ext cx="2514600" cy="804672"/>
          </a:xfrm>
          <a:prstGeom prst="rect">
            <a:avLst/>
          </a:prstGeom>
          <a:solidFill>
            <a:srgbClr val="F4F7FC"/>
          </a:solidFill>
          <a:ln w="12700">
            <a:solidFill>
              <a:srgbClr val="D4DCE8"/>
            </a:solidFill>
            <a:prstDash val="solid"/>
          </a:ln>
        </p:spPr>
        <p:txBody>
          <a:bodyPr/>
          <a:lstStyle/>
          <a:p>
            <a:endParaRPr lang="en-US"/>
          </a:p>
        </p:txBody>
      </p:sp>
      <p:sp>
        <p:nvSpPr>
          <p:cNvPr id="17" name="Text 14"/>
          <p:cNvSpPr/>
          <p:nvPr/>
        </p:nvSpPr>
        <p:spPr>
          <a:xfrm>
            <a:off x="6400800" y="3284156"/>
            <a:ext cx="2423160" cy="228600"/>
          </a:xfrm>
          <a:prstGeom prst="rect">
            <a:avLst/>
          </a:prstGeom>
          <a:noFill/>
          <a:ln/>
        </p:spPr>
        <p:txBody>
          <a:bodyPr wrap="square" lIns="0" tIns="0" rIns="0" bIns="0"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longitude</a:t>
            </a:r>
            <a:endParaRPr lang="en-US" sz="1050" dirty="0"/>
          </a:p>
        </p:txBody>
      </p:sp>
      <p:sp>
        <p:nvSpPr>
          <p:cNvPr id="18" name="Text 15"/>
          <p:cNvSpPr/>
          <p:nvPr/>
        </p:nvSpPr>
        <p:spPr>
          <a:xfrm>
            <a:off x="6400800" y="3521900"/>
            <a:ext cx="2423160" cy="457200"/>
          </a:xfrm>
          <a:prstGeom prst="rect">
            <a:avLst/>
          </a:prstGeom>
          <a:noFill/>
          <a:ln/>
        </p:spPr>
        <p:txBody>
          <a:bodyPr wrap="square" lIns="0" tIns="0" rIns="0" bIns="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Non-monotone coastal effect. LA Basin shows a distinct westward premium.</a:t>
            </a:r>
            <a:endParaRPr lang="en-US" sz="1000" dirty="0"/>
          </a:p>
        </p:txBody>
      </p:sp>
      <p:sp>
        <p:nvSpPr>
          <p:cNvPr id="19" name="Shape 16"/>
          <p:cNvSpPr/>
          <p:nvPr/>
        </p:nvSpPr>
        <p:spPr>
          <a:xfrm>
            <a:off x="6355080" y="4091346"/>
            <a:ext cx="2514600" cy="681822"/>
          </a:xfrm>
          <a:prstGeom prst="rect">
            <a:avLst/>
          </a:prstGeom>
          <a:solidFill>
            <a:srgbClr val="F4F7FC"/>
          </a:solidFill>
          <a:ln w="12700">
            <a:solidFill>
              <a:srgbClr val="D4DCE8"/>
            </a:solidFill>
            <a:prstDash val="solid"/>
          </a:ln>
        </p:spPr>
        <p:txBody>
          <a:bodyPr/>
          <a:lstStyle/>
          <a:p>
            <a:endParaRPr lang="en-US"/>
          </a:p>
        </p:txBody>
      </p:sp>
      <p:sp>
        <p:nvSpPr>
          <p:cNvPr id="20" name="Text 17"/>
          <p:cNvSpPr/>
          <p:nvPr/>
        </p:nvSpPr>
        <p:spPr>
          <a:xfrm>
            <a:off x="6400800" y="4146210"/>
            <a:ext cx="2423160" cy="228600"/>
          </a:xfrm>
          <a:prstGeom prst="rect">
            <a:avLst/>
          </a:prstGeom>
          <a:noFill/>
          <a:ln/>
        </p:spPr>
        <p:txBody>
          <a:bodyPr wrap="square" lIns="0" tIns="0" rIns="0" bIns="0"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rooms_per_household</a:t>
            </a:r>
            <a:endParaRPr lang="en-US" sz="1050" dirty="0"/>
          </a:p>
        </p:txBody>
      </p:sp>
      <p:sp>
        <p:nvSpPr>
          <p:cNvPr id="21" name="Text 18"/>
          <p:cNvSpPr/>
          <p:nvPr/>
        </p:nvSpPr>
        <p:spPr>
          <a:xfrm>
            <a:off x="6400800" y="4304442"/>
            <a:ext cx="2423160" cy="457200"/>
          </a:xfrm>
          <a:prstGeom prst="rect">
            <a:avLst/>
          </a:prstGeom>
          <a:noFill/>
          <a:ln/>
        </p:spPr>
        <p:txBody>
          <a:bodyPr wrap="square" lIns="0" tIns="0" rIns="0" bIns="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Positive and near-linear; more space per household raises value predictably.</a:t>
            </a:r>
            <a:endParaRPr lang="en-US" sz="1000" dirty="0"/>
          </a:p>
        </p:txBody>
      </p:sp>
      <p:sp>
        <p:nvSpPr>
          <p:cNvPr id="22" name="Text 19"/>
          <p:cNvSpPr/>
          <p:nvPr/>
        </p:nvSpPr>
        <p:spPr>
          <a:xfrm>
            <a:off x="6355080" y="4773168"/>
            <a:ext cx="2514600" cy="274320"/>
          </a:xfrm>
          <a:prstGeom prst="rect">
            <a:avLst/>
          </a:prstGeom>
          <a:noFill/>
          <a:ln/>
        </p:spPr>
        <p:txBody>
          <a:bodyPr wrap="square" lIns="0" tIns="0" rIns="0" bIns="0" rtlCol="0" anchor="ctr"/>
          <a:lstStyle/>
          <a:p>
            <a:pPr marL="0" indent="0" algn="ctr">
              <a:buNone/>
            </a:pPr>
            <a:r>
              <a:rPr lang="en-US" sz="1100" b="1" dirty="0">
                <a:solidFill>
                  <a:srgbClr val="1A2456"/>
                </a:solidFill>
                <a:latin typeface="Calibri" pitchFamily="34" charset="0"/>
                <a:ea typeface="Calibri" pitchFamily="34" charset="-122"/>
                <a:cs typeface="Calibri" pitchFamily="34" charset="-120"/>
              </a:rPr>
              <a:t>GAM R² = 0.7591  |  AIC = 3777.61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411480" y="73152"/>
            <a:ext cx="832104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GNPR Models: Splines and the Generalised Additive Model</a:t>
            </a:r>
            <a:endParaRPr lang="en-US" sz="2600" dirty="0"/>
          </a:p>
        </p:txBody>
      </p:sp>
      <p:sp>
        <p:nvSpPr>
          <p:cNvPr id="5" name="Shape 3"/>
          <p:cNvSpPr/>
          <p:nvPr/>
        </p:nvSpPr>
        <p:spPr>
          <a:xfrm>
            <a:off x="365760" y="1417320"/>
            <a:ext cx="4160520" cy="1630680"/>
          </a:xfrm>
          <a:prstGeom prst="rect">
            <a:avLst/>
          </a:prstGeom>
          <a:solidFill>
            <a:srgbClr val="F0F4FA"/>
          </a:solidFill>
          <a:ln w="12700">
            <a:solidFill>
              <a:srgbClr val="F0F4FA"/>
            </a:solidFill>
            <a:prstDash val="solid"/>
          </a:ln>
        </p:spPr>
        <p:txBody>
          <a:bodyPr/>
          <a:lstStyle/>
          <a:p>
            <a:endParaRPr lang="en-US"/>
          </a:p>
        </p:txBody>
      </p:sp>
      <p:sp>
        <p:nvSpPr>
          <p:cNvPr id="6" name="Text 4"/>
          <p:cNvSpPr/>
          <p:nvPr/>
        </p:nvSpPr>
        <p:spPr>
          <a:xfrm>
            <a:off x="548640" y="1508760"/>
            <a:ext cx="3794760" cy="384048"/>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Spline Regression</a:t>
            </a:r>
            <a:endParaRPr lang="en-US" sz="1400" dirty="0"/>
          </a:p>
        </p:txBody>
      </p:sp>
      <p:sp>
        <p:nvSpPr>
          <p:cNvPr id="7" name="Text 5"/>
          <p:cNvSpPr/>
          <p:nvPr/>
        </p:nvSpPr>
        <p:spPr>
          <a:xfrm>
            <a:off x="548640" y="1965960"/>
            <a:ext cx="3794760" cy="1082040"/>
          </a:xfrm>
          <a:prstGeom prst="rect">
            <a:avLst/>
          </a:prstGeom>
          <a:noFill/>
          <a:ln/>
        </p:spPr>
        <p:txBody>
          <a:bodyPr wrap="square" lIns="0" tIns="0" rIns="0" bIns="0" rtlCol="0" anchor="t"/>
          <a:lstStyle/>
          <a:p>
            <a:r>
              <a:rPr lang="en-US" sz="1200" dirty="0"/>
              <a:t>Uses smooth curves to model nonlinear relationships between predictors and house prices. </a:t>
            </a:r>
          </a:p>
          <a:p>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R² = 0.7175</a:t>
            </a:r>
            <a:endParaRPr lang="en-US" sz="1200" dirty="0"/>
          </a:p>
        </p:txBody>
      </p:sp>
      <p:sp>
        <p:nvSpPr>
          <p:cNvPr id="8" name="Shape 6"/>
          <p:cNvSpPr/>
          <p:nvPr/>
        </p:nvSpPr>
        <p:spPr>
          <a:xfrm>
            <a:off x="4800600" y="1417320"/>
            <a:ext cx="4160520" cy="1630680"/>
          </a:xfrm>
          <a:prstGeom prst="rect">
            <a:avLst/>
          </a:prstGeom>
          <a:solidFill>
            <a:srgbClr val="1E2761"/>
          </a:solidFill>
          <a:ln w="12700">
            <a:solidFill>
              <a:srgbClr val="1E2761"/>
            </a:solidFill>
            <a:prstDash val="solid"/>
          </a:ln>
        </p:spPr>
        <p:txBody>
          <a:bodyPr/>
          <a:lstStyle/>
          <a:p>
            <a:endParaRPr lang="en-US"/>
          </a:p>
        </p:txBody>
      </p:sp>
      <p:sp>
        <p:nvSpPr>
          <p:cNvPr id="9" name="Text 7"/>
          <p:cNvSpPr/>
          <p:nvPr/>
        </p:nvSpPr>
        <p:spPr>
          <a:xfrm>
            <a:off x="4983480" y="1508760"/>
            <a:ext cx="3794760" cy="384048"/>
          </a:xfrm>
          <a:prstGeom prst="rect">
            <a:avLst/>
          </a:prstGeom>
          <a:noFill/>
          <a:ln/>
        </p:spPr>
        <p:txBody>
          <a:bodyPr wrap="square" lIns="0" tIns="0" rIns="0" bIns="0" rtlCol="0" anchor="ctr"/>
          <a:lstStyle/>
          <a:p>
            <a:pPr marL="0" indent="0">
              <a:buNone/>
            </a:pPr>
            <a:r>
              <a:rPr lang="en-US" sz="1400" b="1" dirty="0">
                <a:solidFill>
                  <a:srgbClr val="D7191C"/>
                </a:solidFill>
                <a:latin typeface="Cambria" pitchFamily="34" charset="0"/>
                <a:ea typeface="Cambria" pitchFamily="34" charset="-122"/>
                <a:cs typeface="Cambria" pitchFamily="34" charset="-120"/>
              </a:rPr>
              <a:t>Generalised Additive Model</a:t>
            </a:r>
            <a:endParaRPr lang="en-US" sz="1400" dirty="0"/>
          </a:p>
        </p:txBody>
      </p:sp>
      <p:sp>
        <p:nvSpPr>
          <p:cNvPr id="10" name="Text 8"/>
          <p:cNvSpPr/>
          <p:nvPr/>
        </p:nvSpPr>
        <p:spPr>
          <a:xfrm>
            <a:off x="4983480" y="1965960"/>
            <a:ext cx="3794760" cy="996696"/>
          </a:xfrm>
          <a:prstGeom prst="rect">
            <a:avLst/>
          </a:prstGeom>
          <a:noFill/>
          <a:ln/>
        </p:spPr>
        <p:txBody>
          <a:bodyPr wrap="square" lIns="0" tIns="0" rIns="0" bIns="0" rtlCol="0" anchor="t"/>
          <a:lstStyle/>
          <a:p>
            <a:r>
              <a:rPr lang="en-US" sz="1200" dirty="0">
                <a:solidFill>
                  <a:srgbClr val="FFFFFF"/>
                </a:solidFill>
                <a:latin typeface="Calibri" pitchFamily="34" charset="0"/>
                <a:ea typeface="Calibri" pitchFamily="34" charset="-122"/>
                <a:cs typeface="Calibri" pitchFamily="34" charset="-120"/>
              </a:rPr>
              <a:t>Models house prices as the sum of smooth nonlinear effects from each predictor  variable to show how each feature influences the predictors.</a:t>
            </a:r>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R² = 0.7591</a:t>
            </a:r>
            <a:endParaRPr lang="en-US" sz="1200" dirty="0"/>
          </a:p>
        </p:txBody>
      </p:sp>
      <p:sp>
        <p:nvSpPr>
          <p:cNvPr id="11" name="Shape 9"/>
          <p:cNvSpPr/>
          <p:nvPr/>
        </p:nvSpPr>
        <p:spPr>
          <a:xfrm>
            <a:off x="365760" y="3364992"/>
            <a:ext cx="8412480" cy="1527048"/>
          </a:xfrm>
          <a:prstGeom prst="rect">
            <a:avLst/>
          </a:prstGeom>
          <a:solidFill>
            <a:srgbClr val="F0F4FA"/>
          </a:solidFill>
          <a:ln w="12700">
            <a:solidFill>
              <a:srgbClr val="D0D8E8"/>
            </a:solidFill>
            <a:prstDash val="solid"/>
          </a:ln>
        </p:spPr>
        <p:txBody>
          <a:bodyPr/>
          <a:lstStyle/>
          <a:p>
            <a:endParaRPr lang="en-US"/>
          </a:p>
        </p:txBody>
      </p:sp>
      <p:sp>
        <p:nvSpPr>
          <p:cNvPr id="12" name="Text 10"/>
          <p:cNvSpPr/>
          <p:nvPr/>
        </p:nvSpPr>
        <p:spPr>
          <a:xfrm>
            <a:off x="548640" y="3913632"/>
            <a:ext cx="8046720" cy="914400"/>
          </a:xfrm>
          <a:prstGeom prst="rect">
            <a:avLst/>
          </a:prstGeom>
          <a:noFill/>
          <a:ln/>
        </p:spPr>
        <p:txBody>
          <a:bodyPr wrap="square" lIns="0" tIns="0" rIns="0" bIns="0" rtlCol="0" anchor="ctr"/>
          <a:lstStyle/>
          <a:p>
            <a:pPr marL="0" indent="0">
              <a:buNone/>
            </a:pPr>
            <a:r>
              <a:rPr lang="en-US" sz="1200" i="1" dirty="0">
                <a:solidFill>
                  <a:srgbClr val="111827"/>
                </a:solidFill>
                <a:latin typeface="Calibri" pitchFamily="34" charset="0"/>
                <a:ea typeface="Calibri" pitchFamily="34" charset="-122"/>
                <a:cs typeface="Calibri" pitchFamily="34" charset="-120"/>
              </a:rPr>
              <a:t>Key finding from GAM partial dependence plots: the income-to-price relationship is concave. The marginal return to income diminishes at high income levels. This is a qualitatively richer finding than any linear coefficient can express.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411480" y="73152"/>
            <a:ext cx="832104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Ensemble Methods: Random Forest and XGBoost</a:t>
            </a:r>
            <a:endParaRPr lang="en-US" sz="2600" dirty="0"/>
          </a:p>
        </p:txBody>
      </p:sp>
      <p:sp>
        <p:nvSpPr>
          <p:cNvPr id="5" name="Shape 3"/>
          <p:cNvSpPr/>
          <p:nvPr/>
        </p:nvSpPr>
        <p:spPr>
          <a:xfrm>
            <a:off x="320040" y="1417320"/>
            <a:ext cx="4160520" cy="3383280"/>
          </a:xfrm>
          <a:prstGeom prst="rect">
            <a:avLst/>
          </a:prstGeom>
          <a:solidFill>
            <a:srgbClr val="F0F4FA"/>
          </a:solidFill>
          <a:ln w="12700">
            <a:solidFill>
              <a:srgbClr val="D0D8E8"/>
            </a:solidFill>
            <a:prstDash val="solid"/>
          </a:ln>
        </p:spPr>
        <p:txBody>
          <a:bodyPr/>
          <a:lstStyle/>
          <a:p>
            <a:endParaRPr lang="en-US"/>
          </a:p>
        </p:txBody>
      </p:sp>
      <p:sp>
        <p:nvSpPr>
          <p:cNvPr id="6" name="Text 4"/>
          <p:cNvSpPr/>
          <p:nvPr/>
        </p:nvSpPr>
        <p:spPr>
          <a:xfrm>
            <a:off x="502920" y="1508760"/>
            <a:ext cx="3794760" cy="38404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Random Forest</a:t>
            </a:r>
            <a:endParaRPr lang="en-US" sz="1500" dirty="0"/>
          </a:p>
        </p:txBody>
      </p:sp>
      <p:sp>
        <p:nvSpPr>
          <p:cNvPr id="7" name="Text 5"/>
          <p:cNvSpPr/>
          <p:nvPr/>
        </p:nvSpPr>
        <p:spPr>
          <a:xfrm>
            <a:off x="502920" y="1947672"/>
            <a:ext cx="3794760" cy="292608"/>
          </a:xfrm>
          <a:prstGeom prst="rect">
            <a:avLst/>
          </a:prstGeom>
          <a:noFill/>
          <a:ln/>
        </p:spPr>
        <p:txBody>
          <a:bodyPr wrap="square" lIns="0" tIns="0" rIns="0" bIns="0" rtlCol="0" anchor="ctr"/>
          <a:lstStyle/>
          <a:p>
            <a:pPr marL="0" indent="0">
              <a:buNone/>
            </a:pPr>
            <a:r>
              <a:rPr lang="en-US" sz="950" i="1" dirty="0">
                <a:solidFill>
                  <a:srgbClr val="8899AA"/>
                </a:solidFill>
                <a:latin typeface="Calibri" pitchFamily="34" charset="0"/>
                <a:ea typeface="Calibri" pitchFamily="34" charset="-122"/>
                <a:cs typeface="Calibri" pitchFamily="34" charset="-120"/>
              </a:rPr>
              <a:t>200 trees  |  Bootstrap aggregation  |  Random feature subsets</a:t>
            </a:r>
            <a:endParaRPr lang="en-US" sz="950" dirty="0"/>
          </a:p>
        </p:txBody>
      </p:sp>
      <p:sp>
        <p:nvSpPr>
          <p:cNvPr id="8" name="Shape 6"/>
          <p:cNvSpPr/>
          <p:nvPr/>
        </p:nvSpPr>
        <p:spPr>
          <a:xfrm>
            <a:off x="521208" y="2359152"/>
            <a:ext cx="109728" cy="109728"/>
          </a:xfrm>
          <a:prstGeom prst="ellipse">
            <a:avLst/>
          </a:prstGeom>
          <a:solidFill>
            <a:srgbClr val="D7191C"/>
          </a:solidFill>
          <a:ln w="12700">
            <a:solidFill>
              <a:srgbClr val="D7191C"/>
            </a:solidFill>
            <a:prstDash val="solid"/>
          </a:ln>
        </p:spPr>
        <p:txBody>
          <a:bodyPr/>
          <a:lstStyle/>
          <a:p>
            <a:endParaRPr lang="en-US"/>
          </a:p>
        </p:txBody>
      </p:sp>
      <p:sp>
        <p:nvSpPr>
          <p:cNvPr id="9" name="Text 7"/>
          <p:cNvSpPr/>
          <p:nvPr/>
        </p:nvSpPr>
        <p:spPr>
          <a:xfrm>
            <a:off x="704088" y="2304288"/>
            <a:ext cx="3566160" cy="566928"/>
          </a:xfrm>
          <a:prstGeom prst="rect">
            <a:avLst/>
          </a:prstGeom>
          <a:noFill/>
          <a:ln/>
        </p:spPr>
        <p:txBody>
          <a:bodyPr wrap="square" lIns="0" tIns="0" rIns="0" bIns="0" rtlCol="0" anchor="t"/>
          <a:lstStyle/>
          <a:p>
            <a:pPr marL="0" indent="0">
              <a:buNone/>
            </a:pPr>
            <a:r>
              <a:rPr lang="en-US" sz="1100" dirty="0">
                <a:solidFill>
                  <a:srgbClr val="111827"/>
                </a:solidFill>
                <a:latin typeface="Calibri" pitchFamily="34" charset="0"/>
                <a:ea typeface="Calibri" pitchFamily="34" charset="-122"/>
                <a:cs typeface="Calibri" pitchFamily="34" charset="-120"/>
              </a:rPr>
              <a:t>Each tree sees a bootstrapped sample and a random subset of features at each split.</a:t>
            </a:r>
            <a:endParaRPr lang="en-US" sz="1100" dirty="0"/>
          </a:p>
        </p:txBody>
      </p:sp>
      <p:sp>
        <p:nvSpPr>
          <p:cNvPr id="10" name="Shape 8"/>
          <p:cNvSpPr/>
          <p:nvPr/>
        </p:nvSpPr>
        <p:spPr>
          <a:xfrm>
            <a:off x="521208" y="2980944"/>
            <a:ext cx="109728" cy="109728"/>
          </a:xfrm>
          <a:prstGeom prst="ellipse">
            <a:avLst/>
          </a:prstGeom>
          <a:solidFill>
            <a:srgbClr val="D7191C"/>
          </a:solidFill>
          <a:ln w="12700">
            <a:solidFill>
              <a:srgbClr val="D7191C"/>
            </a:solidFill>
            <a:prstDash val="solid"/>
          </a:ln>
        </p:spPr>
        <p:txBody>
          <a:bodyPr/>
          <a:lstStyle/>
          <a:p>
            <a:endParaRPr lang="en-US"/>
          </a:p>
        </p:txBody>
      </p:sp>
      <p:sp>
        <p:nvSpPr>
          <p:cNvPr id="11" name="Text 9"/>
          <p:cNvSpPr/>
          <p:nvPr/>
        </p:nvSpPr>
        <p:spPr>
          <a:xfrm>
            <a:off x="704088" y="2926080"/>
            <a:ext cx="3566160" cy="566928"/>
          </a:xfrm>
          <a:prstGeom prst="rect">
            <a:avLst/>
          </a:prstGeom>
          <a:noFill/>
          <a:ln/>
        </p:spPr>
        <p:txBody>
          <a:bodyPr wrap="square" lIns="0" tIns="0" rIns="0" bIns="0" rtlCol="0" anchor="t"/>
          <a:lstStyle/>
          <a:p>
            <a:pPr marL="0" indent="0">
              <a:buNone/>
            </a:pPr>
            <a:r>
              <a:rPr lang="en-US" sz="1100" dirty="0">
                <a:solidFill>
                  <a:srgbClr val="111827"/>
                </a:solidFill>
                <a:latin typeface="Calibri" pitchFamily="34" charset="0"/>
                <a:ea typeface="Calibri" pitchFamily="34" charset="-122"/>
                <a:cs typeface="Calibri" pitchFamily="34" charset="-120"/>
              </a:rPr>
              <a:t>Final prediction is the average across all trees, reducing variance by design.</a:t>
            </a:r>
            <a:endParaRPr lang="en-US" sz="1100" dirty="0"/>
          </a:p>
        </p:txBody>
      </p:sp>
      <p:sp>
        <p:nvSpPr>
          <p:cNvPr id="12" name="Shape 10"/>
          <p:cNvSpPr/>
          <p:nvPr/>
        </p:nvSpPr>
        <p:spPr>
          <a:xfrm>
            <a:off x="521208" y="3602736"/>
            <a:ext cx="109728" cy="109728"/>
          </a:xfrm>
          <a:prstGeom prst="ellipse">
            <a:avLst/>
          </a:prstGeom>
          <a:solidFill>
            <a:srgbClr val="D7191C"/>
          </a:solidFill>
          <a:ln w="12700">
            <a:solidFill>
              <a:srgbClr val="D7191C"/>
            </a:solidFill>
            <a:prstDash val="solid"/>
          </a:ln>
        </p:spPr>
        <p:txBody>
          <a:bodyPr/>
          <a:lstStyle/>
          <a:p>
            <a:endParaRPr lang="en-US"/>
          </a:p>
        </p:txBody>
      </p:sp>
      <p:sp>
        <p:nvSpPr>
          <p:cNvPr id="13" name="Text 11"/>
          <p:cNvSpPr/>
          <p:nvPr/>
        </p:nvSpPr>
        <p:spPr>
          <a:xfrm>
            <a:off x="704088" y="3547872"/>
            <a:ext cx="3566160" cy="566928"/>
          </a:xfrm>
          <a:prstGeom prst="rect">
            <a:avLst/>
          </a:prstGeom>
          <a:noFill/>
          <a:ln/>
        </p:spPr>
        <p:txBody>
          <a:bodyPr wrap="square" lIns="0" tIns="0" rIns="0" bIns="0" rtlCol="0" anchor="t"/>
          <a:lstStyle/>
          <a:p>
            <a:pPr marL="0" indent="0">
              <a:buNone/>
            </a:pPr>
            <a:r>
              <a:rPr lang="en-US" sz="1100" dirty="0">
                <a:solidFill>
                  <a:srgbClr val="111827"/>
                </a:solidFill>
                <a:latin typeface="Calibri" pitchFamily="34" charset="0"/>
                <a:ea typeface="Calibri" pitchFamily="34" charset="-122"/>
                <a:cs typeface="Calibri" pitchFamily="34" charset="-120"/>
              </a:rPr>
              <a:t>Naturally captures nonlinear relationships and interaction effects without analyst specification.</a:t>
            </a:r>
            <a:endParaRPr lang="en-US" sz="1100" dirty="0"/>
          </a:p>
        </p:txBody>
      </p:sp>
      <p:sp>
        <p:nvSpPr>
          <p:cNvPr id="14" name="Text 12"/>
          <p:cNvSpPr/>
          <p:nvPr/>
        </p:nvSpPr>
        <p:spPr>
          <a:xfrm>
            <a:off x="502920" y="4297680"/>
            <a:ext cx="3794760" cy="384048"/>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R² = 0.8228</a:t>
            </a:r>
            <a:endParaRPr lang="en-US" sz="2000" dirty="0"/>
          </a:p>
        </p:txBody>
      </p:sp>
      <p:sp>
        <p:nvSpPr>
          <p:cNvPr id="15" name="Shape 13"/>
          <p:cNvSpPr/>
          <p:nvPr/>
        </p:nvSpPr>
        <p:spPr>
          <a:xfrm>
            <a:off x="4754880" y="1417320"/>
            <a:ext cx="4160520" cy="3383280"/>
          </a:xfrm>
          <a:prstGeom prst="rect">
            <a:avLst/>
          </a:prstGeom>
          <a:solidFill>
            <a:srgbClr val="1E2761"/>
          </a:solidFill>
          <a:ln w="12700">
            <a:solidFill>
              <a:srgbClr val="1E2761"/>
            </a:solidFill>
            <a:prstDash val="solid"/>
          </a:ln>
        </p:spPr>
        <p:txBody>
          <a:bodyPr/>
          <a:lstStyle/>
          <a:p>
            <a:endParaRPr lang="en-US"/>
          </a:p>
        </p:txBody>
      </p:sp>
      <p:sp>
        <p:nvSpPr>
          <p:cNvPr id="16" name="Text 14"/>
          <p:cNvSpPr/>
          <p:nvPr/>
        </p:nvSpPr>
        <p:spPr>
          <a:xfrm>
            <a:off x="4937760" y="1508760"/>
            <a:ext cx="3794760" cy="384048"/>
          </a:xfrm>
          <a:prstGeom prst="rect">
            <a:avLst/>
          </a:prstGeom>
          <a:noFill/>
          <a:ln/>
        </p:spPr>
        <p:txBody>
          <a:bodyPr wrap="square" lIns="0" tIns="0" rIns="0" bIns="0" rtlCol="0" anchor="ctr"/>
          <a:lstStyle/>
          <a:p>
            <a:pPr marL="0" indent="0">
              <a:buNone/>
            </a:pPr>
            <a:r>
              <a:rPr lang="en-US" sz="1500" b="1" dirty="0">
                <a:solidFill>
                  <a:srgbClr val="D7191C"/>
                </a:solidFill>
                <a:latin typeface="Cambria" pitchFamily="34" charset="0"/>
                <a:ea typeface="Cambria" pitchFamily="34" charset="-122"/>
                <a:cs typeface="Cambria" pitchFamily="34" charset="-120"/>
              </a:rPr>
              <a:t>XGBoost</a:t>
            </a:r>
            <a:endParaRPr lang="en-US" sz="1500" dirty="0"/>
          </a:p>
        </p:txBody>
      </p:sp>
      <p:sp>
        <p:nvSpPr>
          <p:cNvPr id="17" name="Text 15"/>
          <p:cNvSpPr/>
          <p:nvPr/>
        </p:nvSpPr>
        <p:spPr>
          <a:xfrm>
            <a:off x="4937760" y="1947672"/>
            <a:ext cx="3794760" cy="292608"/>
          </a:xfrm>
          <a:prstGeom prst="rect">
            <a:avLst/>
          </a:prstGeom>
          <a:noFill/>
          <a:ln/>
        </p:spPr>
        <p:txBody>
          <a:bodyPr wrap="square" lIns="0" tIns="0" rIns="0" bIns="0" rtlCol="0" anchor="ctr"/>
          <a:lstStyle/>
          <a:p>
            <a:pPr marL="0" indent="0">
              <a:buNone/>
            </a:pPr>
            <a:r>
              <a:rPr lang="en-US" sz="950" i="1" dirty="0">
                <a:solidFill>
                  <a:srgbClr val="C8D8F0"/>
                </a:solidFill>
                <a:latin typeface="Calibri" pitchFamily="34" charset="0"/>
                <a:ea typeface="Calibri" pitchFamily="34" charset="-122"/>
                <a:cs typeface="Calibri" pitchFamily="34" charset="-120"/>
              </a:rPr>
              <a:t>400 estimators  |  Learning rate 0.05  |  L1 + L2 regularisation</a:t>
            </a:r>
            <a:endParaRPr lang="en-US" sz="950" dirty="0"/>
          </a:p>
        </p:txBody>
      </p:sp>
      <p:sp>
        <p:nvSpPr>
          <p:cNvPr id="18" name="Shape 16"/>
          <p:cNvSpPr/>
          <p:nvPr/>
        </p:nvSpPr>
        <p:spPr>
          <a:xfrm>
            <a:off x="4956048" y="2359152"/>
            <a:ext cx="109728" cy="109728"/>
          </a:xfrm>
          <a:prstGeom prst="ellipse">
            <a:avLst/>
          </a:prstGeom>
          <a:solidFill>
            <a:srgbClr val="D7191C"/>
          </a:solidFill>
          <a:ln w="12700">
            <a:solidFill>
              <a:srgbClr val="D7191C"/>
            </a:solidFill>
            <a:prstDash val="solid"/>
          </a:ln>
        </p:spPr>
        <p:txBody>
          <a:bodyPr/>
          <a:lstStyle/>
          <a:p>
            <a:endParaRPr lang="en-US"/>
          </a:p>
        </p:txBody>
      </p:sp>
      <p:sp>
        <p:nvSpPr>
          <p:cNvPr id="19" name="Text 17"/>
          <p:cNvSpPr/>
          <p:nvPr/>
        </p:nvSpPr>
        <p:spPr>
          <a:xfrm>
            <a:off x="5138928" y="2304288"/>
            <a:ext cx="3566160" cy="566928"/>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Trees are built sequentially, each fitting the residuals of the prior ensemble.</a:t>
            </a:r>
            <a:endParaRPr lang="en-US" sz="1100" dirty="0"/>
          </a:p>
        </p:txBody>
      </p:sp>
      <p:sp>
        <p:nvSpPr>
          <p:cNvPr id="20" name="Shape 18"/>
          <p:cNvSpPr/>
          <p:nvPr/>
        </p:nvSpPr>
        <p:spPr>
          <a:xfrm>
            <a:off x="4956048" y="2980944"/>
            <a:ext cx="109728" cy="109728"/>
          </a:xfrm>
          <a:prstGeom prst="ellipse">
            <a:avLst/>
          </a:prstGeom>
          <a:solidFill>
            <a:srgbClr val="D7191C"/>
          </a:solidFill>
          <a:ln w="12700">
            <a:solidFill>
              <a:srgbClr val="D7191C"/>
            </a:solidFill>
            <a:prstDash val="solid"/>
          </a:ln>
        </p:spPr>
        <p:txBody>
          <a:bodyPr/>
          <a:lstStyle/>
          <a:p>
            <a:endParaRPr lang="en-US"/>
          </a:p>
        </p:txBody>
      </p:sp>
      <p:sp>
        <p:nvSpPr>
          <p:cNvPr id="21" name="Text 19"/>
          <p:cNvSpPr/>
          <p:nvPr/>
        </p:nvSpPr>
        <p:spPr>
          <a:xfrm>
            <a:off x="5138928" y="2926080"/>
            <a:ext cx="3566160" cy="566928"/>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Column subsampling and regularisation prevent overfitting on tabular data.</a:t>
            </a:r>
            <a:endParaRPr lang="en-US" sz="1100" dirty="0"/>
          </a:p>
        </p:txBody>
      </p:sp>
      <p:sp>
        <p:nvSpPr>
          <p:cNvPr id="22" name="Shape 20"/>
          <p:cNvSpPr/>
          <p:nvPr/>
        </p:nvSpPr>
        <p:spPr>
          <a:xfrm>
            <a:off x="4956048" y="3602736"/>
            <a:ext cx="109728" cy="109728"/>
          </a:xfrm>
          <a:prstGeom prst="ellipse">
            <a:avLst/>
          </a:prstGeom>
          <a:solidFill>
            <a:srgbClr val="D7191C"/>
          </a:solidFill>
          <a:ln w="12700">
            <a:solidFill>
              <a:srgbClr val="D7191C"/>
            </a:solidFill>
            <a:prstDash val="solid"/>
          </a:ln>
        </p:spPr>
        <p:txBody>
          <a:bodyPr/>
          <a:lstStyle/>
          <a:p>
            <a:endParaRPr lang="en-US"/>
          </a:p>
        </p:txBody>
      </p:sp>
      <p:sp>
        <p:nvSpPr>
          <p:cNvPr id="23" name="Text 21"/>
          <p:cNvSpPr/>
          <p:nvPr/>
        </p:nvSpPr>
        <p:spPr>
          <a:xfrm>
            <a:off x="5138928" y="3547872"/>
            <a:ext cx="3566160" cy="566928"/>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The workhorse of applied ML on structured datasets. Competitive by design.</a:t>
            </a:r>
            <a:endParaRPr lang="en-US" sz="1100" dirty="0"/>
          </a:p>
        </p:txBody>
      </p:sp>
      <p:sp>
        <p:nvSpPr>
          <p:cNvPr id="24" name="Text 22"/>
          <p:cNvSpPr/>
          <p:nvPr/>
        </p:nvSpPr>
        <p:spPr>
          <a:xfrm>
            <a:off x="4937760" y="4297680"/>
            <a:ext cx="379476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R² = 0.8505</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4008" cy="5148072"/>
          </a:xfrm>
          <a:prstGeom prst="rect">
            <a:avLst/>
          </a:prstGeom>
          <a:solidFill>
            <a:srgbClr val="C0392B"/>
          </a:solidFill>
          <a:ln w="12700">
            <a:solidFill>
              <a:srgbClr val="C0392B"/>
            </a:solidFill>
            <a:prstDash val="solid"/>
          </a:ln>
        </p:spPr>
        <p:txBody>
          <a:bodyPr/>
          <a:lstStyle/>
          <a:p>
            <a:endParaRPr lang="en-US"/>
          </a:p>
        </p:txBody>
      </p:sp>
      <p:sp>
        <p:nvSpPr>
          <p:cNvPr id="3" name="Text 1"/>
          <p:cNvSpPr/>
          <p:nvPr/>
        </p:nvSpPr>
        <p:spPr>
          <a:xfrm>
            <a:off x="228600" y="164592"/>
            <a:ext cx="8503920" cy="621792"/>
          </a:xfrm>
          <a:prstGeom prst="rect">
            <a:avLst/>
          </a:prstGeom>
          <a:noFill/>
          <a:ln/>
        </p:spPr>
        <p:txBody>
          <a:bodyPr wrap="square" lIns="0" tIns="0" rIns="0" bIns="0" rtlCol="0" anchor="ctr"/>
          <a:lstStyle/>
          <a:p>
            <a:pPr marL="0" indent="0">
              <a:buNone/>
            </a:pPr>
            <a:r>
              <a:rPr lang="en-US" sz="2800" b="1" dirty="0">
                <a:solidFill>
                  <a:srgbClr val="1A2456"/>
                </a:solidFill>
                <a:latin typeface="Cambria" pitchFamily="34" charset="0"/>
                <a:ea typeface="Cambria" pitchFamily="34" charset="-122"/>
                <a:cs typeface="Cambria" pitchFamily="34" charset="-120"/>
              </a:rPr>
              <a:t>RQ 3: GNPR vs Parametric vs Machine Learning</a:t>
            </a:r>
            <a:endParaRPr lang="en-US" sz="2800" dirty="0"/>
          </a:p>
        </p:txBody>
      </p:sp>
      <p:sp>
        <p:nvSpPr>
          <p:cNvPr id="4" name="Text 2"/>
          <p:cNvSpPr/>
          <p:nvPr/>
        </p:nvSpPr>
        <p:spPr>
          <a:xfrm>
            <a:off x="228600" y="804672"/>
            <a:ext cx="8503920" cy="292608"/>
          </a:xfrm>
          <a:prstGeom prst="rect">
            <a:avLst/>
          </a:prstGeom>
          <a:noFill/>
          <a:ln/>
        </p:spPr>
        <p:txBody>
          <a:bodyPr wrap="square" lIns="0" tIns="0" rIns="0" bIns="0" rtlCol="0" anchor="ctr"/>
          <a:lstStyle/>
          <a:p>
            <a:pPr marL="0" indent="0">
              <a:buNone/>
            </a:pPr>
            <a:r>
              <a:rPr lang="en-US" sz="1150" i="1" dirty="0">
                <a:solidFill>
                  <a:srgbClr val="7F8FA4"/>
                </a:solidFill>
                <a:latin typeface="Calibri" pitchFamily="34" charset="0"/>
                <a:ea typeface="Calibri" pitchFamily="34" charset="-122"/>
                <a:cs typeface="Calibri" pitchFamily="34" charset="-120"/>
              </a:rPr>
              <a:t>Which model family provides the best predictive accuracy?</a:t>
            </a:r>
            <a:endParaRPr lang="en-US" sz="1150" dirty="0"/>
          </a:p>
        </p:txBody>
      </p:sp>
      <p:sp>
        <p:nvSpPr>
          <p:cNvPr id="5" name="Shape 3"/>
          <p:cNvSpPr/>
          <p:nvPr/>
        </p:nvSpPr>
        <p:spPr>
          <a:xfrm>
            <a:off x="228600" y="1115568"/>
            <a:ext cx="8686800" cy="22860"/>
          </a:xfrm>
          <a:prstGeom prst="rect">
            <a:avLst/>
          </a:prstGeom>
          <a:solidFill>
            <a:srgbClr val="C8D8F0"/>
          </a:solidFill>
          <a:ln w="12700">
            <a:solidFill>
              <a:srgbClr val="C8D8F0"/>
            </a:solidFill>
            <a:prstDash val="solid"/>
          </a:ln>
        </p:spPr>
        <p:txBody>
          <a:bodyPr/>
          <a:lstStyle/>
          <a:p>
            <a:endParaRPr lang="en-US"/>
          </a:p>
        </p:txBody>
      </p:sp>
      <p:sp>
        <p:nvSpPr>
          <p:cNvPr id="9" name="Shape 6"/>
          <p:cNvSpPr/>
          <p:nvPr/>
        </p:nvSpPr>
        <p:spPr>
          <a:xfrm>
            <a:off x="228600" y="1775739"/>
            <a:ext cx="5486400" cy="292608"/>
          </a:xfrm>
          <a:prstGeom prst="rect">
            <a:avLst/>
          </a:prstGeom>
          <a:solidFill>
            <a:srgbClr val="1A2456"/>
          </a:solidFill>
          <a:ln w="12700">
            <a:solidFill>
              <a:srgbClr val="1A2456"/>
            </a:solidFill>
            <a:prstDash val="solid"/>
          </a:ln>
        </p:spPr>
        <p:txBody>
          <a:bodyPr/>
          <a:lstStyle/>
          <a:p>
            <a:endParaRPr lang="en-US"/>
          </a:p>
        </p:txBody>
      </p:sp>
      <p:sp>
        <p:nvSpPr>
          <p:cNvPr id="10" name="Text 7"/>
          <p:cNvSpPr/>
          <p:nvPr/>
        </p:nvSpPr>
        <p:spPr>
          <a:xfrm>
            <a:off x="274320" y="1803171"/>
            <a:ext cx="1280160" cy="237744"/>
          </a:xfrm>
          <a:prstGeom prst="rect">
            <a:avLst/>
          </a:prstGeom>
          <a:noFill/>
          <a:ln/>
        </p:spPr>
        <p:txBody>
          <a:bodyPr wrap="square" lIns="25400" tIns="25400" rIns="25400" bIns="254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11" name="Text 8"/>
          <p:cNvSpPr/>
          <p:nvPr/>
        </p:nvSpPr>
        <p:spPr>
          <a:xfrm>
            <a:off x="1645920" y="1803171"/>
            <a:ext cx="1280160" cy="237744"/>
          </a:xfrm>
          <a:prstGeom prst="rect">
            <a:avLst/>
          </a:prstGeom>
          <a:noFill/>
          <a:ln/>
        </p:spPr>
        <p:txBody>
          <a:bodyPr wrap="square" lIns="25400" tIns="25400" rIns="25400" bIns="254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RMSE</a:t>
            </a:r>
            <a:endParaRPr lang="en-US" sz="1050" dirty="0"/>
          </a:p>
        </p:txBody>
      </p:sp>
      <p:sp>
        <p:nvSpPr>
          <p:cNvPr id="12" name="Text 9"/>
          <p:cNvSpPr/>
          <p:nvPr/>
        </p:nvSpPr>
        <p:spPr>
          <a:xfrm>
            <a:off x="2423160" y="1803171"/>
            <a:ext cx="1280160" cy="237744"/>
          </a:xfrm>
          <a:prstGeom prst="rect">
            <a:avLst/>
          </a:prstGeom>
          <a:noFill/>
          <a:ln/>
        </p:spPr>
        <p:txBody>
          <a:bodyPr wrap="square" lIns="25400" tIns="25400" rIns="25400" bIns="254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MAE</a:t>
            </a:r>
            <a:endParaRPr lang="en-US" sz="1050" dirty="0"/>
          </a:p>
        </p:txBody>
      </p:sp>
      <p:sp>
        <p:nvSpPr>
          <p:cNvPr id="13" name="Text 10"/>
          <p:cNvSpPr/>
          <p:nvPr/>
        </p:nvSpPr>
        <p:spPr>
          <a:xfrm>
            <a:off x="3154680" y="1803171"/>
            <a:ext cx="1280160" cy="237744"/>
          </a:xfrm>
          <a:prstGeom prst="rect">
            <a:avLst/>
          </a:prstGeom>
          <a:noFill/>
          <a:ln/>
        </p:spPr>
        <p:txBody>
          <a:bodyPr wrap="square" lIns="25400" tIns="25400" rIns="25400" bIns="254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R²</a:t>
            </a:r>
            <a:endParaRPr lang="en-US" sz="1050" dirty="0"/>
          </a:p>
        </p:txBody>
      </p:sp>
      <p:sp>
        <p:nvSpPr>
          <p:cNvPr id="14" name="Text 11"/>
          <p:cNvSpPr/>
          <p:nvPr/>
        </p:nvSpPr>
        <p:spPr>
          <a:xfrm>
            <a:off x="3931920" y="3959352"/>
            <a:ext cx="1920240" cy="237744"/>
          </a:xfrm>
          <a:prstGeom prst="rect">
            <a:avLst/>
          </a:prstGeom>
          <a:noFill/>
          <a:ln/>
        </p:spPr>
        <p:txBody>
          <a:bodyPr wrap="square" lIns="25400" tIns="25400" rIns="25400" bIns="254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Family</a:t>
            </a:r>
            <a:endParaRPr lang="en-US" sz="1050" dirty="0"/>
          </a:p>
        </p:txBody>
      </p:sp>
      <p:sp>
        <p:nvSpPr>
          <p:cNvPr id="15" name="Shape 12"/>
          <p:cNvSpPr/>
          <p:nvPr/>
        </p:nvSpPr>
        <p:spPr>
          <a:xfrm>
            <a:off x="228600" y="2068347"/>
            <a:ext cx="5486400" cy="219456"/>
          </a:xfrm>
          <a:prstGeom prst="rect">
            <a:avLst/>
          </a:prstGeom>
          <a:solidFill>
            <a:srgbClr val="EBF5FB"/>
          </a:solidFill>
          <a:ln w="12700">
            <a:solidFill>
              <a:srgbClr val="D8DDE8"/>
            </a:solidFill>
            <a:prstDash val="solid"/>
          </a:ln>
        </p:spPr>
        <p:txBody>
          <a:bodyPr/>
          <a:lstStyle/>
          <a:p>
            <a:endParaRPr lang="en-US"/>
          </a:p>
        </p:txBody>
      </p:sp>
      <p:sp>
        <p:nvSpPr>
          <p:cNvPr id="16" name="Text 13"/>
          <p:cNvSpPr/>
          <p:nvPr/>
        </p:nvSpPr>
        <p:spPr>
          <a:xfrm>
            <a:off x="274320" y="2077491"/>
            <a:ext cx="1261872" cy="201168"/>
          </a:xfrm>
          <a:prstGeom prst="rect">
            <a:avLst/>
          </a:prstGeom>
          <a:noFill/>
          <a:ln/>
        </p:spPr>
        <p:txBody>
          <a:bodyPr wrap="square" lIns="25400" tIns="25400" rIns="25400" bIns="2540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XGBoost</a:t>
            </a:r>
            <a:endParaRPr lang="en-US" sz="1000" dirty="0"/>
          </a:p>
        </p:txBody>
      </p:sp>
      <p:sp>
        <p:nvSpPr>
          <p:cNvPr id="17" name="Text 14"/>
          <p:cNvSpPr/>
          <p:nvPr/>
        </p:nvSpPr>
        <p:spPr>
          <a:xfrm>
            <a:off x="1645920" y="2077491"/>
            <a:ext cx="1261872" cy="201168"/>
          </a:xfrm>
          <a:prstGeom prst="rect">
            <a:avLst/>
          </a:prstGeom>
          <a:noFill/>
          <a:ln/>
        </p:spPr>
        <p:txBody>
          <a:bodyPr wrap="square" lIns="25400" tIns="25400" rIns="25400" bIns="2540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0.2203</a:t>
            </a:r>
            <a:endParaRPr lang="en-US" sz="1000" dirty="0"/>
          </a:p>
        </p:txBody>
      </p:sp>
      <p:sp>
        <p:nvSpPr>
          <p:cNvPr id="18" name="Text 15"/>
          <p:cNvSpPr/>
          <p:nvPr/>
        </p:nvSpPr>
        <p:spPr>
          <a:xfrm>
            <a:off x="2423160" y="2077491"/>
            <a:ext cx="1261872" cy="201168"/>
          </a:xfrm>
          <a:prstGeom prst="rect">
            <a:avLst/>
          </a:prstGeom>
          <a:noFill/>
          <a:ln/>
        </p:spPr>
        <p:txBody>
          <a:bodyPr wrap="square" lIns="25400" tIns="25400" rIns="25400" bIns="2540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0.1507</a:t>
            </a:r>
            <a:endParaRPr lang="en-US" sz="1000" dirty="0"/>
          </a:p>
        </p:txBody>
      </p:sp>
      <p:sp>
        <p:nvSpPr>
          <p:cNvPr id="19" name="Text 16"/>
          <p:cNvSpPr/>
          <p:nvPr/>
        </p:nvSpPr>
        <p:spPr>
          <a:xfrm>
            <a:off x="3154680" y="2077491"/>
            <a:ext cx="1261872" cy="201168"/>
          </a:xfrm>
          <a:prstGeom prst="rect">
            <a:avLst/>
          </a:prstGeom>
          <a:noFill/>
          <a:ln/>
        </p:spPr>
        <p:txBody>
          <a:bodyPr wrap="square" lIns="25400" tIns="25400" rIns="25400" bIns="2540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0.8505</a:t>
            </a:r>
            <a:endParaRPr lang="en-US" sz="1000" dirty="0"/>
          </a:p>
        </p:txBody>
      </p:sp>
      <p:sp>
        <p:nvSpPr>
          <p:cNvPr id="20" name="Text 17"/>
          <p:cNvSpPr/>
          <p:nvPr/>
        </p:nvSpPr>
        <p:spPr>
          <a:xfrm>
            <a:off x="3931920" y="2077491"/>
            <a:ext cx="1828800" cy="201168"/>
          </a:xfrm>
          <a:prstGeom prst="rect">
            <a:avLst/>
          </a:prstGeom>
          <a:noFill/>
          <a:ln/>
        </p:spPr>
        <p:txBody>
          <a:bodyPr wrap="square" lIns="25400" tIns="25400" rIns="25400" bIns="2540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ML Ensemble</a:t>
            </a:r>
            <a:endParaRPr lang="en-US" sz="1000" dirty="0"/>
          </a:p>
        </p:txBody>
      </p:sp>
      <p:sp>
        <p:nvSpPr>
          <p:cNvPr id="21" name="Shape 18"/>
          <p:cNvSpPr/>
          <p:nvPr/>
        </p:nvSpPr>
        <p:spPr>
          <a:xfrm>
            <a:off x="228600" y="2287803"/>
            <a:ext cx="5486400" cy="219456"/>
          </a:xfrm>
          <a:prstGeom prst="rect">
            <a:avLst/>
          </a:prstGeom>
          <a:solidFill>
            <a:srgbClr val="FFFFFF"/>
          </a:solidFill>
          <a:ln w="12700">
            <a:solidFill>
              <a:srgbClr val="D8DDE8"/>
            </a:solidFill>
            <a:prstDash val="solid"/>
          </a:ln>
        </p:spPr>
        <p:txBody>
          <a:bodyPr/>
          <a:lstStyle/>
          <a:p>
            <a:endParaRPr lang="en-US"/>
          </a:p>
        </p:txBody>
      </p:sp>
      <p:sp>
        <p:nvSpPr>
          <p:cNvPr id="22" name="Text 19"/>
          <p:cNvSpPr/>
          <p:nvPr/>
        </p:nvSpPr>
        <p:spPr>
          <a:xfrm>
            <a:off x="274320" y="2296947"/>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Grad. Boosting</a:t>
            </a:r>
            <a:endParaRPr lang="en-US" sz="1000" dirty="0"/>
          </a:p>
        </p:txBody>
      </p:sp>
      <p:sp>
        <p:nvSpPr>
          <p:cNvPr id="23" name="Text 20"/>
          <p:cNvSpPr/>
          <p:nvPr/>
        </p:nvSpPr>
        <p:spPr>
          <a:xfrm>
            <a:off x="1645920" y="2296947"/>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0.2302</a:t>
            </a:r>
            <a:endParaRPr lang="en-US" sz="1000" dirty="0"/>
          </a:p>
        </p:txBody>
      </p:sp>
      <p:sp>
        <p:nvSpPr>
          <p:cNvPr id="24" name="Text 21"/>
          <p:cNvSpPr/>
          <p:nvPr/>
        </p:nvSpPr>
        <p:spPr>
          <a:xfrm>
            <a:off x="2423160" y="2296947"/>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0.1597</a:t>
            </a:r>
            <a:endParaRPr lang="en-US" sz="1000" dirty="0"/>
          </a:p>
        </p:txBody>
      </p:sp>
      <p:sp>
        <p:nvSpPr>
          <p:cNvPr id="25" name="Text 22"/>
          <p:cNvSpPr/>
          <p:nvPr/>
        </p:nvSpPr>
        <p:spPr>
          <a:xfrm>
            <a:off x="3154680" y="2296947"/>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0.8368</a:t>
            </a:r>
            <a:endParaRPr lang="en-US" sz="1000" dirty="0"/>
          </a:p>
        </p:txBody>
      </p:sp>
      <p:sp>
        <p:nvSpPr>
          <p:cNvPr id="26" name="Text 23"/>
          <p:cNvSpPr/>
          <p:nvPr/>
        </p:nvSpPr>
        <p:spPr>
          <a:xfrm>
            <a:off x="3931920" y="2296947"/>
            <a:ext cx="1828800"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ML Ensemble</a:t>
            </a:r>
            <a:endParaRPr lang="en-US" sz="1000" dirty="0"/>
          </a:p>
        </p:txBody>
      </p:sp>
      <p:sp>
        <p:nvSpPr>
          <p:cNvPr id="27" name="Shape 24"/>
          <p:cNvSpPr/>
          <p:nvPr/>
        </p:nvSpPr>
        <p:spPr>
          <a:xfrm>
            <a:off x="228600" y="2507259"/>
            <a:ext cx="5486400" cy="219456"/>
          </a:xfrm>
          <a:prstGeom prst="rect">
            <a:avLst/>
          </a:prstGeom>
          <a:solidFill>
            <a:srgbClr val="F4F7FC"/>
          </a:solidFill>
          <a:ln w="12700">
            <a:solidFill>
              <a:srgbClr val="D8DDE8"/>
            </a:solidFill>
            <a:prstDash val="solid"/>
          </a:ln>
        </p:spPr>
        <p:txBody>
          <a:bodyPr/>
          <a:lstStyle/>
          <a:p>
            <a:endParaRPr lang="en-US"/>
          </a:p>
        </p:txBody>
      </p:sp>
      <p:sp>
        <p:nvSpPr>
          <p:cNvPr id="28" name="Text 25"/>
          <p:cNvSpPr/>
          <p:nvPr/>
        </p:nvSpPr>
        <p:spPr>
          <a:xfrm>
            <a:off x="274320" y="2516403"/>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Random Forest</a:t>
            </a:r>
            <a:endParaRPr lang="en-US" sz="1000" dirty="0"/>
          </a:p>
        </p:txBody>
      </p:sp>
      <p:sp>
        <p:nvSpPr>
          <p:cNvPr id="29" name="Text 26"/>
          <p:cNvSpPr/>
          <p:nvPr/>
        </p:nvSpPr>
        <p:spPr>
          <a:xfrm>
            <a:off x="1645920" y="2516403"/>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0.2398</a:t>
            </a:r>
            <a:endParaRPr lang="en-US" sz="1000" dirty="0"/>
          </a:p>
        </p:txBody>
      </p:sp>
      <p:sp>
        <p:nvSpPr>
          <p:cNvPr id="30" name="Text 27"/>
          <p:cNvSpPr/>
          <p:nvPr/>
        </p:nvSpPr>
        <p:spPr>
          <a:xfrm>
            <a:off x="2423160" y="2516403"/>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0.1640</a:t>
            </a:r>
            <a:endParaRPr lang="en-US" sz="1000" dirty="0"/>
          </a:p>
        </p:txBody>
      </p:sp>
      <p:sp>
        <p:nvSpPr>
          <p:cNvPr id="31" name="Text 28"/>
          <p:cNvSpPr/>
          <p:nvPr/>
        </p:nvSpPr>
        <p:spPr>
          <a:xfrm>
            <a:off x="3154680" y="2516403"/>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0.8228</a:t>
            </a:r>
            <a:endParaRPr lang="en-US" sz="1000" dirty="0"/>
          </a:p>
        </p:txBody>
      </p:sp>
      <p:sp>
        <p:nvSpPr>
          <p:cNvPr id="32" name="Text 29"/>
          <p:cNvSpPr/>
          <p:nvPr/>
        </p:nvSpPr>
        <p:spPr>
          <a:xfrm>
            <a:off x="3931920" y="2516403"/>
            <a:ext cx="1828800"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ML Ensemble</a:t>
            </a:r>
            <a:endParaRPr lang="en-US" sz="1000" dirty="0"/>
          </a:p>
        </p:txBody>
      </p:sp>
      <p:sp>
        <p:nvSpPr>
          <p:cNvPr id="33" name="Shape 30"/>
          <p:cNvSpPr/>
          <p:nvPr/>
        </p:nvSpPr>
        <p:spPr>
          <a:xfrm>
            <a:off x="228600" y="2726715"/>
            <a:ext cx="5486400" cy="219456"/>
          </a:xfrm>
          <a:prstGeom prst="rect">
            <a:avLst/>
          </a:prstGeom>
          <a:solidFill>
            <a:srgbClr val="FFFFFF"/>
          </a:solidFill>
          <a:ln w="12700">
            <a:solidFill>
              <a:srgbClr val="D8DDE8"/>
            </a:solidFill>
            <a:prstDash val="solid"/>
          </a:ln>
        </p:spPr>
        <p:txBody>
          <a:bodyPr/>
          <a:lstStyle/>
          <a:p>
            <a:endParaRPr lang="en-US"/>
          </a:p>
        </p:txBody>
      </p:sp>
      <p:sp>
        <p:nvSpPr>
          <p:cNvPr id="34" name="Text 31"/>
          <p:cNvSpPr/>
          <p:nvPr/>
        </p:nvSpPr>
        <p:spPr>
          <a:xfrm>
            <a:off x="274320" y="2735859"/>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GAM</a:t>
            </a:r>
            <a:endParaRPr lang="en-US" sz="1000" dirty="0"/>
          </a:p>
        </p:txBody>
      </p:sp>
      <p:sp>
        <p:nvSpPr>
          <p:cNvPr id="35" name="Text 32"/>
          <p:cNvSpPr/>
          <p:nvPr/>
        </p:nvSpPr>
        <p:spPr>
          <a:xfrm>
            <a:off x="1645920" y="2735859"/>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0.2796</a:t>
            </a:r>
            <a:endParaRPr lang="en-US" sz="1000" dirty="0"/>
          </a:p>
        </p:txBody>
      </p:sp>
      <p:sp>
        <p:nvSpPr>
          <p:cNvPr id="36" name="Text 33"/>
          <p:cNvSpPr/>
          <p:nvPr/>
        </p:nvSpPr>
        <p:spPr>
          <a:xfrm>
            <a:off x="2423160" y="2735859"/>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0.2012</a:t>
            </a:r>
            <a:endParaRPr lang="en-US" sz="1000" dirty="0"/>
          </a:p>
        </p:txBody>
      </p:sp>
      <p:sp>
        <p:nvSpPr>
          <p:cNvPr id="37" name="Text 34"/>
          <p:cNvSpPr/>
          <p:nvPr/>
        </p:nvSpPr>
        <p:spPr>
          <a:xfrm>
            <a:off x="3154680" y="2735859"/>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0.7591</a:t>
            </a:r>
            <a:endParaRPr lang="en-US" sz="1000" dirty="0"/>
          </a:p>
        </p:txBody>
      </p:sp>
      <p:sp>
        <p:nvSpPr>
          <p:cNvPr id="38" name="Text 35"/>
          <p:cNvSpPr/>
          <p:nvPr/>
        </p:nvSpPr>
        <p:spPr>
          <a:xfrm>
            <a:off x="3931920" y="2735859"/>
            <a:ext cx="1828800"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GNPR</a:t>
            </a:r>
            <a:endParaRPr lang="en-US" sz="1000" dirty="0"/>
          </a:p>
        </p:txBody>
      </p:sp>
      <p:sp>
        <p:nvSpPr>
          <p:cNvPr id="39" name="Shape 36"/>
          <p:cNvSpPr/>
          <p:nvPr/>
        </p:nvSpPr>
        <p:spPr>
          <a:xfrm>
            <a:off x="228600" y="2946171"/>
            <a:ext cx="5486400" cy="219456"/>
          </a:xfrm>
          <a:prstGeom prst="rect">
            <a:avLst/>
          </a:prstGeom>
          <a:solidFill>
            <a:srgbClr val="F4F7FC"/>
          </a:solidFill>
          <a:ln w="12700">
            <a:solidFill>
              <a:srgbClr val="D8DDE8"/>
            </a:solidFill>
            <a:prstDash val="solid"/>
          </a:ln>
        </p:spPr>
        <p:txBody>
          <a:bodyPr/>
          <a:lstStyle/>
          <a:p>
            <a:endParaRPr lang="en-US"/>
          </a:p>
        </p:txBody>
      </p:sp>
      <p:sp>
        <p:nvSpPr>
          <p:cNvPr id="40" name="Text 37"/>
          <p:cNvSpPr/>
          <p:nvPr/>
        </p:nvSpPr>
        <p:spPr>
          <a:xfrm>
            <a:off x="274320" y="2955315"/>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Neural Net (MLP)</a:t>
            </a:r>
            <a:endParaRPr lang="en-US" sz="1000" dirty="0"/>
          </a:p>
        </p:txBody>
      </p:sp>
      <p:sp>
        <p:nvSpPr>
          <p:cNvPr id="41" name="Text 38"/>
          <p:cNvSpPr/>
          <p:nvPr/>
        </p:nvSpPr>
        <p:spPr>
          <a:xfrm>
            <a:off x="1645920" y="2955315"/>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0.2876</a:t>
            </a:r>
            <a:endParaRPr lang="en-US" sz="1000" dirty="0"/>
          </a:p>
        </p:txBody>
      </p:sp>
      <p:sp>
        <p:nvSpPr>
          <p:cNvPr id="42" name="Text 39"/>
          <p:cNvSpPr/>
          <p:nvPr/>
        </p:nvSpPr>
        <p:spPr>
          <a:xfrm>
            <a:off x="2423160" y="2955315"/>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0.2096</a:t>
            </a:r>
            <a:endParaRPr lang="en-US" sz="1000" dirty="0"/>
          </a:p>
        </p:txBody>
      </p:sp>
      <p:sp>
        <p:nvSpPr>
          <p:cNvPr id="43" name="Text 40"/>
          <p:cNvSpPr/>
          <p:nvPr/>
        </p:nvSpPr>
        <p:spPr>
          <a:xfrm>
            <a:off x="3154680" y="2955315"/>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0.7452</a:t>
            </a:r>
            <a:endParaRPr lang="en-US" sz="1000" dirty="0"/>
          </a:p>
        </p:txBody>
      </p:sp>
      <p:sp>
        <p:nvSpPr>
          <p:cNvPr id="44" name="Text 41"/>
          <p:cNvSpPr/>
          <p:nvPr/>
        </p:nvSpPr>
        <p:spPr>
          <a:xfrm>
            <a:off x="3931920" y="2955315"/>
            <a:ext cx="1828800"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ML Deep</a:t>
            </a:r>
            <a:endParaRPr lang="en-US" sz="1000" dirty="0"/>
          </a:p>
        </p:txBody>
      </p:sp>
      <p:sp>
        <p:nvSpPr>
          <p:cNvPr id="45" name="Shape 42"/>
          <p:cNvSpPr/>
          <p:nvPr/>
        </p:nvSpPr>
        <p:spPr>
          <a:xfrm>
            <a:off x="228600" y="3165627"/>
            <a:ext cx="5486400" cy="219456"/>
          </a:xfrm>
          <a:prstGeom prst="rect">
            <a:avLst/>
          </a:prstGeom>
          <a:solidFill>
            <a:srgbClr val="FFFFFF"/>
          </a:solidFill>
          <a:ln w="12700">
            <a:solidFill>
              <a:srgbClr val="D8DDE8"/>
            </a:solidFill>
            <a:prstDash val="solid"/>
          </a:ln>
        </p:spPr>
        <p:txBody>
          <a:bodyPr/>
          <a:lstStyle/>
          <a:p>
            <a:endParaRPr lang="en-US"/>
          </a:p>
        </p:txBody>
      </p:sp>
      <p:sp>
        <p:nvSpPr>
          <p:cNvPr id="46" name="Text 43"/>
          <p:cNvSpPr/>
          <p:nvPr/>
        </p:nvSpPr>
        <p:spPr>
          <a:xfrm>
            <a:off x="274320" y="3174771"/>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Spline Regression</a:t>
            </a:r>
            <a:endParaRPr lang="en-US" sz="1000" dirty="0"/>
          </a:p>
        </p:txBody>
      </p:sp>
      <p:sp>
        <p:nvSpPr>
          <p:cNvPr id="47" name="Text 44"/>
          <p:cNvSpPr/>
          <p:nvPr/>
        </p:nvSpPr>
        <p:spPr>
          <a:xfrm>
            <a:off x="1645920" y="3174771"/>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0.3028</a:t>
            </a:r>
            <a:endParaRPr lang="en-US" sz="1000" dirty="0"/>
          </a:p>
        </p:txBody>
      </p:sp>
      <p:sp>
        <p:nvSpPr>
          <p:cNvPr id="48" name="Text 45"/>
          <p:cNvSpPr/>
          <p:nvPr/>
        </p:nvSpPr>
        <p:spPr>
          <a:xfrm>
            <a:off x="2423160" y="3174771"/>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0.2228</a:t>
            </a:r>
            <a:endParaRPr lang="en-US" sz="1000" dirty="0"/>
          </a:p>
        </p:txBody>
      </p:sp>
      <p:sp>
        <p:nvSpPr>
          <p:cNvPr id="49" name="Text 46"/>
          <p:cNvSpPr/>
          <p:nvPr/>
        </p:nvSpPr>
        <p:spPr>
          <a:xfrm>
            <a:off x="3154680" y="3174771"/>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0.7175</a:t>
            </a:r>
            <a:endParaRPr lang="en-US" sz="1000" dirty="0"/>
          </a:p>
        </p:txBody>
      </p:sp>
      <p:sp>
        <p:nvSpPr>
          <p:cNvPr id="50" name="Text 47"/>
          <p:cNvSpPr/>
          <p:nvPr/>
        </p:nvSpPr>
        <p:spPr>
          <a:xfrm>
            <a:off x="3931920" y="3174771"/>
            <a:ext cx="1828800"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GNPR</a:t>
            </a:r>
            <a:endParaRPr lang="en-US" sz="1000" dirty="0"/>
          </a:p>
        </p:txBody>
      </p:sp>
      <p:sp>
        <p:nvSpPr>
          <p:cNvPr id="51" name="Shape 48"/>
          <p:cNvSpPr/>
          <p:nvPr/>
        </p:nvSpPr>
        <p:spPr>
          <a:xfrm>
            <a:off x="228600" y="3385083"/>
            <a:ext cx="5486400" cy="219456"/>
          </a:xfrm>
          <a:prstGeom prst="rect">
            <a:avLst/>
          </a:prstGeom>
          <a:solidFill>
            <a:srgbClr val="F4F7FC"/>
          </a:solidFill>
          <a:ln w="12700">
            <a:solidFill>
              <a:srgbClr val="D8DDE8"/>
            </a:solidFill>
            <a:prstDash val="solid"/>
          </a:ln>
        </p:spPr>
        <p:txBody>
          <a:bodyPr/>
          <a:lstStyle/>
          <a:p>
            <a:endParaRPr lang="en-US"/>
          </a:p>
        </p:txBody>
      </p:sp>
      <p:sp>
        <p:nvSpPr>
          <p:cNvPr id="52" name="Text 49"/>
          <p:cNvSpPr/>
          <p:nvPr/>
        </p:nvSpPr>
        <p:spPr>
          <a:xfrm>
            <a:off x="274320" y="3394227"/>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Ridge / OLS</a:t>
            </a:r>
            <a:endParaRPr lang="en-US" sz="1000" dirty="0"/>
          </a:p>
        </p:txBody>
      </p:sp>
      <p:sp>
        <p:nvSpPr>
          <p:cNvPr id="53" name="Text 50"/>
          <p:cNvSpPr/>
          <p:nvPr/>
        </p:nvSpPr>
        <p:spPr>
          <a:xfrm>
            <a:off x="1645920" y="3394227"/>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0.3451</a:t>
            </a:r>
            <a:endParaRPr lang="en-US" sz="1000" dirty="0"/>
          </a:p>
        </p:txBody>
      </p:sp>
      <p:sp>
        <p:nvSpPr>
          <p:cNvPr id="54" name="Text 51"/>
          <p:cNvSpPr/>
          <p:nvPr/>
        </p:nvSpPr>
        <p:spPr>
          <a:xfrm>
            <a:off x="2423160" y="3394227"/>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0.2577</a:t>
            </a:r>
            <a:endParaRPr lang="en-US" sz="1000" dirty="0"/>
          </a:p>
        </p:txBody>
      </p:sp>
      <p:sp>
        <p:nvSpPr>
          <p:cNvPr id="55" name="Text 52"/>
          <p:cNvSpPr/>
          <p:nvPr/>
        </p:nvSpPr>
        <p:spPr>
          <a:xfrm>
            <a:off x="3154680" y="3394227"/>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0.6330</a:t>
            </a:r>
            <a:endParaRPr lang="en-US" sz="1000" dirty="0"/>
          </a:p>
        </p:txBody>
      </p:sp>
      <p:sp>
        <p:nvSpPr>
          <p:cNvPr id="56" name="Text 53"/>
          <p:cNvSpPr/>
          <p:nvPr/>
        </p:nvSpPr>
        <p:spPr>
          <a:xfrm>
            <a:off x="3931920" y="3394227"/>
            <a:ext cx="1828800"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Parametric</a:t>
            </a:r>
            <a:endParaRPr lang="en-US" sz="1000" dirty="0"/>
          </a:p>
        </p:txBody>
      </p:sp>
      <p:sp>
        <p:nvSpPr>
          <p:cNvPr id="57" name="Shape 54"/>
          <p:cNvSpPr/>
          <p:nvPr/>
        </p:nvSpPr>
        <p:spPr>
          <a:xfrm>
            <a:off x="228600" y="3604539"/>
            <a:ext cx="5486400" cy="219456"/>
          </a:xfrm>
          <a:prstGeom prst="rect">
            <a:avLst/>
          </a:prstGeom>
          <a:solidFill>
            <a:srgbClr val="FFFFFF"/>
          </a:solidFill>
          <a:ln w="12700">
            <a:solidFill>
              <a:srgbClr val="D8DDE8"/>
            </a:solidFill>
            <a:prstDash val="solid"/>
          </a:ln>
        </p:spPr>
        <p:txBody>
          <a:bodyPr/>
          <a:lstStyle/>
          <a:p>
            <a:endParaRPr lang="en-US"/>
          </a:p>
        </p:txBody>
      </p:sp>
      <p:sp>
        <p:nvSpPr>
          <p:cNvPr id="58" name="Text 55"/>
          <p:cNvSpPr/>
          <p:nvPr/>
        </p:nvSpPr>
        <p:spPr>
          <a:xfrm>
            <a:off x="274320" y="3613683"/>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Lasso</a:t>
            </a:r>
            <a:endParaRPr lang="en-US" sz="1000" dirty="0"/>
          </a:p>
        </p:txBody>
      </p:sp>
      <p:sp>
        <p:nvSpPr>
          <p:cNvPr id="59" name="Text 56"/>
          <p:cNvSpPr/>
          <p:nvPr/>
        </p:nvSpPr>
        <p:spPr>
          <a:xfrm>
            <a:off x="1645920" y="3613683"/>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0.3519</a:t>
            </a:r>
            <a:endParaRPr lang="en-US" sz="1000" dirty="0"/>
          </a:p>
        </p:txBody>
      </p:sp>
      <p:sp>
        <p:nvSpPr>
          <p:cNvPr id="60" name="Text 57"/>
          <p:cNvSpPr/>
          <p:nvPr/>
        </p:nvSpPr>
        <p:spPr>
          <a:xfrm>
            <a:off x="2423160" y="3613683"/>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0.2577</a:t>
            </a:r>
            <a:endParaRPr lang="en-US" sz="1000" dirty="0"/>
          </a:p>
        </p:txBody>
      </p:sp>
      <p:sp>
        <p:nvSpPr>
          <p:cNvPr id="61" name="Text 58"/>
          <p:cNvSpPr/>
          <p:nvPr/>
        </p:nvSpPr>
        <p:spPr>
          <a:xfrm>
            <a:off x="3154680" y="3613683"/>
            <a:ext cx="1261872"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0.6185</a:t>
            </a:r>
            <a:endParaRPr lang="en-US" sz="1000" dirty="0"/>
          </a:p>
        </p:txBody>
      </p:sp>
      <p:sp>
        <p:nvSpPr>
          <p:cNvPr id="62" name="Text 59"/>
          <p:cNvSpPr/>
          <p:nvPr/>
        </p:nvSpPr>
        <p:spPr>
          <a:xfrm>
            <a:off x="3931920" y="3613683"/>
            <a:ext cx="1828800" cy="201168"/>
          </a:xfrm>
          <a:prstGeom prst="rect">
            <a:avLst/>
          </a:prstGeom>
          <a:noFill/>
          <a:ln/>
        </p:spPr>
        <p:txBody>
          <a:bodyPr wrap="square" lIns="25400" tIns="25400" rIns="25400" bIns="254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Parametric</a:t>
            </a:r>
            <a:endParaRPr lang="en-US" sz="1000" dirty="0"/>
          </a:p>
        </p:txBody>
      </p:sp>
      <p:sp>
        <p:nvSpPr>
          <p:cNvPr id="63" name="Shape 60"/>
          <p:cNvSpPr/>
          <p:nvPr/>
        </p:nvSpPr>
        <p:spPr>
          <a:xfrm>
            <a:off x="5897880" y="1261872"/>
            <a:ext cx="3017520" cy="1170432"/>
          </a:xfrm>
          <a:prstGeom prst="rect">
            <a:avLst/>
          </a:prstGeom>
          <a:solidFill>
            <a:srgbClr val="1A2456"/>
          </a:solidFill>
          <a:ln w="12700">
            <a:solidFill>
              <a:srgbClr val="1A2456"/>
            </a:solidFill>
            <a:prstDash val="solid"/>
          </a:ln>
        </p:spPr>
        <p:txBody>
          <a:bodyPr/>
          <a:lstStyle/>
          <a:p>
            <a:endParaRPr lang="en-US"/>
          </a:p>
        </p:txBody>
      </p:sp>
      <p:sp>
        <p:nvSpPr>
          <p:cNvPr id="64" name="Text 61"/>
          <p:cNvSpPr/>
          <p:nvPr/>
        </p:nvSpPr>
        <p:spPr>
          <a:xfrm>
            <a:off x="5989320" y="1335024"/>
            <a:ext cx="2834640" cy="31089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ML Ensemble</a:t>
            </a:r>
            <a:endParaRPr lang="en-US" sz="1200" dirty="0"/>
          </a:p>
        </p:txBody>
      </p:sp>
      <p:sp>
        <p:nvSpPr>
          <p:cNvPr id="65" name="Text 62"/>
          <p:cNvSpPr/>
          <p:nvPr/>
        </p:nvSpPr>
        <p:spPr>
          <a:xfrm>
            <a:off x="5989320" y="1664208"/>
            <a:ext cx="2834640" cy="256032"/>
          </a:xfrm>
          <a:prstGeom prst="rect">
            <a:avLst/>
          </a:prstGeom>
          <a:noFill/>
          <a:ln/>
        </p:spPr>
        <p:txBody>
          <a:bodyPr wrap="square" lIns="0" tIns="0" rIns="0" bIns="0" rtlCol="0" anchor="ctr"/>
          <a:lstStyle/>
          <a:p>
            <a:pPr marL="0" indent="0">
              <a:buNone/>
            </a:pPr>
            <a:r>
              <a:rPr lang="en-US" sz="1800" b="1" dirty="0">
                <a:solidFill>
                  <a:srgbClr val="C8D8F0"/>
                </a:solidFill>
                <a:latin typeface="Cambria" pitchFamily="34" charset="0"/>
                <a:ea typeface="Cambria" pitchFamily="34" charset="-122"/>
                <a:cs typeface="Cambria" pitchFamily="34" charset="-120"/>
              </a:rPr>
              <a:t>Best R² = 0.8505</a:t>
            </a:r>
            <a:endParaRPr lang="en-US" sz="1800" dirty="0"/>
          </a:p>
        </p:txBody>
      </p:sp>
      <p:sp>
        <p:nvSpPr>
          <p:cNvPr id="66" name="Text 63"/>
          <p:cNvSpPr/>
          <p:nvPr/>
        </p:nvSpPr>
        <p:spPr>
          <a:xfrm>
            <a:off x="5989320" y="1938528"/>
            <a:ext cx="2834640" cy="365760"/>
          </a:xfrm>
          <a:prstGeom prst="rect">
            <a:avLst/>
          </a:prstGeom>
          <a:noFill/>
          <a:ln/>
        </p:spPr>
        <p:txBody>
          <a:bodyPr wrap="square" lIns="0" tIns="0" rIns="0" bIns="0" rtlCol="0" anchor="ctr"/>
          <a:lstStyle/>
          <a:p>
            <a:pPr marL="0" indent="0">
              <a:buNone/>
            </a:pPr>
            <a:r>
              <a:rPr lang="en-US" sz="1000" dirty="0">
                <a:solidFill>
                  <a:srgbClr val="C8D8F0"/>
                </a:solidFill>
                <a:latin typeface="Calibri" pitchFamily="34" charset="0"/>
                <a:ea typeface="Calibri" pitchFamily="34" charset="-122"/>
                <a:cs typeface="Calibri" pitchFamily="34" charset="-120"/>
              </a:rPr>
              <a:t>Highest accuracy. Interactions discovered automatically. Best for prediction.</a:t>
            </a:r>
            <a:endParaRPr lang="en-US" sz="1000" dirty="0"/>
          </a:p>
        </p:txBody>
      </p:sp>
      <p:sp>
        <p:nvSpPr>
          <p:cNvPr id="67" name="Shape 64"/>
          <p:cNvSpPr/>
          <p:nvPr/>
        </p:nvSpPr>
        <p:spPr>
          <a:xfrm>
            <a:off x="5897880" y="2542032"/>
            <a:ext cx="3017520" cy="1170432"/>
          </a:xfrm>
          <a:prstGeom prst="rect">
            <a:avLst/>
          </a:prstGeom>
          <a:solidFill>
            <a:srgbClr val="2C4B8A"/>
          </a:solidFill>
          <a:ln w="12700">
            <a:solidFill>
              <a:srgbClr val="2C4B8A"/>
            </a:solidFill>
            <a:prstDash val="solid"/>
          </a:ln>
        </p:spPr>
        <p:txBody>
          <a:bodyPr/>
          <a:lstStyle/>
          <a:p>
            <a:endParaRPr lang="en-US"/>
          </a:p>
        </p:txBody>
      </p:sp>
      <p:sp>
        <p:nvSpPr>
          <p:cNvPr id="68" name="Text 65"/>
          <p:cNvSpPr/>
          <p:nvPr/>
        </p:nvSpPr>
        <p:spPr>
          <a:xfrm>
            <a:off x="5989320" y="2615184"/>
            <a:ext cx="2834640" cy="31089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GNPR (GAM / Splines)</a:t>
            </a:r>
            <a:endParaRPr lang="en-US" sz="1200" dirty="0"/>
          </a:p>
        </p:txBody>
      </p:sp>
      <p:sp>
        <p:nvSpPr>
          <p:cNvPr id="69" name="Text 66"/>
          <p:cNvSpPr/>
          <p:nvPr/>
        </p:nvSpPr>
        <p:spPr>
          <a:xfrm>
            <a:off x="5989320" y="2944368"/>
            <a:ext cx="2834640" cy="25603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Best R² = 0.7591</a:t>
            </a:r>
            <a:endParaRPr lang="en-US" sz="1800" dirty="0"/>
          </a:p>
        </p:txBody>
      </p:sp>
      <p:sp>
        <p:nvSpPr>
          <p:cNvPr id="70" name="Text 67"/>
          <p:cNvSpPr/>
          <p:nvPr/>
        </p:nvSpPr>
        <p:spPr>
          <a:xfrm>
            <a:off x="5989320" y="3218688"/>
            <a:ext cx="2834640" cy="365760"/>
          </a:xfrm>
          <a:prstGeom prst="rect">
            <a:avLst/>
          </a:prstGeom>
          <a:noFill/>
          <a:ln/>
        </p:spPr>
        <p:txBody>
          <a:bodyPr wrap="square" lIns="0" tIns="0" rIns="0" bIns="0" rtlCol="0" anchor="ctr"/>
          <a:lstStyle/>
          <a:p>
            <a:pPr marL="0" indent="0">
              <a:buNone/>
            </a:pPr>
            <a:r>
              <a:rPr lang="en-US" sz="1000" dirty="0">
                <a:solidFill>
                  <a:srgbClr val="C8D8F0"/>
                </a:solidFill>
                <a:latin typeface="Calibri" pitchFamily="34" charset="0"/>
                <a:ea typeface="Calibri" pitchFamily="34" charset="-122"/>
                <a:cs typeface="Calibri" pitchFamily="34" charset="-120"/>
              </a:rPr>
              <a:t>Interpretable shapes. Partial dependence reveals structure. Best trade-off.</a:t>
            </a:r>
            <a:endParaRPr lang="en-US" sz="1000" dirty="0"/>
          </a:p>
        </p:txBody>
      </p:sp>
      <p:sp>
        <p:nvSpPr>
          <p:cNvPr id="71" name="Shape 68"/>
          <p:cNvSpPr/>
          <p:nvPr/>
        </p:nvSpPr>
        <p:spPr>
          <a:xfrm>
            <a:off x="5897880" y="3822192"/>
            <a:ext cx="3017520" cy="1170432"/>
          </a:xfrm>
          <a:prstGeom prst="rect">
            <a:avLst/>
          </a:prstGeom>
          <a:solidFill>
            <a:srgbClr val="F4F7FC"/>
          </a:solidFill>
          <a:ln w="12700">
            <a:solidFill>
              <a:srgbClr val="F4F7FC"/>
            </a:solidFill>
            <a:prstDash val="solid"/>
          </a:ln>
        </p:spPr>
        <p:txBody>
          <a:bodyPr/>
          <a:lstStyle/>
          <a:p>
            <a:endParaRPr lang="en-US"/>
          </a:p>
        </p:txBody>
      </p:sp>
      <p:sp>
        <p:nvSpPr>
          <p:cNvPr id="72" name="Text 69"/>
          <p:cNvSpPr/>
          <p:nvPr/>
        </p:nvSpPr>
        <p:spPr>
          <a:xfrm>
            <a:off x="5989320" y="3895344"/>
            <a:ext cx="2834640" cy="310896"/>
          </a:xfrm>
          <a:prstGeom prst="rect">
            <a:avLst/>
          </a:prstGeom>
          <a:noFill/>
          <a:ln/>
        </p:spPr>
        <p:txBody>
          <a:bodyPr wrap="square" lIns="0" tIns="0" rIns="0" bIns="0" rtlCol="0" anchor="ctr"/>
          <a:lstStyle/>
          <a:p>
            <a:pPr marL="0" indent="0">
              <a:buNone/>
            </a:pPr>
            <a:r>
              <a:rPr lang="en-US" sz="1200" b="1" dirty="0">
                <a:solidFill>
                  <a:srgbClr val="1A2456"/>
                </a:solidFill>
                <a:latin typeface="Cambria" pitchFamily="34" charset="0"/>
                <a:ea typeface="Cambria" pitchFamily="34" charset="-122"/>
                <a:cs typeface="Cambria" pitchFamily="34" charset="-120"/>
              </a:rPr>
              <a:t>Parametric (OLS etc.)</a:t>
            </a:r>
            <a:endParaRPr lang="en-US" sz="1200" dirty="0"/>
          </a:p>
        </p:txBody>
      </p:sp>
      <p:sp>
        <p:nvSpPr>
          <p:cNvPr id="73" name="Text 70"/>
          <p:cNvSpPr/>
          <p:nvPr/>
        </p:nvSpPr>
        <p:spPr>
          <a:xfrm>
            <a:off x="5989320" y="4224528"/>
            <a:ext cx="2834640" cy="256032"/>
          </a:xfrm>
          <a:prstGeom prst="rect">
            <a:avLst/>
          </a:prstGeom>
          <a:noFill/>
          <a:ln/>
        </p:spPr>
        <p:txBody>
          <a:bodyPr wrap="square" lIns="0" tIns="0" rIns="0" bIns="0" rtlCol="0" anchor="ctr"/>
          <a:lstStyle/>
          <a:p>
            <a:pPr marL="0" indent="0">
              <a:buNone/>
            </a:pPr>
            <a:r>
              <a:rPr lang="en-US" sz="1800" b="1" dirty="0">
                <a:solidFill>
                  <a:srgbClr val="1A2456"/>
                </a:solidFill>
                <a:latin typeface="Cambria" pitchFamily="34" charset="0"/>
                <a:ea typeface="Cambria" pitchFamily="34" charset="-122"/>
                <a:cs typeface="Cambria" pitchFamily="34" charset="-120"/>
              </a:rPr>
              <a:t>Best R² = 0.6330</a:t>
            </a:r>
            <a:endParaRPr lang="en-US" sz="1800" dirty="0"/>
          </a:p>
        </p:txBody>
      </p:sp>
      <p:sp>
        <p:nvSpPr>
          <p:cNvPr id="74" name="Text 71"/>
          <p:cNvSpPr/>
          <p:nvPr/>
        </p:nvSpPr>
        <p:spPr>
          <a:xfrm>
            <a:off x="5989320" y="4498848"/>
            <a:ext cx="2834640" cy="365760"/>
          </a:xfrm>
          <a:prstGeom prst="rect">
            <a:avLst/>
          </a:prstGeom>
          <a:noFill/>
          <a:ln/>
        </p:spPr>
        <p:txBody>
          <a:bodyPr wrap="square" lIns="0" tIns="0" rIns="0" bIns="0" rtlCol="0" anchor="ctr"/>
          <a:lstStyle/>
          <a:p>
            <a:pPr marL="0" indent="0">
              <a:buNone/>
            </a:pPr>
            <a:r>
              <a:rPr lang="en-US" sz="1000" dirty="0">
                <a:solidFill>
                  <a:srgbClr val="7F8FA4"/>
                </a:solidFill>
                <a:latin typeface="Calibri" pitchFamily="34" charset="0"/>
                <a:ea typeface="Calibri" pitchFamily="34" charset="-122"/>
                <a:cs typeface="Calibri" pitchFamily="34" charset="-120"/>
              </a:rPr>
              <a:t>Legible coefficients. Inferential and policy use. Bounded by linearity.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411480" y="73152"/>
            <a:ext cx="832104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Competition: GNPR vs. Parametric vs. Machine Learning</a:t>
            </a:r>
            <a:endParaRPr lang="en-US" sz="2600" dirty="0"/>
          </a:p>
        </p:txBody>
      </p:sp>
      <p:sp>
        <p:nvSpPr>
          <p:cNvPr id="4" name="Text 2"/>
          <p:cNvSpPr/>
          <p:nvPr/>
        </p:nvSpPr>
        <p:spPr>
          <a:xfrm>
            <a:off x="411480" y="1005840"/>
            <a:ext cx="8321040" cy="365760"/>
          </a:xfrm>
          <a:prstGeom prst="rect">
            <a:avLst/>
          </a:prstGeom>
          <a:noFill/>
          <a:ln/>
        </p:spPr>
        <p:txBody>
          <a:bodyPr wrap="square" lIns="0" tIns="0" rIns="0" bIns="0" rtlCol="0" anchor="ctr"/>
          <a:lstStyle/>
          <a:p>
            <a:pPr marL="0" indent="0">
              <a:buNone/>
            </a:pPr>
            <a:r>
              <a:rPr lang="en-US" sz="1200" i="1" dirty="0">
                <a:solidFill>
                  <a:srgbClr val="8899AA"/>
                </a:solidFill>
                <a:latin typeface="Calibri" pitchFamily="34" charset="0"/>
                <a:ea typeface="Calibri" pitchFamily="34" charset="-122"/>
                <a:cs typeface="Calibri" pitchFamily="34" charset="-120"/>
              </a:rPr>
              <a:t>Research Question 3: answered.</a:t>
            </a:r>
            <a:endParaRPr lang="en-US" sz="1200" dirty="0"/>
          </a:p>
        </p:txBody>
      </p:sp>
      <p:graphicFrame>
        <p:nvGraphicFramePr>
          <p:cNvPr id="5" name="Chart 0"/>
          <p:cNvGraphicFramePr/>
          <p:nvPr/>
        </p:nvGraphicFramePr>
        <p:xfrm>
          <a:off x="365760" y="1417320"/>
          <a:ext cx="53035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852160" y="1417320"/>
            <a:ext cx="2926080" cy="3383280"/>
          </a:xfrm>
          <a:prstGeom prst="rect">
            <a:avLst/>
          </a:prstGeom>
          <a:solidFill>
            <a:srgbClr val="F8FAFD"/>
          </a:solidFill>
          <a:ln w="12700">
            <a:solidFill>
              <a:srgbClr val="D8DDE8"/>
            </a:solidFill>
            <a:prstDash val="solid"/>
          </a:ln>
        </p:spPr>
        <p:txBody>
          <a:bodyPr/>
          <a:lstStyle/>
          <a:p>
            <a:endParaRPr lang="en-US"/>
          </a:p>
        </p:txBody>
      </p:sp>
      <p:sp>
        <p:nvSpPr>
          <p:cNvPr id="7" name="Text 4"/>
          <p:cNvSpPr/>
          <p:nvPr/>
        </p:nvSpPr>
        <p:spPr>
          <a:xfrm>
            <a:off x="5989320" y="1508760"/>
            <a:ext cx="2651760" cy="347472"/>
          </a:xfrm>
          <a:prstGeom prst="rect">
            <a:avLst/>
          </a:prstGeom>
          <a:noFill/>
          <a:ln/>
        </p:spPr>
        <p:txBody>
          <a:bodyPr wrap="square" lIns="0" tIns="0" rIns="0" bIns="0" rtlCol="0" anchor="ctr"/>
          <a:lstStyle/>
          <a:p>
            <a:pPr marL="0" indent="0">
              <a:buNone/>
            </a:pPr>
            <a:r>
              <a:rPr lang="en-US" sz="1200" b="1" dirty="0">
                <a:solidFill>
                  <a:srgbClr val="1E2761"/>
                </a:solidFill>
                <a:latin typeface="Cambria" pitchFamily="34" charset="0"/>
                <a:ea typeface="Cambria" pitchFamily="34" charset="-122"/>
                <a:cs typeface="Cambria" pitchFamily="34" charset="-120"/>
              </a:rPr>
              <a:t>Model Families</a:t>
            </a:r>
            <a:endParaRPr lang="en-US" sz="1200" dirty="0"/>
          </a:p>
        </p:txBody>
      </p:sp>
      <p:sp>
        <p:nvSpPr>
          <p:cNvPr id="8" name="Shape 5"/>
          <p:cNvSpPr/>
          <p:nvPr/>
        </p:nvSpPr>
        <p:spPr>
          <a:xfrm>
            <a:off x="6035040" y="2029968"/>
            <a:ext cx="201168" cy="182880"/>
          </a:xfrm>
          <a:prstGeom prst="rect">
            <a:avLst/>
          </a:prstGeom>
          <a:solidFill>
            <a:srgbClr val="D7191C"/>
          </a:solidFill>
          <a:ln w="12700">
            <a:solidFill>
              <a:srgbClr val="D7191C"/>
            </a:solidFill>
            <a:prstDash val="solid"/>
          </a:ln>
        </p:spPr>
        <p:txBody>
          <a:bodyPr/>
          <a:lstStyle/>
          <a:p>
            <a:endParaRPr lang="en-US"/>
          </a:p>
        </p:txBody>
      </p:sp>
      <p:sp>
        <p:nvSpPr>
          <p:cNvPr id="9" name="Text 6"/>
          <p:cNvSpPr/>
          <p:nvPr/>
        </p:nvSpPr>
        <p:spPr>
          <a:xfrm>
            <a:off x="6309360" y="2011680"/>
            <a:ext cx="2377440" cy="256032"/>
          </a:xfrm>
          <a:prstGeom prst="rect">
            <a:avLst/>
          </a:prstGeom>
          <a:noFill/>
          <a:ln/>
        </p:spPr>
        <p:txBody>
          <a:bodyPr wrap="square" lIns="0" tIns="0" rIns="0" bIns="0" rtlCol="0" anchor="ctr"/>
          <a:lstStyle/>
          <a:p>
            <a:pPr marL="0" indent="0">
              <a:buNone/>
            </a:pPr>
            <a:r>
              <a:rPr lang="en-US" sz="1050" dirty="0">
                <a:solidFill>
                  <a:srgbClr val="111827"/>
                </a:solidFill>
                <a:latin typeface="Calibri" pitchFamily="34" charset="0"/>
                <a:ea typeface="Calibri" pitchFamily="34" charset="-122"/>
                <a:cs typeface="Calibri" pitchFamily="34" charset="-120"/>
              </a:rPr>
              <a:t>Parametric</a:t>
            </a:r>
            <a:endParaRPr lang="en-US" sz="1050" dirty="0"/>
          </a:p>
        </p:txBody>
      </p:sp>
      <p:sp>
        <p:nvSpPr>
          <p:cNvPr id="10" name="Shape 7"/>
          <p:cNvSpPr/>
          <p:nvPr/>
        </p:nvSpPr>
        <p:spPr>
          <a:xfrm>
            <a:off x="6035040" y="2377440"/>
            <a:ext cx="201168" cy="182880"/>
          </a:xfrm>
          <a:prstGeom prst="rect">
            <a:avLst/>
          </a:prstGeom>
          <a:solidFill>
            <a:srgbClr val="FDAE61"/>
          </a:solidFill>
          <a:ln w="12700">
            <a:solidFill>
              <a:srgbClr val="FDAE61"/>
            </a:solidFill>
            <a:prstDash val="solid"/>
          </a:ln>
        </p:spPr>
        <p:txBody>
          <a:bodyPr/>
          <a:lstStyle/>
          <a:p>
            <a:endParaRPr lang="en-US"/>
          </a:p>
        </p:txBody>
      </p:sp>
      <p:sp>
        <p:nvSpPr>
          <p:cNvPr id="11" name="Text 8"/>
          <p:cNvSpPr/>
          <p:nvPr/>
        </p:nvSpPr>
        <p:spPr>
          <a:xfrm>
            <a:off x="6309360" y="2359152"/>
            <a:ext cx="2377440" cy="256032"/>
          </a:xfrm>
          <a:prstGeom prst="rect">
            <a:avLst/>
          </a:prstGeom>
          <a:noFill/>
          <a:ln/>
        </p:spPr>
        <p:txBody>
          <a:bodyPr wrap="square" lIns="0" tIns="0" rIns="0" bIns="0" rtlCol="0" anchor="ctr"/>
          <a:lstStyle/>
          <a:p>
            <a:pPr marL="0" indent="0">
              <a:buNone/>
            </a:pPr>
            <a:r>
              <a:rPr lang="en-US" sz="1050" dirty="0">
                <a:solidFill>
                  <a:srgbClr val="111827"/>
                </a:solidFill>
                <a:latin typeface="Calibri" pitchFamily="34" charset="0"/>
                <a:ea typeface="Calibri" pitchFamily="34" charset="-122"/>
                <a:cs typeface="Calibri" pitchFamily="34" charset="-120"/>
              </a:rPr>
              <a:t>GNPR</a:t>
            </a:r>
            <a:endParaRPr lang="en-US" sz="1050" dirty="0"/>
          </a:p>
        </p:txBody>
      </p:sp>
      <p:sp>
        <p:nvSpPr>
          <p:cNvPr id="12" name="Shape 9"/>
          <p:cNvSpPr/>
          <p:nvPr/>
        </p:nvSpPr>
        <p:spPr>
          <a:xfrm>
            <a:off x="6035040" y="2724912"/>
            <a:ext cx="201168" cy="182880"/>
          </a:xfrm>
          <a:prstGeom prst="rect">
            <a:avLst/>
          </a:prstGeom>
          <a:solidFill>
            <a:srgbClr val="2C7BB6"/>
          </a:solidFill>
          <a:ln w="12700">
            <a:solidFill>
              <a:srgbClr val="2C7BB6"/>
            </a:solidFill>
            <a:prstDash val="solid"/>
          </a:ln>
        </p:spPr>
        <p:txBody>
          <a:bodyPr/>
          <a:lstStyle/>
          <a:p>
            <a:endParaRPr lang="en-US"/>
          </a:p>
        </p:txBody>
      </p:sp>
      <p:sp>
        <p:nvSpPr>
          <p:cNvPr id="13" name="Text 10"/>
          <p:cNvSpPr/>
          <p:nvPr/>
        </p:nvSpPr>
        <p:spPr>
          <a:xfrm>
            <a:off x="6309360" y="2706624"/>
            <a:ext cx="2377440" cy="256032"/>
          </a:xfrm>
          <a:prstGeom prst="rect">
            <a:avLst/>
          </a:prstGeom>
          <a:noFill/>
          <a:ln/>
        </p:spPr>
        <p:txBody>
          <a:bodyPr wrap="square" lIns="0" tIns="0" rIns="0" bIns="0" rtlCol="0" anchor="ctr"/>
          <a:lstStyle/>
          <a:p>
            <a:pPr marL="0" indent="0">
              <a:buNone/>
            </a:pPr>
            <a:r>
              <a:rPr lang="en-US" sz="1050" dirty="0">
                <a:solidFill>
                  <a:srgbClr val="111827"/>
                </a:solidFill>
                <a:latin typeface="Calibri" pitchFamily="34" charset="0"/>
                <a:ea typeface="Calibri" pitchFamily="34" charset="-122"/>
                <a:cs typeface="Calibri" pitchFamily="34" charset="-120"/>
              </a:rPr>
              <a:t>ML Ensemble</a:t>
            </a:r>
            <a:endParaRPr lang="en-US" sz="1050" dirty="0"/>
          </a:p>
        </p:txBody>
      </p:sp>
      <p:sp>
        <p:nvSpPr>
          <p:cNvPr id="14" name="Shape 11"/>
          <p:cNvSpPr/>
          <p:nvPr/>
        </p:nvSpPr>
        <p:spPr>
          <a:xfrm>
            <a:off x="6035040" y="3072384"/>
            <a:ext cx="201168" cy="182880"/>
          </a:xfrm>
          <a:prstGeom prst="rect">
            <a:avLst/>
          </a:prstGeom>
          <a:solidFill>
            <a:srgbClr val="1A9641"/>
          </a:solidFill>
          <a:ln w="12700">
            <a:solidFill>
              <a:srgbClr val="1A9641"/>
            </a:solidFill>
            <a:prstDash val="solid"/>
          </a:ln>
        </p:spPr>
        <p:txBody>
          <a:bodyPr/>
          <a:lstStyle/>
          <a:p>
            <a:endParaRPr lang="en-US"/>
          </a:p>
        </p:txBody>
      </p:sp>
      <p:sp>
        <p:nvSpPr>
          <p:cNvPr id="15" name="Text 12"/>
          <p:cNvSpPr/>
          <p:nvPr/>
        </p:nvSpPr>
        <p:spPr>
          <a:xfrm>
            <a:off x="6309360" y="3054096"/>
            <a:ext cx="2377440" cy="256032"/>
          </a:xfrm>
          <a:prstGeom prst="rect">
            <a:avLst/>
          </a:prstGeom>
          <a:noFill/>
          <a:ln/>
        </p:spPr>
        <p:txBody>
          <a:bodyPr wrap="square" lIns="0" tIns="0" rIns="0" bIns="0" rtlCol="0" anchor="ctr"/>
          <a:lstStyle/>
          <a:p>
            <a:pPr marL="0" indent="0">
              <a:buNone/>
            </a:pPr>
            <a:r>
              <a:rPr lang="en-US" sz="1050" dirty="0">
                <a:solidFill>
                  <a:srgbClr val="111827"/>
                </a:solidFill>
                <a:latin typeface="Calibri" pitchFamily="34" charset="0"/>
                <a:ea typeface="Calibri" pitchFamily="34" charset="-122"/>
                <a:cs typeface="Calibri" pitchFamily="34" charset="-120"/>
              </a:rPr>
              <a:t>ML Deep</a:t>
            </a:r>
            <a:endParaRPr lang="en-US" sz="1050" dirty="0"/>
          </a:p>
        </p:txBody>
      </p:sp>
      <p:sp>
        <p:nvSpPr>
          <p:cNvPr id="16" name="Text 13"/>
          <p:cNvSpPr/>
          <p:nvPr/>
        </p:nvSpPr>
        <p:spPr>
          <a:xfrm>
            <a:off x="5989320" y="3520440"/>
            <a:ext cx="2788920" cy="1325880"/>
          </a:xfrm>
          <a:prstGeom prst="rect">
            <a:avLst/>
          </a:prstGeom>
          <a:noFill/>
          <a:ln/>
        </p:spPr>
        <p:txBody>
          <a:bodyPr wrap="square" lIns="0" tIns="0" rIns="0" bIns="0" rtlCol="0" anchor="t"/>
          <a:lstStyle/>
          <a:p>
            <a:pPr marL="0" indent="0">
              <a:buNone/>
            </a:pPr>
            <a:r>
              <a:rPr lang="en-US" sz="1050" dirty="0">
                <a:solidFill>
                  <a:srgbClr val="111827"/>
                </a:solidFill>
                <a:latin typeface="Calibri" pitchFamily="34" charset="0"/>
                <a:ea typeface="Calibri" pitchFamily="34" charset="-122"/>
                <a:cs typeface="Calibri" pitchFamily="34" charset="-120"/>
              </a:rPr>
              <a:t>The hierarchy is clear.</a:t>
            </a:r>
            <a:endParaRPr lang="en-US" sz="1050" dirty="0"/>
          </a:p>
          <a:p>
            <a:pPr marL="0" indent="0">
              <a:buNone/>
            </a:pPr>
            <a:endParaRPr lang="en-US" sz="1050" dirty="0"/>
          </a:p>
          <a:p>
            <a:pPr marL="0" indent="0">
              <a:buNone/>
            </a:pPr>
            <a:r>
              <a:rPr lang="en-US" sz="1050" dirty="0">
                <a:solidFill>
                  <a:srgbClr val="111827"/>
                </a:solidFill>
                <a:latin typeface="Calibri" pitchFamily="34" charset="0"/>
                <a:ea typeface="Calibri" pitchFamily="34" charset="-122"/>
                <a:cs typeface="Calibri" pitchFamily="34" charset="-120"/>
              </a:rPr>
              <a:t>ML ensembles lead on accuracy. GNPR models lead on accuracy-interpretability balance. Parametric models lead for inference.</a:t>
            </a:r>
            <a:endParaRPr lang="en-US" sz="1050" dirty="0"/>
          </a:p>
          <a:p>
            <a:pPr marL="0" indent="0">
              <a:buNone/>
            </a:pPr>
            <a:endParaRPr lang="en-US" sz="1050" dirty="0"/>
          </a:p>
          <a:p>
            <a:pPr marL="0" indent="0">
              <a:buNone/>
            </a:pPr>
            <a:r>
              <a:rPr lang="en-US" sz="1050" dirty="0">
                <a:solidFill>
                  <a:srgbClr val="111827"/>
                </a:solidFill>
                <a:latin typeface="Calibri" pitchFamily="34" charset="0"/>
                <a:ea typeface="Calibri" pitchFamily="34" charset="-122"/>
                <a:cs typeface="Calibri" pitchFamily="34" charset="-120"/>
              </a:rPr>
              <a:t>The choice of model is a choice about purpose.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4008" cy="5148072"/>
          </a:xfrm>
          <a:prstGeom prst="rect">
            <a:avLst/>
          </a:prstGeom>
          <a:solidFill>
            <a:srgbClr val="C0392B"/>
          </a:solidFill>
          <a:ln w="12700">
            <a:solidFill>
              <a:srgbClr val="C0392B"/>
            </a:solidFill>
            <a:prstDash val="solid"/>
          </a:ln>
        </p:spPr>
        <p:txBody>
          <a:bodyPr/>
          <a:lstStyle/>
          <a:p>
            <a:endParaRPr lang="en-US"/>
          </a:p>
        </p:txBody>
      </p:sp>
      <p:sp>
        <p:nvSpPr>
          <p:cNvPr id="3" name="Text 1"/>
          <p:cNvSpPr/>
          <p:nvPr/>
        </p:nvSpPr>
        <p:spPr>
          <a:xfrm>
            <a:off x="228600" y="164592"/>
            <a:ext cx="8503920" cy="621792"/>
          </a:xfrm>
          <a:prstGeom prst="rect">
            <a:avLst/>
          </a:prstGeom>
          <a:noFill/>
          <a:ln/>
        </p:spPr>
        <p:txBody>
          <a:bodyPr wrap="square" lIns="0" tIns="0" rIns="0" bIns="0" rtlCol="0" anchor="ctr"/>
          <a:lstStyle/>
          <a:p>
            <a:pPr marL="0" indent="0">
              <a:buNone/>
            </a:pPr>
            <a:r>
              <a:rPr lang="en-US" sz="2800" b="1" dirty="0">
                <a:solidFill>
                  <a:srgbClr val="1A2456"/>
                </a:solidFill>
                <a:latin typeface="Cambria" pitchFamily="34" charset="0"/>
                <a:ea typeface="Cambria" pitchFamily="34" charset="-122"/>
                <a:cs typeface="Cambria" pitchFamily="34" charset="-120"/>
              </a:rPr>
              <a:t>Stability and Spatial Diagnostics</a:t>
            </a:r>
            <a:endParaRPr lang="en-US" sz="2800" dirty="0"/>
          </a:p>
        </p:txBody>
      </p:sp>
      <p:sp>
        <p:nvSpPr>
          <p:cNvPr id="4" name="Text 2"/>
          <p:cNvSpPr/>
          <p:nvPr/>
        </p:nvSpPr>
        <p:spPr>
          <a:xfrm>
            <a:off x="228600" y="804672"/>
            <a:ext cx="8503920" cy="292608"/>
          </a:xfrm>
          <a:prstGeom prst="rect">
            <a:avLst/>
          </a:prstGeom>
          <a:noFill/>
          <a:ln/>
        </p:spPr>
        <p:txBody>
          <a:bodyPr wrap="square" lIns="0" tIns="0" rIns="0" bIns="0" rtlCol="0" anchor="ctr"/>
          <a:lstStyle/>
          <a:p>
            <a:pPr marL="0" indent="0">
              <a:buNone/>
            </a:pPr>
            <a:r>
              <a:rPr lang="en-US" sz="1150" i="1" dirty="0">
                <a:solidFill>
                  <a:srgbClr val="7F8FA4"/>
                </a:solidFill>
                <a:latin typeface="Calibri" pitchFamily="34" charset="0"/>
                <a:ea typeface="Calibri" pitchFamily="34" charset="-122"/>
                <a:cs typeface="Calibri" pitchFamily="34" charset="-120"/>
              </a:rPr>
              <a:t>5-fold cross-validation and residual geography</a:t>
            </a:r>
            <a:endParaRPr lang="en-US" sz="1150" dirty="0"/>
          </a:p>
        </p:txBody>
      </p:sp>
      <p:sp>
        <p:nvSpPr>
          <p:cNvPr id="5" name="Shape 3"/>
          <p:cNvSpPr/>
          <p:nvPr/>
        </p:nvSpPr>
        <p:spPr>
          <a:xfrm>
            <a:off x="228600" y="1115568"/>
            <a:ext cx="8686800" cy="22860"/>
          </a:xfrm>
          <a:prstGeom prst="rect">
            <a:avLst/>
          </a:prstGeom>
          <a:solidFill>
            <a:srgbClr val="C8D8F0"/>
          </a:solidFill>
          <a:ln w="12700">
            <a:solidFill>
              <a:srgbClr val="C8D8F0"/>
            </a:solidFill>
            <a:prstDash val="solid"/>
          </a:ln>
        </p:spPr>
        <p:txBody>
          <a:bodyPr/>
          <a:lstStyle/>
          <a:p>
            <a:endParaRPr lang="en-US"/>
          </a:p>
        </p:txBody>
      </p:sp>
      <p:sp>
        <p:nvSpPr>
          <p:cNvPr id="6" name="Shape 4"/>
          <p:cNvSpPr/>
          <p:nvPr/>
        </p:nvSpPr>
        <p:spPr>
          <a:xfrm>
            <a:off x="228600" y="1207008"/>
            <a:ext cx="4343400" cy="256032"/>
          </a:xfrm>
          <a:prstGeom prst="rect">
            <a:avLst/>
          </a:prstGeom>
          <a:solidFill>
            <a:srgbClr val="1A2456"/>
          </a:solidFill>
          <a:ln w="12700">
            <a:solidFill>
              <a:srgbClr val="1A2456"/>
            </a:solidFill>
            <a:prstDash val="solid"/>
          </a:ln>
        </p:spPr>
        <p:txBody>
          <a:bodyPr/>
          <a:lstStyle/>
          <a:p>
            <a:endParaRPr lang="en-US"/>
          </a:p>
        </p:txBody>
      </p:sp>
      <p:sp>
        <p:nvSpPr>
          <p:cNvPr id="7" name="Text 5"/>
          <p:cNvSpPr/>
          <p:nvPr/>
        </p:nvSpPr>
        <p:spPr>
          <a:xfrm>
            <a:off x="256032" y="1216152"/>
            <a:ext cx="4297680" cy="219456"/>
          </a:xfrm>
          <a:prstGeom prst="rect">
            <a:avLst/>
          </a:prstGeom>
          <a:noFill/>
          <a:ln/>
        </p:spPr>
        <p:txBody>
          <a:bodyPr wrap="square" lIns="25400" tIns="25400" rIns="25400" bIns="254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Fig 13  |  5-Fold Cross-Validation R² Scores</a:t>
            </a:r>
            <a:endParaRPr lang="en-US" sz="950" dirty="0"/>
          </a:p>
        </p:txBody>
      </p:sp>
      <p:pic>
        <p:nvPicPr>
          <p:cNvPr id="8" name="Image 0" descr="preencoded.png"/>
          <p:cNvPicPr>
            <a:picLocks noChangeAspect="1"/>
          </p:cNvPicPr>
          <p:nvPr/>
        </p:nvPicPr>
        <p:blipFill>
          <a:blip r:embed="rId3"/>
          <a:stretch>
            <a:fillRect/>
          </a:stretch>
        </p:blipFill>
        <p:spPr>
          <a:xfrm>
            <a:off x="228600" y="1463040"/>
            <a:ext cx="4343400" cy="2154803"/>
          </a:xfrm>
          <a:prstGeom prst="rect">
            <a:avLst/>
          </a:prstGeom>
        </p:spPr>
      </p:pic>
      <p:sp>
        <p:nvSpPr>
          <p:cNvPr id="9" name="Shape 6"/>
          <p:cNvSpPr/>
          <p:nvPr/>
        </p:nvSpPr>
        <p:spPr>
          <a:xfrm>
            <a:off x="228600" y="3789460"/>
            <a:ext cx="4343400" cy="256032"/>
          </a:xfrm>
          <a:prstGeom prst="rect">
            <a:avLst/>
          </a:prstGeom>
          <a:solidFill>
            <a:srgbClr val="2C4B8A"/>
          </a:solidFill>
          <a:ln w="12700">
            <a:solidFill>
              <a:srgbClr val="2C4B8A"/>
            </a:solidFill>
            <a:prstDash val="solid"/>
          </a:ln>
        </p:spPr>
        <p:txBody>
          <a:bodyPr/>
          <a:lstStyle/>
          <a:p>
            <a:endParaRPr lang="en-US"/>
          </a:p>
        </p:txBody>
      </p:sp>
      <p:sp>
        <p:nvSpPr>
          <p:cNvPr id="10" name="Text 7"/>
          <p:cNvSpPr/>
          <p:nvPr/>
        </p:nvSpPr>
        <p:spPr>
          <a:xfrm>
            <a:off x="274320" y="3807748"/>
            <a:ext cx="1645920"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p>
        </p:txBody>
      </p:sp>
      <p:sp>
        <p:nvSpPr>
          <p:cNvPr id="11" name="Text 8"/>
          <p:cNvSpPr/>
          <p:nvPr/>
        </p:nvSpPr>
        <p:spPr>
          <a:xfrm>
            <a:off x="2011680" y="3807748"/>
            <a:ext cx="1645920"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CV R²</a:t>
            </a:r>
            <a:endParaRPr lang="en-US" sz="1000" dirty="0"/>
          </a:p>
        </p:txBody>
      </p:sp>
      <p:sp>
        <p:nvSpPr>
          <p:cNvPr id="12" name="Text 9"/>
          <p:cNvSpPr/>
          <p:nvPr/>
        </p:nvSpPr>
        <p:spPr>
          <a:xfrm>
            <a:off x="3200400" y="4178808"/>
            <a:ext cx="1645920"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Std Dev</a:t>
            </a:r>
            <a:endParaRPr lang="en-US" sz="1000" dirty="0"/>
          </a:p>
        </p:txBody>
      </p:sp>
      <p:sp>
        <p:nvSpPr>
          <p:cNvPr id="13" name="Shape 10"/>
          <p:cNvSpPr/>
          <p:nvPr/>
        </p:nvSpPr>
        <p:spPr>
          <a:xfrm>
            <a:off x="228600" y="4045492"/>
            <a:ext cx="4343400" cy="201168"/>
          </a:xfrm>
          <a:prstGeom prst="rect">
            <a:avLst/>
          </a:prstGeom>
          <a:solidFill>
            <a:srgbClr val="F4F7FC"/>
          </a:solidFill>
          <a:ln w="12700">
            <a:solidFill>
              <a:srgbClr val="D8DDE8"/>
            </a:solidFill>
            <a:prstDash val="solid"/>
          </a:ln>
        </p:spPr>
        <p:txBody>
          <a:bodyPr/>
          <a:lstStyle/>
          <a:p>
            <a:endParaRPr lang="en-US"/>
          </a:p>
        </p:txBody>
      </p:sp>
      <p:sp>
        <p:nvSpPr>
          <p:cNvPr id="14" name="Text 11"/>
          <p:cNvSpPr/>
          <p:nvPr/>
        </p:nvSpPr>
        <p:spPr>
          <a:xfrm>
            <a:off x="274320" y="4054636"/>
            <a:ext cx="1645920" cy="182880"/>
          </a:xfrm>
          <a:prstGeom prst="rect">
            <a:avLst/>
          </a:prstGeom>
          <a:noFill/>
          <a:ln/>
        </p:spPr>
        <p:txBody>
          <a:bodyPr wrap="square" lIns="12700" tIns="12700" rIns="12700" bIns="127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OLS</a:t>
            </a:r>
            <a:endParaRPr lang="en-US" sz="1000" dirty="0"/>
          </a:p>
        </p:txBody>
      </p:sp>
      <p:sp>
        <p:nvSpPr>
          <p:cNvPr id="15" name="Text 12"/>
          <p:cNvSpPr/>
          <p:nvPr/>
        </p:nvSpPr>
        <p:spPr>
          <a:xfrm>
            <a:off x="2011680" y="4054636"/>
            <a:ext cx="1645920" cy="182880"/>
          </a:xfrm>
          <a:prstGeom prst="rect">
            <a:avLst/>
          </a:prstGeom>
          <a:noFill/>
          <a:ln/>
        </p:spPr>
        <p:txBody>
          <a:bodyPr wrap="square" lIns="12700" tIns="12700" rIns="12700" bIns="127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0.6511</a:t>
            </a:r>
            <a:endParaRPr lang="en-US" sz="1000" dirty="0"/>
          </a:p>
        </p:txBody>
      </p:sp>
      <p:sp>
        <p:nvSpPr>
          <p:cNvPr id="16" name="Text 13"/>
          <p:cNvSpPr/>
          <p:nvPr/>
        </p:nvSpPr>
        <p:spPr>
          <a:xfrm>
            <a:off x="3200400" y="4054636"/>
            <a:ext cx="1645920" cy="182880"/>
          </a:xfrm>
          <a:prstGeom prst="rect">
            <a:avLst/>
          </a:prstGeom>
          <a:noFill/>
          <a:ln/>
        </p:spPr>
        <p:txBody>
          <a:bodyPr wrap="square" lIns="12700" tIns="12700" rIns="12700" bIns="127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 0.0093</a:t>
            </a:r>
            <a:endParaRPr lang="en-US" sz="1000" dirty="0"/>
          </a:p>
        </p:txBody>
      </p:sp>
      <p:sp>
        <p:nvSpPr>
          <p:cNvPr id="17" name="Shape 14"/>
          <p:cNvSpPr/>
          <p:nvPr/>
        </p:nvSpPr>
        <p:spPr>
          <a:xfrm>
            <a:off x="228600" y="4246660"/>
            <a:ext cx="4343400" cy="201168"/>
          </a:xfrm>
          <a:prstGeom prst="rect">
            <a:avLst/>
          </a:prstGeom>
          <a:solidFill>
            <a:srgbClr val="FFFFFF"/>
          </a:solidFill>
          <a:ln w="12700">
            <a:solidFill>
              <a:srgbClr val="D8DDE8"/>
            </a:solidFill>
            <a:prstDash val="solid"/>
          </a:ln>
        </p:spPr>
        <p:txBody>
          <a:bodyPr/>
          <a:lstStyle/>
          <a:p>
            <a:endParaRPr lang="en-US"/>
          </a:p>
        </p:txBody>
      </p:sp>
      <p:sp>
        <p:nvSpPr>
          <p:cNvPr id="18" name="Text 15"/>
          <p:cNvSpPr/>
          <p:nvPr/>
        </p:nvSpPr>
        <p:spPr>
          <a:xfrm>
            <a:off x="274320" y="4255804"/>
            <a:ext cx="1645920" cy="182880"/>
          </a:xfrm>
          <a:prstGeom prst="rect">
            <a:avLst/>
          </a:prstGeom>
          <a:noFill/>
          <a:ln/>
        </p:spPr>
        <p:txBody>
          <a:bodyPr wrap="square" lIns="12700" tIns="12700" rIns="12700" bIns="127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Spline + Ridge</a:t>
            </a:r>
            <a:endParaRPr lang="en-US" sz="1000" dirty="0"/>
          </a:p>
        </p:txBody>
      </p:sp>
      <p:sp>
        <p:nvSpPr>
          <p:cNvPr id="19" name="Text 16"/>
          <p:cNvSpPr/>
          <p:nvPr/>
        </p:nvSpPr>
        <p:spPr>
          <a:xfrm>
            <a:off x="2011680" y="4255804"/>
            <a:ext cx="1645920" cy="182880"/>
          </a:xfrm>
          <a:prstGeom prst="rect">
            <a:avLst/>
          </a:prstGeom>
          <a:noFill/>
          <a:ln/>
        </p:spPr>
        <p:txBody>
          <a:bodyPr wrap="square" lIns="12700" tIns="12700" rIns="12700" bIns="127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0.7382</a:t>
            </a:r>
            <a:endParaRPr lang="en-US" sz="1000" dirty="0"/>
          </a:p>
        </p:txBody>
      </p:sp>
      <p:sp>
        <p:nvSpPr>
          <p:cNvPr id="20" name="Text 17"/>
          <p:cNvSpPr/>
          <p:nvPr/>
        </p:nvSpPr>
        <p:spPr>
          <a:xfrm>
            <a:off x="3200400" y="4255804"/>
            <a:ext cx="1645920" cy="182880"/>
          </a:xfrm>
          <a:prstGeom prst="rect">
            <a:avLst/>
          </a:prstGeom>
          <a:noFill/>
          <a:ln/>
        </p:spPr>
        <p:txBody>
          <a:bodyPr wrap="square" lIns="12700" tIns="12700" rIns="12700" bIns="127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 0.0041</a:t>
            </a:r>
            <a:endParaRPr lang="en-US" sz="1000" dirty="0"/>
          </a:p>
        </p:txBody>
      </p:sp>
      <p:sp>
        <p:nvSpPr>
          <p:cNvPr id="21" name="Shape 18"/>
          <p:cNvSpPr/>
          <p:nvPr/>
        </p:nvSpPr>
        <p:spPr>
          <a:xfrm>
            <a:off x="228600" y="4447828"/>
            <a:ext cx="4343400" cy="201168"/>
          </a:xfrm>
          <a:prstGeom prst="rect">
            <a:avLst/>
          </a:prstGeom>
          <a:solidFill>
            <a:srgbClr val="F4F7FC"/>
          </a:solidFill>
          <a:ln w="12700">
            <a:solidFill>
              <a:srgbClr val="D8DDE8"/>
            </a:solidFill>
            <a:prstDash val="solid"/>
          </a:ln>
        </p:spPr>
        <p:txBody>
          <a:bodyPr/>
          <a:lstStyle/>
          <a:p>
            <a:endParaRPr lang="en-US"/>
          </a:p>
        </p:txBody>
      </p:sp>
      <p:sp>
        <p:nvSpPr>
          <p:cNvPr id="22" name="Text 19"/>
          <p:cNvSpPr/>
          <p:nvPr/>
        </p:nvSpPr>
        <p:spPr>
          <a:xfrm>
            <a:off x="274320" y="4456972"/>
            <a:ext cx="1645920" cy="182880"/>
          </a:xfrm>
          <a:prstGeom prst="rect">
            <a:avLst/>
          </a:prstGeom>
          <a:noFill/>
          <a:ln/>
        </p:spPr>
        <p:txBody>
          <a:bodyPr wrap="square" lIns="12700" tIns="12700" rIns="12700" bIns="127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Grad. Boost</a:t>
            </a:r>
            <a:endParaRPr lang="en-US" sz="1000" dirty="0"/>
          </a:p>
        </p:txBody>
      </p:sp>
      <p:sp>
        <p:nvSpPr>
          <p:cNvPr id="23" name="Text 20"/>
          <p:cNvSpPr/>
          <p:nvPr/>
        </p:nvSpPr>
        <p:spPr>
          <a:xfrm>
            <a:off x="2011680" y="4456972"/>
            <a:ext cx="1645920" cy="182880"/>
          </a:xfrm>
          <a:prstGeom prst="rect">
            <a:avLst/>
          </a:prstGeom>
          <a:noFill/>
          <a:ln/>
        </p:spPr>
        <p:txBody>
          <a:bodyPr wrap="square" lIns="12700" tIns="12700" rIns="12700" bIns="127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0.8011</a:t>
            </a:r>
            <a:endParaRPr lang="en-US" sz="1000" dirty="0"/>
          </a:p>
        </p:txBody>
      </p:sp>
      <p:sp>
        <p:nvSpPr>
          <p:cNvPr id="24" name="Text 21"/>
          <p:cNvSpPr/>
          <p:nvPr/>
        </p:nvSpPr>
        <p:spPr>
          <a:xfrm>
            <a:off x="3200400" y="4456972"/>
            <a:ext cx="1645920" cy="182880"/>
          </a:xfrm>
          <a:prstGeom prst="rect">
            <a:avLst/>
          </a:prstGeom>
          <a:noFill/>
          <a:ln/>
        </p:spPr>
        <p:txBody>
          <a:bodyPr wrap="square" lIns="12700" tIns="12700" rIns="12700" bIns="127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 0.0049</a:t>
            </a:r>
            <a:endParaRPr lang="en-US" sz="1000" dirty="0"/>
          </a:p>
        </p:txBody>
      </p:sp>
      <p:sp>
        <p:nvSpPr>
          <p:cNvPr id="25" name="Shape 22"/>
          <p:cNvSpPr/>
          <p:nvPr/>
        </p:nvSpPr>
        <p:spPr>
          <a:xfrm>
            <a:off x="228600" y="4648996"/>
            <a:ext cx="4343400" cy="201168"/>
          </a:xfrm>
          <a:prstGeom prst="rect">
            <a:avLst/>
          </a:prstGeom>
          <a:solidFill>
            <a:srgbClr val="FFFFFF"/>
          </a:solidFill>
          <a:ln w="12700">
            <a:solidFill>
              <a:srgbClr val="D8DDE8"/>
            </a:solidFill>
            <a:prstDash val="solid"/>
          </a:ln>
        </p:spPr>
        <p:txBody>
          <a:bodyPr/>
          <a:lstStyle/>
          <a:p>
            <a:endParaRPr lang="en-US"/>
          </a:p>
        </p:txBody>
      </p:sp>
      <p:sp>
        <p:nvSpPr>
          <p:cNvPr id="26" name="Text 23"/>
          <p:cNvSpPr/>
          <p:nvPr/>
        </p:nvSpPr>
        <p:spPr>
          <a:xfrm>
            <a:off x="274320" y="4658140"/>
            <a:ext cx="1645920" cy="182880"/>
          </a:xfrm>
          <a:prstGeom prst="rect">
            <a:avLst/>
          </a:prstGeom>
          <a:noFill/>
          <a:ln/>
        </p:spPr>
        <p:txBody>
          <a:bodyPr wrap="square" lIns="12700" tIns="12700" rIns="12700" bIns="127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Random Forest</a:t>
            </a:r>
            <a:endParaRPr lang="en-US" sz="1000" dirty="0"/>
          </a:p>
        </p:txBody>
      </p:sp>
      <p:sp>
        <p:nvSpPr>
          <p:cNvPr id="27" name="Text 24"/>
          <p:cNvSpPr/>
          <p:nvPr/>
        </p:nvSpPr>
        <p:spPr>
          <a:xfrm>
            <a:off x="2011680" y="4658140"/>
            <a:ext cx="1645920" cy="182880"/>
          </a:xfrm>
          <a:prstGeom prst="rect">
            <a:avLst/>
          </a:prstGeom>
          <a:noFill/>
          <a:ln/>
        </p:spPr>
        <p:txBody>
          <a:bodyPr wrap="square" lIns="12700" tIns="12700" rIns="12700" bIns="1270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0.8253</a:t>
            </a:r>
            <a:endParaRPr lang="en-US" sz="1000" dirty="0"/>
          </a:p>
        </p:txBody>
      </p:sp>
      <p:sp>
        <p:nvSpPr>
          <p:cNvPr id="28" name="Text 25"/>
          <p:cNvSpPr/>
          <p:nvPr/>
        </p:nvSpPr>
        <p:spPr>
          <a:xfrm>
            <a:off x="3200400" y="4658140"/>
            <a:ext cx="1645920" cy="182880"/>
          </a:xfrm>
          <a:prstGeom prst="rect">
            <a:avLst/>
          </a:prstGeom>
          <a:noFill/>
          <a:ln/>
        </p:spPr>
        <p:txBody>
          <a:bodyPr wrap="square" lIns="12700" tIns="12700" rIns="12700" bIns="12700" rtlCol="0" anchor="ctr"/>
          <a:lstStyle/>
          <a:p>
            <a:pPr marL="0" indent="0">
              <a:buNone/>
            </a:pPr>
            <a:r>
              <a:rPr lang="en-US" sz="1000" dirty="0">
                <a:solidFill>
                  <a:srgbClr val="111827"/>
                </a:solidFill>
                <a:latin typeface="Calibri" pitchFamily="34" charset="0"/>
                <a:ea typeface="Calibri" pitchFamily="34" charset="-122"/>
                <a:cs typeface="Calibri" pitchFamily="34" charset="-120"/>
              </a:rPr>
              <a:t>± 0.0057</a:t>
            </a:r>
            <a:endParaRPr lang="en-US" sz="1000" dirty="0"/>
          </a:p>
        </p:txBody>
      </p:sp>
      <p:sp>
        <p:nvSpPr>
          <p:cNvPr id="29" name="Shape 26"/>
          <p:cNvSpPr/>
          <p:nvPr/>
        </p:nvSpPr>
        <p:spPr>
          <a:xfrm>
            <a:off x="4709160" y="1207008"/>
            <a:ext cx="4206240" cy="256032"/>
          </a:xfrm>
          <a:prstGeom prst="rect">
            <a:avLst/>
          </a:prstGeom>
          <a:solidFill>
            <a:srgbClr val="1A2456"/>
          </a:solidFill>
          <a:ln w="12700">
            <a:solidFill>
              <a:srgbClr val="1A2456"/>
            </a:solidFill>
            <a:prstDash val="solid"/>
          </a:ln>
        </p:spPr>
        <p:txBody>
          <a:bodyPr/>
          <a:lstStyle/>
          <a:p>
            <a:endParaRPr lang="en-US"/>
          </a:p>
        </p:txBody>
      </p:sp>
      <p:sp>
        <p:nvSpPr>
          <p:cNvPr id="30" name="Text 27"/>
          <p:cNvSpPr/>
          <p:nvPr/>
        </p:nvSpPr>
        <p:spPr>
          <a:xfrm>
            <a:off x="4736592" y="1216152"/>
            <a:ext cx="4160520" cy="219456"/>
          </a:xfrm>
          <a:prstGeom prst="rect">
            <a:avLst/>
          </a:prstGeom>
          <a:noFill/>
          <a:ln/>
        </p:spPr>
        <p:txBody>
          <a:bodyPr wrap="square" lIns="25400" tIns="25400" rIns="25400" bIns="254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Fig 14  |  Spatial Distribution of Residuals: OLS vs Random Forest</a:t>
            </a:r>
            <a:endParaRPr lang="en-US" sz="950" dirty="0"/>
          </a:p>
        </p:txBody>
      </p:sp>
      <p:pic>
        <p:nvPicPr>
          <p:cNvPr id="31" name="Image 1" descr="preencoded.png"/>
          <p:cNvPicPr>
            <a:picLocks noChangeAspect="1"/>
          </p:cNvPicPr>
          <p:nvPr/>
        </p:nvPicPr>
        <p:blipFill>
          <a:blip r:embed="rId4"/>
          <a:stretch>
            <a:fillRect/>
          </a:stretch>
        </p:blipFill>
        <p:spPr>
          <a:xfrm>
            <a:off x="4709160" y="1463040"/>
            <a:ext cx="4206240" cy="2935224"/>
          </a:xfrm>
          <a:prstGeom prst="rect">
            <a:avLst/>
          </a:prstGeom>
        </p:spPr>
      </p:pic>
      <p:sp>
        <p:nvSpPr>
          <p:cNvPr id="32" name="Text 28"/>
          <p:cNvSpPr/>
          <p:nvPr/>
        </p:nvSpPr>
        <p:spPr>
          <a:xfrm>
            <a:off x="4709160" y="4484538"/>
            <a:ext cx="4206240" cy="502920"/>
          </a:xfrm>
          <a:prstGeom prst="rect">
            <a:avLst/>
          </a:prstGeom>
          <a:noFill/>
          <a:ln/>
        </p:spPr>
        <p:txBody>
          <a:bodyPr wrap="square" lIns="0" tIns="0" rIns="0" bIns="0" rtlCol="0" anchor="ctr"/>
          <a:lstStyle/>
          <a:p>
            <a:pPr marL="0" indent="0">
              <a:buNone/>
            </a:pPr>
            <a:r>
              <a:rPr lang="en-US" sz="1050" dirty="0">
                <a:solidFill>
                  <a:srgbClr val="111827"/>
                </a:solidFill>
                <a:latin typeface="Calibri" pitchFamily="34" charset="0"/>
                <a:ea typeface="Calibri" pitchFamily="34" charset="-122"/>
                <a:cs typeface="Calibri" pitchFamily="34" charset="-120"/>
              </a:rPr>
              <a:t>OLS residuals show visible coastal clustering (systematic underprediction). Random Forest residuals are more evenly dispersed, though spatial autocorrelation is not eliminated; an invitation for geographically weighted extensions.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411480" y="73152"/>
            <a:ext cx="832104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Spatial Residual Diagnostics: What the Models Still Miss</a:t>
            </a:r>
            <a:endParaRPr lang="en-US" sz="2600" dirty="0"/>
          </a:p>
        </p:txBody>
      </p:sp>
      <p:sp>
        <p:nvSpPr>
          <p:cNvPr id="5" name="Shape 3"/>
          <p:cNvSpPr/>
          <p:nvPr/>
        </p:nvSpPr>
        <p:spPr>
          <a:xfrm>
            <a:off x="320040" y="1417320"/>
            <a:ext cx="4160520" cy="3383280"/>
          </a:xfrm>
          <a:prstGeom prst="rect">
            <a:avLst/>
          </a:prstGeom>
          <a:solidFill>
            <a:srgbClr val="FFF0F0"/>
          </a:solidFill>
          <a:ln w="12700">
            <a:solidFill>
              <a:srgbClr val="D7191C"/>
            </a:solidFill>
            <a:prstDash val="solid"/>
          </a:ln>
        </p:spPr>
        <p:txBody>
          <a:bodyPr/>
          <a:lstStyle/>
          <a:p>
            <a:endParaRPr lang="en-US"/>
          </a:p>
        </p:txBody>
      </p:sp>
      <p:sp>
        <p:nvSpPr>
          <p:cNvPr id="6" name="Text 4"/>
          <p:cNvSpPr/>
          <p:nvPr/>
        </p:nvSpPr>
        <p:spPr>
          <a:xfrm>
            <a:off x="502920" y="1508760"/>
            <a:ext cx="3794760" cy="365760"/>
          </a:xfrm>
          <a:prstGeom prst="rect">
            <a:avLst/>
          </a:prstGeom>
          <a:noFill/>
          <a:ln/>
        </p:spPr>
        <p:txBody>
          <a:bodyPr wrap="square" lIns="0" tIns="0" rIns="0" bIns="0" rtlCol="0" anchor="ctr"/>
          <a:lstStyle/>
          <a:p>
            <a:pPr marL="0" indent="0">
              <a:buNone/>
            </a:pPr>
            <a:r>
              <a:rPr lang="en-US" sz="1300" b="1" dirty="0">
                <a:solidFill>
                  <a:srgbClr val="D7191C"/>
                </a:solidFill>
                <a:latin typeface="Cambria" pitchFamily="34" charset="0"/>
                <a:ea typeface="Cambria" pitchFamily="34" charset="-122"/>
                <a:cs typeface="Cambria" pitchFamily="34" charset="-120"/>
              </a:rPr>
              <a:t>OLS Residuals</a:t>
            </a:r>
            <a:endParaRPr lang="en-US" sz="1300" dirty="0"/>
          </a:p>
        </p:txBody>
      </p:sp>
      <p:sp>
        <p:nvSpPr>
          <p:cNvPr id="7" name="Text 5"/>
          <p:cNvSpPr/>
          <p:nvPr/>
        </p:nvSpPr>
        <p:spPr>
          <a:xfrm>
            <a:off x="502920" y="1965960"/>
            <a:ext cx="3794760" cy="1920240"/>
          </a:xfrm>
          <a:prstGeom prst="rect">
            <a:avLst/>
          </a:prstGeom>
          <a:noFill/>
          <a:ln/>
        </p:spPr>
        <p:txBody>
          <a:bodyPr wrap="square" lIns="0" tIns="0" rIns="0" bIns="0" rtlCol="0" anchor="t"/>
          <a:lstStyle/>
          <a:p>
            <a:pPr marL="0" indent="0">
              <a:buNone/>
            </a:pPr>
            <a:r>
              <a:rPr lang="en-US" sz="1200" dirty="0">
                <a:solidFill>
                  <a:srgbClr val="111827"/>
                </a:solidFill>
                <a:latin typeface="Calibri" pitchFamily="34" charset="0"/>
                <a:ea typeface="Calibri" pitchFamily="34" charset="-122"/>
                <a:cs typeface="Calibri" pitchFamily="34" charset="-120"/>
              </a:rPr>
              <a:t>High positive residuals (systematic underprediction) cluster visibly along the coast. The Bay Area and LA Basin are consistently missed. This is not noise. It is the fingerprint of the coastal premium that a non-spatial linear model cannot absorb.</a:t>
            </a:r>
            <a:endParaRPr lang="en-US" sz="1200" dirty="0"/>
          </a:p>
        </p:txBody>
      </p:sp>
      <p:sp>
        <p:nvSpPr>
          <p:cNvPr id="8" name="Shape 6"/>
          <p:cNvSpPr/>
          <p:nvPr/>
        </p:nvSpPr>
        <p:spPr>
          <a:xfrm>
            <a:off x="502920" y="3977640"/>
            <a:ext cx="3794760" cy="502920"/>
          </a:xfrm>
          <a:prstGeom prst="rect">
            <a:avLst/>
          </a:prstGeom>
          <a:solidFill>
            <a:srgbClr val="D7191C"/>
          </a:solidFill>
          <a:ln w="12700">
            <a:solidFill>
              <a:srgbClr val="D7191C"/>
            </a:solidFill>
            <a:prstDash val="solid"/>
          </a:ln>
        </p:spPr>
        <p:txBody>
          <a:bodyPr/>
          <a:lstStyle/>
          <a:p>
            <a:endParaRPr lang="en-US"/>
          </a:p>
        </p:txBody>
      </p:sp>
      <p:sp>
        <p:nvSpPr>
          <p:cNvPr id="9" name="Text 7"/>
          <p:cNvSpPr/>
          <p:nvPr/>
        </p:nvSpPr>
        <p:spPr>
          <a:xfrm>
            <a:off x="502920" y="4005072"/>
            <a:ext cx="37947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Spatial pattern visible</a:t>
            </a:r>
            <a:endParaRPr lang="en-US" sz="1200" dirty="0"/>
          </a:p>
        </p:txBody>
      </p:sp>
      <p:sp>
        <p:nvSpPr>
          <p:cNvPr id="10" name="Shape 8"/>
          <p:cNvSpPr/>
          <p:nvPr/>
        </p:nvSpPr>
        <p:spPr>
          <a:xfrm>
            <a:off x="4754880" y="1417320"/>
            <a:ext cx="4160520" cy="3383280"/>
          </a:xfrm>
          <a:prstGeom prst="rect">
            <a:avLst/>
          </a:prstGeom>
          <a:solidFill>
            <a:srgbClr val="F0F4FA"/>
          </a:solidFill>
          <a:ln w="12700">
            <a:solidFill>
              <a:srgbClr val="1E2761"/>
            </a:solidFill>
            <a:prstDash val="solid"/>
          </a:ln>
        </p:spPr>
        <p:txBody>
          <a:bodyPr/>
          <a:lstStyle/>
          <a:p>
            <a:endParaRPr lang="en-US"/>
          </a:p>
        </p:txBody>
      </p:sp>
      <p:sp>
        <p:nvSpPr>
          <p:cNvPr id="11" name="Text 9"/>
          <p:cNvSpPr/>
          <p:nvPr/>
        </p:nvSpPr>
        <p:spPr>
          <a:xfrm>
            <a:off x="4937760" y="1508760"/>
            <a:ext cx="3794760" cy="365760"/>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Random Forest Residuals</a:t>
            </a:r>
            <a:endParaRPr lang="en-US" sz="1300" dirty="0"/>
          </a:p>
        </p:txBody>
      </p:sp>
      <p:sp>
        <p:nvSpPr>
          <p:cNvPr id="12" name="Text 10"/>
          <p:cNvSpPr/>
          <p:nvPr/>
        </p:nvSpPr>
        <p:spPr>
          <a:xfrm>
            <a:off x="4937760" y="1965960"/>
            <a:ext cx="3794760" cy="1920240"/>
          </a:xfrm>
          <a:prstGeom prst="rect">
            <a:avLst/>
          </a:prstGeom>
          <a:noFill/>
          <a:ln/>
        </p:spPr>
        <p:txBody>
          <a:bodyPr wrap="square" lIns="0" tIns="0" rIns="0" bIns="0" rtlCol="0" anchor="t"/>
          <a:lstStyle/>
          <a:p>
            <a:pPr marL="0" indent="0">
              <a:buNone/>
            </a:pPr>
            <a:r>
              <a:rPr lang="en-US" sz="1200" dirty="0">
                <a:solidFill>
                  <a:srgbClr val="111827"/>
                </a:solidFill>
                <a:latin typeface="Calibri" pitchFamily="34" charset="0"/>
                <a:ea typeface="Calibri" pitchFamily="34" charset="-122"/>
                <a:cs typeface="Calibri" pitchFamily="34" charset="-120"/>
              </a:rPr>
              <a:t>The coastal clusters are substantially attenuated. The error map is far more dispersed. The ensemble has learned to partially account for the geographic signal, though spatial autocorrelation is not eliminated.</a:t>
            </a:r>
            <a:endParaRPr lang="en-US" sz="1200" dirty="0"/>
          </a:p>
        </p:txBody>
      </p:sp>
      <p:sp>
        <p:nvSpPr>
          <p:cNvPr id="13" name="Shape 11"/>
          <p:cNvSpPr/>
          <p:nvPr/>
        </p:nvSpPr>
        <p:spPr>
          <a:xfrm>
            <a:off x="4937760" y="3977640"/>
            <a:ext cx="3794760" cy="502920"/>
          </a:xfrm>
          <a:prstGeom prst="rect">
            <a:avLst/>
          </a:prstGeom>
          <a:solidFill>
            <a:srgbClr val="1E2761"/>
          </a:solidFill>
          <a:ln w="12700">
            <a:solidFill>
              <a:srgbClr val="1E2761"/>
            </a:solidFill>
            <a:prstDash val="solid"/>
          </a:ln>
        </p:spPr>
        <p:txBody>
          <a:bodyPr/>
          <a:lstStyle/>
          <a:p>
            <a:endParaRPr lang="en-US"/>
          </a:p>
        </p:txBody>
      </p:sp>
      <p:sp>
        <p:nvSpPr>
          <p:cNvPr id="14" name="Text 12"/>
          <p:cNvSpPr/>
          <p:nvPr/>
        </p:nvSpPr>
        <p:spPr>
          <a:xfrm>
            <a:off x="4937760" y="4005072"/>
            <a:ext cx="37947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Pattern attenuated, not eliminated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lgn="ctr">
              <a:buNone/>
            </a:pPr>
            <a:r>
              <a:rPr lang="en-US" sz="3200" b="1" kern="0" spc="300" dirty="0">
                <a:solidFill>
                  <a:srgbClr val="FFFFFF"/>
                </a:solidFill>
                <a:latin typeface="Cambria" pitchFamily="34" charset="0"/>
                <a:ea typeface="Cambria" pitchFamily="34" charset="-122"/>
                <a:cs typeface="Cambria" pitchFamily="34" charset="-120"/>
              </a:rPr>
              <a:t>CONCLUSIONS</a:t>
            </a:r>
            <a:endParaRPr lang="en-US" sz="3200" dirty="0"/>
          </a:p>
        </p:txBody>
      </p:sp>
      <p:sp>
        <p:nvSpPr>
          <p:cNvPr id="3" name="Text 1"/>
          <p:cNvSpPr/>
          <p:nvPr/>
        </p:nvSpPr>
        <p:spPr>
          <a:xfrm>
            <a:off x="457200" y="960120"/>
            <a:ext cx="8229600" cy="347472"/>
          </a:xfrm>
          <a:prstGeom prst="rect">
            <a:avLst/>
          </a:prstGeom>
          <a:noFill/>
          <a:ln/>
        </p:spPr>
        <p:txBody>
          <a:bodyPr wrap="square" rtlCol="0" anchor="ctr"/>
          <a:lstStyle/>
          <a:p>
            <a:pPr marL="0" indent="0" algn="ctr">
              <a:buNone/>
            </a:pPr>
            <a:r>
              <a:rPr lang="en-US" sz="1400" i="1" dirty="0">
                <a:solidFill>
                  <a:srgbClr val="C8D8F0"/>
                </a:solidFill>
                <a:latin typeface="Calibri" pitchFamily="34" charset="0"/>
                <a:ea typeface="Calibri" pitchFamily="34" charset="-122"/>
                <a:cs typeface="Calibri" pitchFamily="34" charset="-120"/>
              </a:rPr>
              <a:t>Research Questions Answered</a:t>
            </a:r>
            <a:endParaRPr lang="en-US" sz="1400" dirty="0"/>
          </a:p>
        </p:txBody>
      </p:sp>
      <p:sp>
        <p:nvSpPr>
          <p:cNvPr id="4" name="Shape 2"/>
          <p:cNvSpPr/>
          <p:nvPr/>
        </p:nvSpPr>
        <p:spPr>
          <a:xfrm>
            <a:off x="365760" y="1508760"/>
            <a:ext cx="960120" cy="841248"/>
          </a:xfrm>
          <a:prstGeom prst="rect">
            <a:avLst/>
          </a:prstGeom>
          <a:solidFill>
            <a:srgbClr val="2C4B8A"/>
          </a:solidFill>
          <a:ln w="12700">
            <a:solidFill>
              <a:srgbClr val="2C4B8A"/>
            </a:solidFill>
            <a:prstDash val="solid"/>
          </a:ln>
        </p:spPr>
        <p:txBody>
          <a:bodyPr/>
          <a:lstStyle/>
          <a:p>
            <a:endParaRPr lang="en-US"/>
          </a:p>
        </p:txBody>
      </p:sp>
      <p:sp>
        <p:nvSpPr>
          <p:cNvPr id="5" name="Text 3"/>
          <p:cNvSpPr/>
          <p:nvPr/>
        </p:nvSpPr>
        <p:spPr>
          <a:xfrm>
            <a:off x="365760" y="1508760"/>
            <a:ext cx="960120" cy="841248"/>
          </a:xfrm>
          <a:prstGeom prst="rect">
            <a:avLst/>
          </a:prstGeom>
          <a:noFill/>
          <a:ln/>
        </p:spPr>
        <p:txBody>
          <a:bodyPr wrap="square" lIns="0" tIns="0" rIns="0" bIns="0" rtlCol="0" anchor="ctr"/>
          <a:lstStyle/>
          <a:p>
            <a:pPr marL="0" indent="0" algn="ctr">
              <a:buNone/>
            </a:pPr>
            <a:r>
              <a:rPr lang="en-US" sz="1400" b="1" dirty="0">
                <a:solidFill>
                  <a:srgbClr val="D7191C"/>
                </a:solidFill>
                <a:latin typeface="Cambria" pitchFamily="34" charset="0"/>
                <a:ea typeface="Cambria" pitchFamily="34" charset="-122"/>
                <a:cs typeface="Cambria" pitchFamily="34" charset="-120"/>
              </a:rPr>
              <a:t>RQ 1</a:t>
            </a:r>
            <a:endParaRPr lang="en-US" sz="1400" dirty="0"/>
          </a:p>
        </p:txBody>
      </p:sp>
      <p:sp>
        <p:nvSpPr>
          <p:cNvPr id="6" name="Text 4"/>
          <p:cNvSpPr/>
          <p:nvPr/>
        </p:nvSpPr>
        <p:spPr>
          <a:xfrm>
            <a:off x="1463040" y="1508760"/>
            <a:ext cx="7315200" cy="841248"/>
          </a:xfrm>
          <a:prstGeom prst="rect">
            <a:avLst/>
          </a:prstGeom>
          <a:noFill/>
          <a:ln/>
        </p:spPr>
        <p:txBody>
          <a:bodyPr wrap="square" lIns="0" tIns="0" rIns="0" bIns="0" rtlCol="0" anchor="ctr"/>
          <a:lstStyle/>
          <a:p>
            <a:r>
              <a:rPr lang="en-US" sz="1400" b="1" dirty="0">
                <a:solidFill>
                  <a:srgbClr val="C8D8F0"/>
                </a:solidFill>
                <a:latin typeface="Calibri" pitchFamily="34" charset="0"/>
                <a:ea typeface="Calibri" pitchFamily="34" charset="-122"/>
                <a:cs typeface="Calibri" pitchFamily="34" charset="-120"/>
              </a:rPr>
              <a:t>Can ensemble models outperform OLS?</a:t>
            </a:r>
            <a:endParaRPr lang="en-US" sz="1400" dirty="0"/>
          </a:p>
          <a:p>
            <a:r>
              <a:rPr lang="en-US" sz="1400" dirty="0">
                <a:solidFill>
                  <a:srgbClr val="FFFFFF"/>
                </a:solidFill>
                <a:latin typeface="Calibri" pitchFamily="34" charset="0"/>
                <a:ea typeface="Calibri" pitchFamily="34" charset="-122"/>
                <a:cs typeface="Calibri" pitchFamily="34" charset="-120"/>
              </a:rPr>
              <a:t>Yes. </a:t>
            </a:r>
            <a:r>
              <a:rPr lang="en-US" sz="1400" dirty="0" err="1">
                <a:solidFill>
                  <a:srgbClr val="FFFFFF"/>
                </a:solidFill>
                <a:latin typeface="Calibri" pitchFamily="34" charset="0"/>
                <a:ea typeface="Calibri" pitchFamily="34" charset="-122"/>
                <a:cs typeface="Calibri" pitchFamily="34" charset="-120"/>
              </a:rPr>
              <a:t>XGBoost</a:t>
            </a:r>
            <a:r>
              <a:rPr lang="en-US" sz="1400" dirty="0">
                <a:solidFill>
                  <a:srgbClr val="FFFFFF"/>
                </a:solidFill>
                <a:latin typeface="Calibri" pitchFamily="34" charset="0"/>
                <a:ea typeface="Calibri" pitchFamily="34" charset="-122"/>
                <a:cs typeface="Calibri" pitchFamily="34" charset="-120"/>
              </a:rPr>
              <a:t> achieves R² = 0.8505 versus OLS at 0.6330. The improvement is stable across 5-fold cross-validation (RF CV R² = 0.8253 ± 0.0057). The gap is not marginal; it is the difference between capturing the signal and approximating it.</a:t>
            </a:r>
            <a:endParaRPr lang="en-US" sz="1400" dirty="0"/>
          </a:p>
        </p:txBody>
      </p:sp>
      <p:sp>
        <p:nvSpPr>
          <p:cNvPr id="7" name="Shape 5"/>
          <p:cNvSpPr/>
          <p:nvPr/>
        </p:nvSpPr>
        <p:spPr>
          <a:xfrm>
            <a:off x="365760" y="2587752"/>
            <a:ext cx="960120" cy="841248"/>
          </a:xfrm>
          <a:prstGeom prst="rect">
            <a:avLst/>
          </a:prstGeom>
          <a:solidFill>
            <a:srgbClr val="2C4B8A"/>
          </a:solidFill>
          <a:ln w="12700">
            <a:solidFill>
              <a:srgbClr val="2C4B8A"/>
            </a:solidFill>
            <a:prstDash val="solid"/>
          </a:ln>
        </p:spPr>
        <p:txBody>
          <a:bodyPr/>
          <a:lstStyle/>
          <a:p>
            <a:endParaRPr lang="en-US"/>
          </a:p>
        </p:txBody>
      </p:sp>
      <p:sp>
        <p:nvSpPr>
          <p:cNvPr id="8" name="Text 6"/>
          <p:cNvSpPr/>
          <p:nvPr/>
        </p:nvSpPr>
        <p:spPr>
          <a:xfrm>
            <a:off x="365760" y="2587752"/>
            <a:ext cx="960120" cy="841248"/>
          </a:xfrm>
          <a:prstGeom prst="rect">
            <a:avLst/>
          </a:prstGeom>
          <a:noFill/>
          <a:ln/>
        </p:spPr>
        <p:txBody>
          <a:bodyPr wrap="square" lIns="0" tIns="0" rIns="0" bIns="0" rtlCol="0" anchor="ctr"/>
          <a:lstStyle/>
          <a:p>
            <a:pPr marL="0" indent="0" algn="ctr">
              <a:buNone/>
            </a:pPr>
            <a:r>
              <a:rPr lang="en-US" sz="1400" b="1" dirty="0">
                <a:solidFill>
                  <a:srgbClr val="D7191C"/>
                </a:solidFill>
                <a:latin typeface="Cambria" pitchFamily="34" charset="0"/>
                <a:ea typeface="Cambria" pitchFamily="34" charset="-122"/>
                <a:cs typeface="Cambria" pitchFamily="34" charset="-120"/>
              </a:rPr>
              <a:t>RQ 2</a:t>
            </a:r>
            <a:endParaRPr lang="en-US" sz="1400" dirty="0"/>
          </a:p>
        </p:txBody>
      </p:sp>
      <p:sp>
        <p:nvSpPr>
          <p:cNvPr id="9" name="Text 7"/>
          <p:cNvSpPr/>
          <p:nvPr/>
        </p:nvSpPr>
        <p:spPr>
          <a:xfrm>
            <a:off x="1463040" y="2587752"/>
            <a:ext cx="7315200" cy="841248"/>
          </a:xfrm>
          <a:prstGeom prst="rect">
            <a:avLst/>
          </a:prstGeom>
          <a:noFill/>
          <a:ln/>
        </p:spPr>
        <p:txBody>
          <a:bodyPr wrap="square" lIns="0" tIns="0" rIns="0" bIns="0" rtlCol="0" anchor="ctr"/>
          <a:lstStyle/>
          <a:p>
            <a:r>
              <a:rPr lang="en-US" sz="1400" b="1" dirty="0">
                <a:solidFill>
                  <a:srgbClr val="C8D8F0"/>
                </a:solidFill>
                <a:latin typeface="Calibri" pitchFamily="34" charset="0"/>
                <a:ea typeface="Calibri" pitchFamily="34" charset="-122"/>
                <a:cs typeface="Calibri" pitchFamily="34" charset="-120"/>
              </a:rPr>
              <a:t>What are the key nonlinear interactions?</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The most important nonlinear interaction is between latitude and income. The Bay Area commands a structural premium at every income level and shows a steeper income slope than any other region.</a:t>
            </a:r>
            <a:endParaRPr lang="en-US" sz="1400" dirty="0"/>
          </a:p>
        </p:txBody>
      </p:sp>
      <p:sp>
        <p:nvSpPr>
          <p:cNvPr id="10" name="Shape 8"/>
          <p:cNvSpPr/>
          <p:nvPr/>
        </p:nvSpPr>
        <p:spPr>
          <a:xfrm>
            <a:off x="365760" y="3666744"/>
            <a:ext cx="960120" cy="841248"/>
          </a:xfrm>
          <a:prstGeom prst="rect">
            <a:avLst/>
          </a:prstGeom>
          <a:solidFill>
            <a:srgbClr val="2C4B8A"/>
          </a:solidFill>
          <a:ln w="12700">
            <a:solidFill>
              <a:srgbClr val="2C4B8A"/>
            </a:solidFill>
            <a:prstDash val="solid"/>
          </a:ln>
        </p:spPr>
        <p:txBody>
          <a:bodyPr/>
          <a:lstStyle/>
          <a:p>
            <a:endParaRPr lang="en-US"/>
          </a:p>
        </p:txBody>
      </p:sp>
      <p:sp>
        <p:nvSpPr>
          <p:cNvPr id="11" name="Text 9"/>
          <p:cNvSpPr/>
          <p:nvPr/>
        </p:nvSpPr>
        <p:spPr>
          <a:xfrm>
            <a:off x="365760" y="3666744"/>
            <a:ext cx="960120" cy="841248"/>
          </a:xfrm>
          <a:prstGeom prst="rect">
            <a:avLst/>
          </a:prstGeom>
          <a:noFill/>
          <a:ln/>
        </p:spPr>
        <p:txBody>
          <a:bodyPr wrap="square" lIns="0" tIns="0" rIns="0" bIns="0" rtlCol="0" anchor="ctr"/>
          <a:lstStyle/>
          <a:p>
            <a:pPr marL="0" indent="0" algn="ctr">
              <a:buNone/>
            </a:pPr>
            <a:r>
              <a:rPr lang="en-US" sz="1400" b="1" dirty="0">
                <a:solidFill>
                  <a:srgbClr val="D7191C"/>
                </a:solidFill>
                <a:latin typeface="Cambria" pitchFamily="34" charset="0"/>
                <a:ea typeface="Cambria" pitchFamily="34" charset="-122"/>
                <a:cs typeface="Cambria" pitchFamily="34" charset="-120"/>
              </a:rPr>
              <a:t>RQ 3</a:t>
            </a:r>
            <a:endParaRPr lang="en-US" sz="1400" dirty="0"/>
          </a:p>
        </p:txBody>
      </p:sp>
      <p:sp>
        <p:nvSpPr>
          <p:cNvPr id="12" name="Text 10"/>
          <p:cNvSpPr/>
          <p:nvPr/>
        </p:nvSpPr>
        <p:spPr>
          <a:xfrm>
            <a:off x="1463040" y="3666744"/>
            <a:ext cx="7315200" cy="841248"/>
          </a:xfrm>
          <a:prstGeom prst="rect">
            <a:avLst/>
          </a:prstGeom>
          <a:noFill/>
          <a:ln/>
        </p:spPr>
        <p:txBody>
          <a:bodyPr wrap="square" lIns="0" tIns="0" rIns="0" bIns="0" rtlCol="0" anchor="ctr"/>
          <a:lstStyle/>
          <a:p>
            <a:r>
              <a:rPr lang="en-US" sz="1400" b="1" dirty="0">
                <a:solidFill>
                  <a:srgbClr val="C8D8F0"/>
                </a:solidFill>
                <a:latin typeface="Calibri" pitchFamily="34" charset="0"/>
                <a:ea typeface="Calibri" pitchFamily="34" charset="-122"/>
                <a:cs typeface="Calibri" pitchFamily="34" charset="-120"/>
              </a:rPr>
              <a:t>Which model family performs best?</a:t>
            </a:r>
            <a:endParaRPr lang="en-US" sz="1400" dirty="0">
              <a:solidFill>
                <a:srgbClr val="FFFFFF"/>
              </a:solidFill>
              <a:latin typeface="Calibri" pitchFamily="34" charset="0"/>
              <a:ea typeface="Calibri" pitchFamily="34" charset="-122"/>
              <a:cs typeface="Calibri" pitchFamily="34" charset="-120"/>
            </a:endParaRPr>
          </a:p>
          <a:p>
            <a:r>
              <a:rPr lang="en-US" sz="1400" dirty="0">
                <a:solidFill>
                  <a:srgbClr val="FFFFFF"/>
                </a:solidFill>
                <a:latin typeface="Calibri" pitchFamily="34" charset="0"/>
                <a:ea typeface="Calibri" pitchFamily="34" charset="-122"/>
                <a:cs typeface="Calibri" pitchFamily="34" charset="-120"/>
              </a:rPr>
              <a:t>ML ensembles lead on accuracy (</a:t>
            </a:r>
            <a:r>
              <a:rPr lang="en-US" sz="1400" dirty="0" err="1">
                <a:solidFill>
                  <a:srgbClr val="FFFFFF"/>
                </a:solidFill>
                <a:latin typeface="Calibri" pitchFamily="34" charset="0"/>
                <a:ea typeface="Calibri" pitchFamily="34" charset="-122"/>
                <a:cs typeface="Calibri" pitchFamily="34" charset="-120"/>
              </a:rPr>
              <a:t>XGBoost</a:t>
            </a:r>
            <a:r>
              <a:rPr lang="en-US" sz="1400" dirty="0">
                <a:solidFill>
                  <a:srgbClr val="FFFFFF"/>
                </a:solidFill>
                <a:latin typeface="Calibri" pitchFamily="34" charset="0"/>
                <a:ea typeface="Calibri" pitchFamily="34" charset="-122"/>
                <a:cs typeface="Calibri" pitchFamily="34" charset="-120"/>
              </a:rPr>
              <a:t> RMSE = 0.2203). GNPR models lead on the accuracy-interpretability trade-off (GAM R² = 0.7591, AIC = 3777.61). Parametric regression leads for inference. Purpose determines the optimal choice.</a:t>
            </a:r>
            <a:endParaRPr lang="en-US" sz="1400" dirty="0"/>
          </a:p>
        </p:txBody>
      </p:sp>
      <p:sp>
        <p:nvSpPr>
          <p:cNvPr id="13" name="Shape 11"/>
          <p:cNvSpPr/>
          <p:nvPr/>
        </p:nvSpPr>
        <p:spPr>
          <a:xfrm>
            <a:off x="365760" y="4572000"/>
            <a:ext cx="8412480" cy="384048"/>
          </a:xfrm>
          <a:prstGeom prst="rect">
            <a:avLst/>
          </a:prstGeom>
          <a:solidFill>
            <a:srgbClr val="D7191C"/>
          </a:solidFill>
          <a:ln w="12700">
            <a:solidFill>
              <a:srgbClr val="D7191C"/>
            </a:solidFill>
            <a:prstDash val="solid"/>
          </a:ln>
        </p:spPr>
        <p:txBody>
          <a:bodyPr/>
          <a:lstStyle/>
          <a:p>
            <a:endParaRPr lang="en-US"/>
          </a:p>
        </p:txBody>
      </p:sp>
      <p:sp>
        <p:nvSpPr>
          <p:cNvPr id="14" name="Text 12"/>
          <p:cNvSpPr/>
          <p:nvPr/>
        </p:nvSpPr>
        <p:spPr>
          <a:xfrm>
            <a:off x="457200" y="4599432"/>
            <a:ext cx="8229600" cy="347472"/>
          </a:xfrm>
          <a:prstGeom prst="rect">
            <a:avLst/>
          </a:prstGeom>
          <a:noFill/>
          <a:ln/>
        </p:spPr>
        <p:txBody>
          <a:bodyPr wrap="square" lIns="0" tIns="0" rIns="0" bIns="0" rtlCol="0" anchor="ctr"/>
          <a:lstStyle/>
          <a:p>
            <a:pPr marL="0" indent="0" algn="ctr">
              <a:buNone/>
            </a:pPr>
            <a:r>
              <a:rPr lang="en-US" sz="1150" i="1" dirty="0">
                <a:solidFill>
                  <a:srgbClr val="FFFFFF"/>
                </a:solidFill>
                <a:latin typeface="Calibri" pitchFamily="34" charset="0"/>
                <a:ea typeface="Calibri" pitchFamily="34" charset="-122"/>
                <a:cs typeface="Calibri" pitchFamily="34" charset="-120"/>
              </a:rPr>
              <a:t>California housing is a nonlinear world. The question of how to act on that knowledge belongs to the next chapter.</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411480" y="73152"/>
            <a:ext cx="832104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Open Questions and Future Work</a:t>
            </a:r>
            <a:endParaRPr lang="en-US" sz="2600" dirty="0"/>
          </a:p>
        </p:txBody>
      </p:sp>
      <p:sp>
        <p:nvSpPr>
          <p:cNvPr id="5" name="Shape 3"/>
          <p:cNvSpPr/>
          <p:nvPr/>
        </p:nvSpPr>
        <p:spPr>
          <a:xfrm>
            <a:off x="320040" y="1463040"/>
            <a:ext cx="4160520" cy="1645920"/>
          </a:xfrm>
          <a:prstGeom prst="rect">
            <a:avLst/>
          </a:prstGeom>
          <a:solidFill>
            <a:srgbClr val="F0F4FA"/>
          </a:solidFill>
          <a:ln w="12700">
            <a:solidFill>
              <a:srgbClr val="D0D8E8"/>
            </a:solidFill>
            <a:prstDash val="solid"/>
          </a:ln>
        </p:spPr>
        <p:txBody>
          <a:bodyPr/>
          <a:lstStyle/>
          <a:p>
            <a:endParaRPr lang="en-US"/>
          </a:p>
        </p:txBody>
      </p:sp>
      <p:sp>
        <p:nvSpPr>
          <p:cNvPr id="6" name="Text 4"/>
          <p:cNvSpPr/>
          <p:nvPr/>
        </p:nvSpPr>
        <p:spPr>
          <a:xfrm>
            <a:off x="457200" y="1572768"/>
            <a:ext cx="457200" cy="365760"/>
          </a:xfrm>
          <a:prstGeom prst="rect">
            <a:avLst/>
          </a:prstGeom>
          <a:noFill/>
          <a:ln/>
        </p:spPr>
        <p:txBody>
          <a:bodyPr wrap="square" lIns="0" tIns="0" rIns="0" bIns="0" rtlCol="0" anchor="ctr"/>
          <a:lstStyle/>
          <a:p>
            <a:pPr marL="0" indent="0">
              <a:buNone/>
            </a:pPr>
            <a:r>
              <a:rPr lang="en-US" sz="2000" b="1" dirty="0">
                <a:solidFill>
                  <a:srgbClr val="D7191C"/>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978408" y="1572768"/>
            <a:ext cx="3337560" cy="384048"/>
          </a:xfrm>
          <a:prstGeom prst="rect">
            <a:avLst/>
          </a:prstGeom>
          <a:noFill/>
          <a:ln/>
        </p:spPr>
        <p:txBody>
          <a:bodyPr wrap="square" lIns="0" tIns="0" rIns="0" bIns="0" rtlCol="0" anchor="ctr"/>
          <a:lstStyle/>
          <a:p>
            <a:pPr marL="0" indent="0">
              <a:buNone/>
            </a:pPr>
            <a:r>
              <a:rPr lang="en-US" sz="1200" b="1" dirty="0">
                <a:solidFill>
                  <a:srgbClr val="1E2761"/>
                </a:solidFill>
                <a:latin typeface="Cambria" pitchFamily="34" charset="0"/>
                <a:ea typeface="Cambria" pitchFamily="34" charset="-122"/>
                <a:cs typeface="Cambria" pitchFamily="34" charset="-120"/>
              </a:rPr>
              <a:t>Spatial Regression</a:t>
            </a:r>
            <a:endParaRPr lang="en-US" sz="1200" dirty="0"/>
          </a:p>
        </p:txBody>
      </p:sp>
      <p:sp>
        <p:nvSpPr>
          <p:cNvPr id="8" name="Text 6"/>
          <p:cNvSpPr/>
          <p:nvPr/>
        </p:nvSpPr>
        <p:spPr>
          <a:xfrm>
            <a:off x="457200" y="2011680"/>
            <a:ext cx="3886200" cy="1005840"/>
          </a:xfrm>
          <a:prstGeom prst="rect">
            <a:avLst/>
          </a:prstGeom>
          <a:noFill/>
          <a:ln/>
        </p:spPr>
        <p:txBody>
          <a:bodyPr wrap="square" lIns="0" tIns="0" rIns="0" bIns="0" rtlCol="0" anchor="t"/>
          <a:lstStyle/>
          <a:p>
            <a:pPr marL="0" indent="0">
              <a:buNone/>
            </a:pPr>
            <a:r>
              <a:rPr lang="en-US" sz="1050" dirty="0">
                <a:solidFill>
                  <a:srgbClr val="111827"/>
                </a:solidFill>
                <a:latin typeface="Calibri" pitchFamily="34" charset="0"/>
                <a:ea typeface="Calibri" pitchFamily="34" charset="-122"/>
                <a:cs typeface="Calibri" pitchFamily="34" charset="-120"/>
              </a:rPr>
              <a:t>Moran's I test on OLS residuals would formally quantify spatial autocorrelation. Geographically Weighted Regression would allow coefficients to vary by location, a natural response to the geographic modulation of the income effect.</a:t>
            </a:r>
            <a:endParaRPr lang="en-US" sz="1050" dirty="0"/>
          </a:p>
        </p:txBody>
      </p:sp>
      <p:sp>
        <p:nvSpPr>
          <p:cNvPr id="9" name="Shape 7"/>
          <p:cNvSpPr/>
          <p:nvPr/>
        </p:nvSpPr>
        <p:spPr>
          <a:xfrm>
            <a:off x="4754880" y="1463040"/>
            <a:ext cx="4160520" cy="1645920"/>
          </a:xfrm>
          <a:prstGeom prst="rect">
            <a:avLst/>
          </a:prstGeom>
          <a:solidFill>
            <a:srgbClr val="1E2761"/>
          </a:solidFill>
          <a:ln w="12700">
            <a:solidFill>
              <a:srgbClr val="1E2761"/>
            </a:solidFill>
            <a:prstDash val="solid"/>
          </a:ln>
        </p:spPr>
        <p:txBody>
          <a:bodyPr/>
          <a:lstStyle/>
          <a:p>
            <a:endParaRPr lang="en-US"/>
          </a:p>
        </p:txBody>
      </p:sp>
      <p:sp>
        <p:nvSpPr>
          <p:cNvPr id="10" name="Text 8"/>
          <p:cNvSpPr/>
          <p:nvPr/>
        </p:nvSpPr>
        <p:spPr>
          <a:xfrm>
            <a:off x="4892040" y="1572768"/>
            <a:ext cx="457200" cy="365760"/>
          </a:xfrm>
          <a:prstGeom prst="rect">
            <a:avLst/>
          </a:prstGeom>
          <a:noFill/>
          <a:ln/>
        </p:spPr>
        <p:txBody>
          <a:bodyPr wrap="square" lIns="0" tIns="0" rIns="0" bIns="0" rtlCol="0" anchor="ctr"/>
          <a:lstStyle/>
          <a:p>
            <a:pPr marL="0" indent="0">
              <a:buNone/>
            </a:pPr>
            <a:r>
              <a:rPr lang="en-US" sz="2000" b="1" dirty="0">
                <a:solidFill>
                  <a:srgbClr val="D7191C"/>
                </a:solidFill>
                <a:latin typeface="Cambria" pitchFamily="34" charset="0"/>
                <a:ea typeface="Cambria" pitchFamily="34" charset="-122"/>
                <a:cs typeface="Cambria" pitchFamily="34" charset="-120"/>
              </a:rPr>
              <a:t>02</a:t>
            </a:r>
            <a:endParaRPr lang="en-US" sz="2000" dirty="0"/>
          </a:p>
        </p:txBody>
      </p:sp>
      <p:sp>
        <p:nvSpPr>
          <p:cNvPr id="11" name="Text 9"/>
          <p:cNvSpPr/>
          <p:nvPr/>
        </p:nvSpPr>
        <p:spPr>
          <a:xfrm>
            <a:off x="5413248" y="1572768"/>
            <a:ext cx="3337560" cy="384048"/>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Deep Learning with Geographic Embeddings</a:t>
            </a:r>
            <a:endParaRPr lang="en-US" sz="1200" dirty="0"/>
          </a:p>
        </p:txBody>
      </p:sp>
      <p:sp>
        <p:nvSpPr>
          <p:cNvPr id="12" name="Text 10"/>
          <p:cNvSpPr/>
          <p:nvPr/>
        </p:nvSpPr>
        <p:spPr>
          <a:xfrm>
            <a:off x="4892040" y="2011680"/>
            <a:ext cx="3886200" cy="1005840"/>
          </a:xfrm>
          <a:prstGeom prst="rect">
            <a:avLst/>
          </a:prstGeom>
          <a:noFill/>
          <a:ln/>
        </p:spPr>
        <p:txBody>
          <a:bodyPr wrap="square" lIns="0" tIns="0" rIns="0" bIns="0" rtlCol="0" anchor="t"/>
          <a:lstStyle/>
          <a:p>
            <a:pPr marL="0" indent="0">
              <a:buNone/>
            </a:pPr>
            <a:r>
              <a:rPr lang="en-US" sz="1050" dirty="0">
                <a:solidFill>
                  <a:srgbClr val="C8D8F0"/>
                </a:solidFill>
                <a:latin typeface="Calibri" pitchFamily="34" charset="0"/>
                <a:ea typeface="Calibri" pitchFamily="34" charset="-122"/>
                <a:cs typeface="Calibri" pitchFamily="34" charset="-120"/>
              </a:rPr>
              <a:t>A properly regularised neural network with learned embeddings for geographic coordinates may surpass the XGBoost benchmark. Coordinate embedding via positional encoding is a natural adaptation from sequence modelling.</a:t>
            </a:r>
            <a:endParaRPr lang="en-US" sz="1050" dirty="0"/>
          </a:p>
        </p:txBody>
      </p:sp>
      <p:sp>
        <p:nvSpPr>
          <p:cNvPr id="13" name="Shape 11"/>
          <p:cNvSpPr/>
          <p:nvPr/>
        </p:nvSpPr>
        <p:spPr>
          <a:xfrm>
            <a:off x="320040" y="3291840"/>
            <a:ext cx="4160520" cy="1645920"/>
          </a:xfrm>
          <a:prstGeom prst="rect">
            <a:avLst/>
          </a:prstGeom>
          <a:solidFill>
            <a:srgbClr val="F0F4FA"/>
          </a:solidFill>
          <a:ln w="12700">
            <a:solidFill>
              <a:srgbClr val="D0D8E8"/>
            </a:solidFill>
            <a:prstDash val="solid"/>
          </a:ln>
        </p:spPr>
        <p:txBody>
          <a:bodyPr/>
          <a:lstStyle/>
          <a:p>
            <a:endParaRPr lang="en-US"/>
          </a:p>
        </p:txBody>
      </p:sp>
      <p:sp>
        <p:nvSpPr>
          <p:cNvPr id="14" name="Text 12"/>
          <p:cNvSpPr/>
          <p:nvPr/>
        </p:nvSpPr>
        <p:spPr>
          <a:xfrm>
            <a:off x="457200" y="3401568"/>
            <a:ext cx="457200" cy="365760"/>
          </a:xfrm>
          <a:prstGeom prst="rect">
            <a:avLst/>
          </a:prstGeom>
          <a:noFill/>
          <a:ln/>
        </p:spPr>
        <p:txBody>
          <a:bodyPr wrap="square" lIns="0" tIns="0" rIns="0" bIns="0" rtlCol="0" anchor="ctr"/>
          <a:lstStyle/>
          <a:p>
            <a:pPr marL="0" indent="0">
              <a:buNone/>
            </a:pPr>
            <a:r>
              <a:rPr lang="en-US" sz="2000" b="1" dirty="0">
                <a:solidFill>
                  <a:srgbClr val="D7191C"/>
                </a:solidFill>
                <a:latin typeface="Cambria" pitchFamily="34" charset="0"/>
                <a:ea typeface="Cambria" pitchFamily="34" charset="-122"/>
                <a:cs typeface="Cambria" pitchFamily="34" charset="-120"/>
              </a:rPr>
              <a:t>03</a:t>
            </a:r>
            <a:endParaRPr lang="en-US" sz="2000" dirty="0"/>
          </a:p>
        </p:txBody>
      </p:sp>
      <p:sp>
        <p:nvSpPr>
          <p:cNvPr id="15" name="Text 13"/>
          <p:cNvSpPr/>
          <p:nvPr/>
        </p:nvSpPr>
        <p:spPr>
          <a:xfrm>
            <a:off x="978408" y="3401568"/>
            <a:ext cx="3337560" cy="384048"/>
          </a:xfrm>
          <a:prstGeom prst="rect">
            <a:avLst/>
          </a:prstGeom>
          <a:noFill/>
          <a:ln/>
        </p:spPr>
        <p:txBody>
          <a:bodyPr wrap="square" lIns="0" tIns="0" rIns="0" bIns="0" rtlCol="0" anchor="ctr"/>
          <a:lstStyle/>
          <a:p>
            <a:pPr marL="0" indent="0">
              <a:buNone/>
            </a:pPr>
            <a:r>
              <a:rPr lang="en-US" sz="1200" b="1" dirty="0">
                <a:solidFill>
                  <a:srgbClr val="1E2761"/>
                </a:solidFill>
                <a:latin typeface="Cambria" pitchFamily="34" charset="0"/>
                <a:ea typeface="Cambria" pitchFamily="34" charset="-122"/>
                <a:cs typeface="Cambria" pitchFamily="34" charset="-120"/>
              </a:rPr>
              <a:t>Uncertainty Quantification</a:t>
            </a:r>
            <a:endParaRPr lang="en-US" sz="1200" dirty="0"/>
          </a:p>
        </p:txBody>
      </p:sp>
      <p:sp>
        <p:nvSpPr>
          <p:cNvPr id="16" name="Text 14"/>
          <p:cNvSpPr/>
          <p:nvPr/>
        </p:nvSpPr>
        <p:spPr>
          <a:xfrm>
            <a:off x="457200" y="3840480"/>
            <a:ext cx="3886200" cy="1005840"/>
          </a:xfrm>
          <a:prstGeom prst="rect">
            <a:avLst/>
          </a:prstGeom>
          <a:noFill/>
          <a:ln/>
        </p:spPr>
        <p:txBody>
          <a:bodyPr wrap="square" lIns="0" tIns="0" rIns="0" bIns="0" rtlCol="0" anchor="t"/>
          <a:lstStyle/>
          <a:p>
            <a:pPr marL="0" indent="0">
              <a:buNone/>
            </a:pPr>
            <a:r>
              <a:rPr lang="en-US" sz="1050" dirty="0">
                <a:solidFill>
                  <a:srgbClr val="111827"/>
                </a:solidFill>
                <a:latin typeface="Calibri" pitchFamily="34" charset="0"/>
                <a:ea typeface="Calibri" pitchFamily="34" charset="-122"/>
                <a:cs typeface="Calibri" pitchFamily="34" charset="-120"/>
              </a:rPr>
              <a:t>This project reports point predictions. Conformal prediction or quantile regression forests would provide prediction intervals, essential for any practical deployment in housing market analysis or investment appraisal.</a:t>
            </a:r>
            <a:endParaRPr lang="en-US" sz="1050" dirty="0"/>
          </a:p>
        </p:txBody>
      </p:sp>
      <p:sp>
        <p:nvSpPr>
          <p:cNvPr id="17" name="Shape 15"/>
          <p:cNvSpPr/>
          <p:nvPr/>
        </p:nvSpPr>
        <p:spPr>
          <a:xfrm>
            <a:off x="4754880" y="3291840"/>
            <a:ext cx="4160520" cy="1645920"/>
          </a:xfrm>
          <a:prstGeom prst="rect">
            <a:avLst/>
          </a:prstGeom>
          <a:solidFill>
            <a:srgbClr val="1E2761"/>
          </a:solidFill>
          <a:ln w="12700">
            <a:solidFill>
              <a:srgbClr val="1E2761"/>
            </a:solidFill>
            <a:prstDash val="solid"/>
          </a:ln>
        </p:spPr>
        <p:txBody>
          <a:bodyPr/>
          <a:lstStyle/>
          <a:p>
            <a:endParaRPr lang="en-US"/>
          </a:p>
        </p:txBody>
      </p:sp>
      <p:sp>
        <p:nvSpPr>
          <p:cNvPr id="18" name="Text 16"/>
          <p:cNvSpPr/>
          <p:nvPr/>
        </p:nvSpPr>
        <p:spPr>
          <a:xfrm>
            <a:off x="4892040" y="3401568"/>
            <a:ext cx="457200" cy="365760"/>
          </a:xfrm>
          <a:prstGeom prst="rect">
            <a:avLst/>
          </a:prstGeom>
          <a:noFill/>
          <a:ln/>
        </p:spPr>
        <p:txBody>
          <a:bodyPr wrap="square" lIns="0" tIns="0" rIns="0" bIns="0" rtlCol="0" anchor="ctr"/>
          <a:lstStyle/>
          <a:p>
            <a:pPr marL="0" indent="0">
              <a:buNone/>
            </a:pPr>
            <a:r>
              <a:rPr lang="en-US" sz="2000" b="1" dirty="0">
                <a:solidFill>
                  <a:srgbClr val="D7191C"/>
                </a:solidFill>
                <a:latin typeface="Cambria" pitchFamily="34" charset="0"/>
                <a:ea typeface="Cambria" pitchFamily="34" charset="-122"/>
                <a:cs typeface="Cambria" pitchFamily="34" charset="-120"/>
              </a:rPr>
              <a:t>04</a:t>
            </a:r>
            <a:endParaRPr lang="en-US" sz="2000" dirty="0"/>
          </a:p>
        </p:txBody>
      </p:sp>
      <p:sp>
        <p:nvSpPr>
          <p:cNvPr id="19" name="Text 17"/>
          <p:cNvSpPr/>
          <p:nvPr/>
        </p:nvSpPr>
        <p:spPr>
          <a:xfrm>
            <a:off x="5413248" y="3401568"/>
            <a:ext cx="3337560" cy="384048"/>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The Ceiling Effect</a:t>
            </a:r>
            <a:endParaRPr lang="en-US" sz="1200" dirty="0"/>
          </a:p>
        </p:txBody>
      </p:sp>
      <p:sp>
        <p:nvSpPr>
          <p:cNvPr id="20" name="Text 18"/>
          <p:cNvSpPr/>
          <p:nvPr/>
        </p:nvSpPr>
        <p:spPr>
          <a:xfrm>
            <a:off x="4892040" y="3840480"/>
            <a:ext cx="3886200" cy="1005840"/>
          </a:xfrm>
          <a:prstGeom prst="rect">
            <a:avLst/>
          </a:prstGeom>
          <a:noFill/>
          <a:ln/>
        </p:spPr>
        <p:txBody>
          <a:bodyPr wrap="square" lIns="0" tIns="0" rIns="0" bIns="0" rtlCol="0" anchor="t"/>
          <a:lstStyle/>
          <a:p>
            <a:pPr marL="0" indent="0">
              <a:buNone/>
            </a:pPr>
            <a:r>
              <a:rPr lang="en-US" sz="1050" dirty="0">
                <a:solidFill>
                  <a:srgbClr val="C8D8F0"/>
                </a:solidFill>
                <a:latin typeface="Calibri" pitchFamily="34" charset="0"/>
                <a:ea typeface="Calibri" pitchFamily="34" charset="-122"/>
                <a:cs typeface="Calibri" pitchFamily="34" charset="-120"/>
              </a:rPr>
              <a:t>The value $500,001 appears 965 times in the dataset. This is not noise; it is censoring. Tobit regression or a survival analysis framing could model this truncation explicitly and recover unbiased coefficient estimates for the upper tail.</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284</TotalTime>
  <Words>1606</Words>
  <Application>Microsoft Office PowerPoint</Application>
  <PresentationFormat>On-screen Show (16:9)</PresentationFormat>
  <Paragraphs>263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Linearity</dc:title>
  <dc:subject>PptxGenJS Presentation</dc:subject>
  <dc:creator>Assumpta Mwikali, Olive Mideva Muloma, Trevor Anjeyo Vuhyah, Valerie Jerono</dc:creator>
  <cp:lastModifiedBy>Mwikali Assumpta</cp:lastModifiedBy>
  <cp:revision>10</cp:revision>
  <dcterms:created xsi:type="dcterms:W3CDTF">2026-05-11T20:53:31Z</dcterms:created>
  <dcterms:modified xsi:type="dcterms:W3CDTF">2026-05-19T15:58:07Z</dcterms:modified>
</cp:coreProperties>
</file>