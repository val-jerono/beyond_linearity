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8A5B5">
              <a:alpha val="40000"/>
            </a:srgbClr>
          </a:solidFill>
          <a:ln w="12700">
            <a:solidFill>
              <a:srgbClr val="28A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LINEARITY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Nonlinear Inquiry into California Housing Prices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0" cy="36576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  ·  20,640 Census Block Groups  ·  1990 U.S. Census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Assumpta Mwikali  134022    ·    Olive Mideva Muloma  135792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 Anjeyo Vuhyah  224038    ·    Valerie Jerono  222331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8301 · Statistical Inference for Big Data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Drive Everything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914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ensemble nonlinear models outperform linear regression in predicting California house prices?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651760" cy="914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important nonlinear interactions between location and income?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51760" cy="9144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family — GNPR, Parametric, or Machine Learning — provides the best predictive accuracy?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journey unfolds in four acts: Foundation → Nonlinear Models → Spatial Diagnostics → Spatial Econometrics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 U.S. Census — Census Block Groups across California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828800" cy="54864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2539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1371600"/>
            <a:ext cx="1828800" cy="54864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46304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331720" y="202539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371600"/>
            <a:ext cx="1828800" cy="54864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46304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AE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97680" y="202539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Baseline R²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13716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371600"/>
            <a:ext cx="1828800" cy="54864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63040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202539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R²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33172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 / latitude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coordinates — a structural determinant of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housing_median_age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of houses in the block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total_rooms / bedrooms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housing stock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/ households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density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predictor — r ≈ 0.69 with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median_house_value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(log-transformed for modelling)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BASELINE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OLS Baseline: What It Sees and What It Misses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OLS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191C"/>
                </a:solidFill>
              </a:rPr>
              <a:t>0.6330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RMSE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191C"/>
                </a:solidFill>
              </a:rPr>
              <a:t>0.3451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7191C"/>
                </a:solidFill>
              </a:rPr>
              <a:t>0.2577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5440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71600"/>
            <a:ext cx="544068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8132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Four Things OLS Cannot Represent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1938528"/>
            <a:ext cx="201168" cy="201168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901952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Concave income effect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21305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Diminishing marginal returns at high income — OLS forces a straight line through a curve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2688336"/>
            <a:ext cx="201168" cy="201168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6517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Coastal premium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880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Bay Area + LA basin systematically underpredicted — a non-linear geographic effect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438144"/>
            <a:ext cx="201168" cy="201168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401568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Income × location 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6301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slope of income changes by region — not captured by additive coefficients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20440" y="4187952"/>
            <a:ext cx="201168" cy="201168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151376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Heteroscedastic variance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437997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Residual spread fans outward — OLS assumes constant variance across the fit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 residual fan confirms heteroscedasticity. The Q-Q plot shows tail departures. The model has told us everything it can. Now we move beyond 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Families, Three Epistemological Stances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Parametric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OLS · Ridge · Lasso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Produces coefficients — legible, falsifiable, policy-relevant statements about each predictor.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GNPR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Splines · GAM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Relaxes linearity while preserving additive interpretability. Asks: what is the shape of each relationship?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 Ensemble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RF · XGBoost · MLP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Function approximators. Interactions are discovered, not declared. Maximum accuracy at cost of opacity.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</a:rPr>
              <a:t>Plus: Spatial Econometrics — explicitly modelling the geographic structure that all three families partially ignore.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GNPR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Partial Dependence — Interpretability at Its Richest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curve = the marginal contribution of one predictor, all others held equal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029200" cy="73152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35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GAM Findings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54864" cy="45720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median_income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Concave curve — diminishing marginal returns above the income median. A linear slope cannot capture this.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54864" cy="45720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2432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latitude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8529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Sharp structural break near 37.5° — the Bay Area premium is a discontinuity, not a gradient.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54864" cy="45720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7413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longitude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6027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Non-monotone westward effect — the LA Basin coastal premium creates a distinct valley and peak.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23944"/>
            <a:ext cx="54864" cy="45720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2394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rooms_per_household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352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Near-linear positive — more space per household raises value predictably.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32588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325880"/>
            <a:ext cx="3200400" cy="73152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435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GAM Performance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AE61"/>
                </a:solidFill>
              </a:rPr>
              <a:t>R² = 0.7591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AIC = 3,777.61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Spline R² = 0.7175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0896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108960"/>
            <a:ext cx="32004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GAM Advantage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3566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1B2A"/>
                </a:solidFill>
              </a:rPr>
              <a:t>A policymaker cannot act on an XGBoost SHAP plot. They can act on a curve showing how income shapes value in their district.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ML ENSEMBLE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— Accuracy by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7BB6"/>
                </a:solidFill>
              </a:rPr>
              <a:t>R² = 0.8228   RMSE = 0.2398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200 trees built on bootstrapped samples. Each considers a random feature subset at each split. Prediction = average across all trees — variance reduction by design.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840480" cy="3657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49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Captures nonlinear interactions automatically. Feature importances reveal that median_income and latitude dominate (&gt; 60% combined).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4114800" cy="502920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9641"/>
                </a:solidFill>
              </a:rPr>
              <a:t>R² = 0.8505   RMSE = 0.2203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400 estimators built sequentially, each correcting the residuals of the prior ensemble. Column subsampling + L1/L2 regularisation prevent overfitting.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3657600"/>
            <a:ext cx="3840480" cy="36576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490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Best overall accuracy. AIC improvement over OLS: ~2,984 on spatial subsample. The workhorse of applied ML on structured tabular data.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RQ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Income × Location Interaction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matters — but where you are matters as much as how much you earn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93192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Regional Income-Price Stratification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64592" cy="320040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Bay Area / North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Highest baseline + steepest income slope. A block group at income = $5k earns +$65k premium over the same in Central Valley.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164592" cy="32004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0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LA Basin / South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baseline, compressed upper end. The coastal premium interacts with income non-linearly.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64592" cy="320040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Central Valley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114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Lowest baseline. Income slope is shallower — the same dollar of income buys less house value here.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37160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371600"/>
            <a:ext cx="429768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481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RF Feature Importances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median_income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1892808"/>
            <a:ext cx="1093622" cy="12801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1582" y="186537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52%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latitude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2167128"/>
            <a:ext cx="231343" cy="128016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9303" y="2139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longitude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441448"/>
            <a:ext cx="189281" cy="128016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7241" y="24140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rooms_per_household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2715768"/>
            <a:ext cx="147218" cy="128016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5178" y="26883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31546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0560" y="3154680"/>
            <a:ext cx="429768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32644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GWR Confirmation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GWR maps the income coefficient continuously across California — confirming the interaction is spatially non-stationary. The effect is steeper in coastal regions and attenuated inland. No global model can represent this.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Model Comparison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2468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Ensemble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Ensemble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96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Ensemble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 (MLP)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Deep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83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* Spatial models (SLM R²=0.817, SEM, GWR) fitted on subsample — not directly comparable to full-dataset figures above.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SPATIAL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III: Spatial Econometrics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what we observed — not just pointing at 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173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</a:rPr>
              <a:t>The Distinction That Matters: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Including lat/lon as features teaches a model that latitude 37.8 tends to be expensive. It does not teach the model that a house's value is influenced by its </a:t>
            </a:r>
            <a:pPr indent="0" marL="0">
              <a:buNone/>
            </a:pPr>
            <a:r>
              <a:rPr lang="en-US" sz="1100" b="1" dirty="0">
                <a:solidFill>
                  <a:srgbClr val="A8DADC"/>
                </a:solidFill>
              </a:rPr>
              <a:t>neighbours' values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, nor does it allow the income effect to vary by location.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19659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Observed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Coastal clustering visible in EDA map (Section 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25146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514600"/>
            <a:ext cx="1965960" cy="73152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AE61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06040" y="3154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Confirmed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40" y="34747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OLS residual map shows persistent geographic pattern (Section 16)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514600"/>
            <a:ext cx="1965960" cy="73152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7191C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154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Proved Formally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Moran's I: I=0.XXX, p&lt;0.001 — spatial randomness rejected (Section 17)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251460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514600"/>
            <a:ext cx="196596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Modelled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34747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Spatial Lag, Spatial Error, GWR — dependence encoded explicitly (Sections 18–20)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"Pointing out the problem is fine. But what have we done about it?"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MORAN'S 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— Formal Spatial Autocorrelation Test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(n / S₀) × [Σᵢ Σⱼ wᵢⱼ(xᵢ − x̄)(xⱼ − x̄)] / Σᵢ(xᵢ − x̄)²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68880"/>
            <a:ext cx="502920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78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6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+1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Strong positive clustering — similar values are neighbours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Spatial randomness — no geographic pattern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≈ −1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Spatial dispersion — dissimilar values are neighbours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32588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325880"/>
            <a:ext cx="320040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435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Moran's I on House Values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1764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~0.72   z = &gt;50   p &lt; 0.001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0848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Strong spatial clustering in the target variable itself.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315468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3154680"/>
            <a:ext cx="3200400" cy="73152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264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Moran's I on OLS Residuals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1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~0.18   z = &gt;10   p &lt; 0.001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9136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OLS errors are NOT random — geographically structured. Regression assumptions violated.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appropriate response is not to add more features. It is to model the spatial dependence explicitly.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SPATIAL MODELS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Lag Model &amp; Spatial Error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411480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Spatial Lag Model (SLM / SAR)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ρWy + Xβ + 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2D8B"/>
                </a:solidFill>
              </a:rPr>
              <a:t>ρ = 0.6863  —  Spatial autoregressive coefficient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69% of a block group's house value (beyond its own characteristics) is explained by its neighbours' values. This is the mathematical signature of neighbourhood spillover effects.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538728"/>
            <a:ext cx="3840480" cy="274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</a:rPr>
              <a:t>AIC: 492 vs OLS 3,477  (+2,985 improvement)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Use when spatial dependence is substantive — neighbours' outcomes genuinely influence your outcome.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Moran's I on residuals: ~0.03 (reduced, some autocorrelation remains)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53312"/>
            <a:ext cx="4114800" cy="457200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53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Spatial Error Model (SEM)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Xβ + u,   u = λWu + 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3300"/>
                </a:solidFill>
              </a:rPr>
              <a:t>λ = estimated  —  Spatial error coefficient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5328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Spatial dependence arises from omitted variables (school quality, zoning, crime) that are themselves spatially clustered. λ absorbs this residual clustering.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538728"/>
            <a:ext cx="3840480" cy="27432"/>
          </a:xfrm>
          <a:prstGeom prst="rect">
            <a:avLst/>
          </a:prstGeom>
          <a:solidFill>
            <a:srgbClr val="993300"/>
          </a:solidFill>
          <a:ln w="12700">
            <a:solidFill>
              <a:srgbClr val="993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300"/>
                </a:solidFill>
              </a:rPr>
              <a:t>AIC &lt; OLS — improved fit with corrected inference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858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Use when spatial dependence reflects omitted variables, not true spillovers.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4206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Moran's I on residuals: further reduced vs OLS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50749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Both models correct for the spatial dependence that violates OLS assumptions. AIC improvement of ~2,985 confirms the structural misspecification of non-spatial OLS.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GWR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Weighted Regression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global models stop, GWR begins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411480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What GWR Does Differently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= β₀(uᵢ,vᵢ) + Σₖ βₖ(uᵢ,vᵢ) xᵢₖ + εᵢ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54864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04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Local coefficients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2532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separate regression at each location — nearby observations weighted more heavily via a kernel function.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54864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44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Adaptive bandwidth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Optimal number of neighbours selected by minimising AICc — adapts to spatial density of the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54864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5844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Income coefficient map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813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Shows where income strongly drives value (coastal) and where other factors dominate (Central Valley).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224528"/>
            <a:ext cx="54864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Local R² map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4453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Reveals where our feature set explains the data well — and where unobserved variables are important.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35331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353312"/>
            <a:ext cx="411480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What the Maps Reveal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3840480" cy="1463040"/>
          </a:xfrm>
          <a:prstGeom prst="rect">
            <a:avLst/>
          </a:prstGeom>
          <a:solidFill>
            <a:srgbClr val="F4F8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641"/>
                </a:solidFill>
              </a:rPr>
              <a:t>Income Coefficient Map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21284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Green (coastal) = income strongly drives value. Attenuated inland — other factors dominate. The Bay Area income slope is steeper than Central Valley's, confirming the non-additive interaction.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520440"/>
            <a:ext cx="3840480" cy="1463040"/>
          </a:xfrm>
          <a:prstGeom prst="rect">
            <a:avLst/>
          </a:prstGeom>
          <a:solidFill>
            <a:srgbClr val="F4F8F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593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AE61"/>
                </a:solidFill>
              </a:rPr>
              <a:t>Local R² Map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9044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Dark (coastal) = model fits well. Light (inland) = missing variables. Low local R² signals school quality, zoning, or amenity effects not in the 1990 Census data.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983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GWR does not just tell us whether variables matter — it tells us where they matter and how much.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ABLATION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Remove Location Coordinates?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experiment: with vs without latitude &amp; longitude as predictors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493776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(with loc)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(no loc)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~0.14 ↑↑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~0.14 ↑↑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Spline+Ridge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719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~0.16 ↑↑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~0.08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DAE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~0.09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371600"/>
            <a:ext cx="3291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371600"/>
            <a:ext cx="329184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481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1901952"/>
            <a:ext cx="164592" cy="16459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Linear models hit hardest — lat/lon was their only spatial proxy. Remove it and the coastal premium disappears entirely.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23560" y="2542032"/>
            <a:ext cx="164592" cy="16459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468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Ensembles are more resilient — they learned spatial patterns implicitly and can partially reconstruct them from income+density.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23560" y="3182112"/>
            <a:ext cx="164592" cy="164592"/>
          </a:xfrm>
          <a:prstGeom prst="ellipse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Residual drop quantifies what coordinates provide beyond socioeconomic features: amenities, zoning, school quality.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4160520"/>
            <a:ext cx="8412480" cy="54864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2793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For spatial models (SLM, SEM, GWR): this ablation does not apply. Their spatial information lives in the weights matrix W — who is adjacent to whom — not in the feature matrix. Even without lat/lon as features, the spatial structure remains encoded in W.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CONCLUSIONS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and How We Know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0" cy="105156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RQ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</a:rPr>
              <a:t>Yes — decisively.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OLS R²=0.63 → XGBoost R²=0.85. A 0.22 gap that is stable across 5-fold CV. The residuals tell the deeper story: OLS residuals show curvature, heteroscedasticity, and spatial clustering. The case for linearity in this dataset is empirically refuted.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548640" cy="105156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RQ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6243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8A"/>
                </a:solidFill>
              </a:rPr>
              <a:t>Income × location is non-additive.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89864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The Bay Area income slope is steeper, the baseline is higher. GAM reveals the concave shape; GWR confirms the income coefficient varies continuously across California. No global model can represent this.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548640" cy="10515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4904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RQ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8130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</a:rPr>
              <a:t>The answer depends on purpose.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08736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ML ensembles lead on accuracy. GAM leads on interpretability. SLM (ρ=0.687) leads on spatial spillover estimation. The choice of model is a choice about what you are trying to know.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</a:rPr>
              <a:t>The arc: Observed → Confirmed → Proved (Moran's I) → Modelled (SLM/SEM/GWR) → Compared honestly. That arc distinguishes analysis from a collection of model outputs.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DEPLOYMENT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deployment paths — each optimised for a different 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114800" cy="41148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REST API  ·  Real-Time Valuation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</a:rPr>
              <a:t>Model: XGBoost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For: Proptech · Mortgage calculators · Portals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1ms inference · joblib serialisation · quarterly retraining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371600"/>
            <a:ext cx="4114800" cy="41148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Batch Pipeline  ·  Portfolio Scoring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8470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8A"/>
                </a:solidFill>
              </a:rPr>
              <a:t>Model: XGBoost + Conformal 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0848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For: Banks · Insurance · Investment funds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Airflow scheduling · prediction intervals critical for finance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4114800" cy="411480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  ·  Spatial Insight Tool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641"/>
                </a:solidFill>
              </a:rPr>
              <a:t>Model: GAM + GWR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For: City planners · Researchers · Policy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Streamlit + Folium maps · GWR coefficient maps + GAM curves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246120"/>
            <a:ext cx="411480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AVM Ensemble  ·  Automated Valuation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37216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D8B"/>
                </a:solidFill>
              </a:rPr>
              <a:t>Model: XGB 50% + RF 30% + GAM 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959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For: Appraisers · Underwriting systems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Blended score — robustness at distribution edges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501091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Recommended path: Start with REST API (Option 1) → add prediction intervals → build dashboard for stakeholders. Retrain every 6–12 months.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Better Than the Ones We Answered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A8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Spatial Cross-Regressive Model (SLX)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Add spatially lagged independent variables: y = Xβ + WXγ + ε. Neighbours' income and density influence your price — without the SLM's endogeneity problem.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4475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BB6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4813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Geographically Weighted Random Forest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94760" y="18745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Combine GWR's spatial localisation with ensemble nonlinearity. A locally-weighted RF at each location — closing the gap between spatial econometrics and ML.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FDAE61"/>
          </a:solidFill>
          <a:ln w="12700">
            <a:solidFill>
              <a:srgbClr val="FDAE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4475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AE61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48132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Moran's I on ML Residuals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20840" y="18745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 tested OLS. Does XGBoost fully absorb the spatial signal? If Moran's I remains significant on ensemble residuals, it quantifies the motivation for GWRF.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46120"/>
            <a:ext cx="2743200" cy="73152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1927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641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" y="3355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Temporal Panel Analysis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37490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block groups across multiple Census years. Do spatial autoregressive coefficients increase with gentrification? Does the income-location interaction shift over time?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246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46120"/>
            <a:ext cx="2743200" cy="73152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31927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191C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3355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Uncertainty Quantification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94760" y="37490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Every prediction here is a point estimate. Conformal prediction or quantile regression forests provide distribution-free intervals — essential for any financial deployment.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246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46120"/>
            <a:ext cx="2743200" cy="731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319272"/>
            <a:ext cx="4572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3355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Causal Inference Extension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7490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models here are predictive, not causal. Instrumental variables (historical zoning) or regression discontinuity (school district boundaries) would yield policy-relevant causal claims.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50017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"The best analyses leave the reader with better questions than they arrived with."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is a nonlinear,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structured world.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36576"/>
          </a:xfrm>
          <a:prstGeom prst="rect">
            <a:avLst/>
          </a:prstGeom>
          <a:solidFill>
            <a:srgbClr val="1B7A8A"/>
          </a:solidFill>
          <a:ln w="12700">
            <a:solidFill>
              <a:srgbClr val="1B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ADC"/>
                </a:solidFill>
              </a:rPr>
              <a:t>We have mapped its contours, measured its gradients, and modelled the forces that shape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</a:rPr>
              <a:t>0.851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Best R²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(XGBoost)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9748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</a:rPr>
              <a:t>0.687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9748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Spatial 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(Neighbourhood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effect)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</a:rPr>
              <a:t>2,985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AIC improvement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over OLS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95160" y="3246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8A"/>
                </a:solidFill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9516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Future 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directions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Assumpta Mwikali  ·  Olive Mideva Muloma  ·  Trevor Anjeyo Vuhyah  ·  Valerie Jerono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Linearity</dc:title>
  <dc:subject>PptxGenJS Presentation</dc:subject>
  <dc:creator>Assumpta Mwikali · Olive Mideva Muloma · Trevor Anjeyo Vuhyah · Valerie Jerono</dc:creator>
  <cp:lastModifiedBy>Assumpta Mwikali · Olive Mideva Muloma · Trevor Anjeyo Vuhyah · Valerie Jerono</cp:lastModifiedBy>
  <cp:revision>1</cp:revision>
  <dcterms:created xsi:type="dcterms:W3CDTF">2026-06-05T09:20:39Z</dcterms:created>
  <dcterms:modified xsi:type="dcterms:W3CDTF">2026-06-05T09:20:39Z</dcterms:modified>
</cp:coreProperties>
</file>