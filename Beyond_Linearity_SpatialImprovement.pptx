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1B7A8A"/>
          </a:solidFill>
          <a:ln w="12700">
            <a:solidFill>
              <a:srgbClr val="1B7A8A"/>
            </a:solidFill>
            <a:prstDash val="solid"/>
          </a:ln>
        </p:spPr>
      </p:sp>
      <p:sp>
        <p:nvSpPr>
          <p:cNvPr id="3" name="Shape 1"/>
          <p:cNvSpPr/>
          <p:nvPr/>
        </p:nvSpPr>
        <p:spPr>
          <a:xfrm>
            <a:off x="8823960" y="0"/>
            <a:ext cx="320040" cy="5143500"/>
          </a:xfrm>
          <a:prstGeom prst="rect">
            <a:avLst/>
          </a:prstGeom>
          <a:solidFill>
            <a:srgbClr val="28A5B5">
              <a:alpha val="40000"/>
            </a:srgbClr>
          </a:solidFill>
          <a:ln w="12700">
            <a:solidFill>
              <a:srgbClr val="28A5B5"/>
            </a:solidFill>
            <a:prstDash val="solid"/>
          </a:ln>
        </p:spPr>
      </p:sp>
      <p:sp>
        <p:nvSpPr>
          <p:cNvPr id="4" name="Text 2"/>
          <p:cNvSpPr/>
          <p:nvPr/>
        </p:nvSpPr>
        <p:spPr>
          <a:xfrm>
            <a:off x="548640" y="822960"/>
            <a:ext cx="8046720" cy="1005840"/>
          </a:xfrm>
          <a:prstGeom prst="rect">
            <a:avLst/>
          </a:prstGeom>
          <a:noFill/>
          <a:ln/>
        </p:spPr>
        <p:txBody>
          <a:bodyPr wrap="square" rtlCol="0" anchor="ctr"/>
          <a:lstStyle/>
          <a:p>
            <a:pPr algn="l" indent="0" marL="0">
              <a:buNone/>
            </a:pPr>
            <a:r>
              <a:rPr lang="en-US" sz="4800" b="1" spc="300" kern="0" dirty="0">
                <a:solidFill>
                  <a:srgbClr val="FFFFFF"/>
                </a:solidFill>
                <a:latin typeface="Calibri" pitchFamily="34" charset="0"/>
                <a:ea typeface="Calibri" pitchFamily="34" charset="-122"/>
                <a:cs typeface="Calibri" pitchFamily="34" charset="-120"/>
              </a:rPr>
              <a:t>BEYOND LINEARITY</a:t>
            </a:r>
            <a:endParaRPr lang="en-US" sz="4800" dirty="0"/>
          </a:p>
        </p:txBody>
      </p:sp>
      <p:sp>
        <p:nvSpPr>
          <p:cNvPr id="5" name="Text 3"/>
          <p:cNvSpPr/>
          <p:nvPr/>
        </p:nvSpPr>
        <p:spPr>
          <a:xfrm>
            <a:off x="548640" y="1920240"/>
            <a:ext cx="8046720" cy="457200"/>
          </a:xfrm>
          <a:prstGeom prst="rect">
            <a:avLst/>
          </a:prstGeom>
          <a:noFill/>
          <a:ln/>
        </p:spPr>
        <p:txBody>
          <a:bodyPr wrap="square" rtlCol="0" anchor="ctr"/>
          <a:lstStyle/>
          <a:p>
            <a:pPr indent="0" marL="0">
              <a:buNone/>
            </a:pPr>
            <a:r>
              <a:rPr lang="en-US" sz="1800" i="1" dirty="0">
                <a:solidFill>
                  <a:srgbClr val="A8DADC"/>
                </a:solidFill>
                <a:latin typeface="Calibri" pitchFamily="34" charset="0"/>
                <a:ea typeface="Calibri" pitchFamily="34" charset="-122"/>
                <a:cs typeface="Calibri" pitchFamily="34" charset="-120"/>
              </a:rPr>
              <a:t>A Nonlinear Inquiry into California Housing Prices</a:t>
            </a:r>
            <a:endParaRPr lang="en-US" sz="1800" dirty="0"/>
          </a:p>
        </p:txBody>
      </p:sp>
      <p:sp>
        <p:nvSpPr>
          <p:cNvPr id="6" name="Shape 4"/>
          <p:cNvSpPr/>
          <p:nvPr/>
        </p:nvSpPr>
        <p:spPr>
          <a:xfrm>
            <a:off x="548640" y="2514600"/>
            <a:ext cx="3657600" cy="36576"/>
          </a:xfrm>
          <a:prstGeom prst="rect">
            <a:avLst/>
          </a:prstGeom>
          <a:solidFill>
            <a:srgbClr val="1B7A8A"/>
          </a:solidFill>
          <a:ln w="12700">
            <a:solidFill>
              <a:srgbClr val="1B7A8A"/>
            </a:solidFill>
            <a:prstDash val="solid"/>
          </a:ln>
        </p:spPr>
      </p:sp>
      <p:sp>
        <p:nvSpPr>
          <p:cNvPr id="7" name="Text 5"/>
          <p:cNvSpPr/>
          <p:nvPr/>
        </p:nvSpPr>
        <p:spPr>
          <a:xfrm>
            <a:off x="548640" y="2697480"/>
            <a:ext cx="8046720" cy="274320"/>
          </a:xfrm>
          <a:prstGeom prst="rect">
            <a:avLst/>
          </a:prstGeom>
          <a:noFill/>
          <a:ln/>
        </p:spPr>
        <p:txBody>
          <a:bodyPr wrap="square" rtlCol="0" anchor="ctr"/>
          <a:lstStyle/>
          <a:p>
            <a:pPr indent="0" marL="0">
              <a:buNone/>
            </a:pPr>
            <a:r>
              <a:rPr lang="en-US" sz="1100" dirty="0">
                <a:solidFill>
                  <a:srgbClr val="A8DADC"/>
                </a:solidFill>
                <a:latin typeface="Calibri" pitchFamily="34" charset="0"/>
                <a:ea typeface="Calibri" pitchFamily="34" charset="-122"/>
                <a:cs typeface="Calibri" pitchFamily="34" charset="-120"/>
              </a:rPr>
              <a:t>California Housing Dataset  ·  20,640 Census Block Groups  ·  1990 U.S. Census</a:t>
            </a:r>
            <a:endParaRPr lang="en-US" sz="1100" dirty="0"/>
          </a:p>
        </p:txBody>
      </p:sp>
      <p:sp>
        <p:nvSpPr>
          <p:cNvPr id="8" name="Text 6"/>
          <p:cNvSpPr/>
          <p:nvPr/>
        </p:nvSpPr>
        <p:spPr>
          <a:xfrm>
            <a:off x="548640" y="3200400"/>
            <a:ext cx="8046720" cy="54864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Assumpta Mwikali  134022    ·    Olive Mideva Muloma  135792</a:t>
            </a:r>
            <a:endParaRPr lang="en-US" sz="1050" dirty="0"/>
          </a:p>
          <a:p>
            <a:pPr indent="0" marL="0">
              <a:buNone/>
            </a:pPr>
            <a:r>
              <a:rPr lang="en-US" sz="1050" dirty="0">
                <a:solidFill>
                  <a:srgbClr val="CADCFC"/>
                </a:solidFill>
                <a:latin typeface="Calibri" pitchFamily="34" charset="0"/>
                <a:ea typeface="Calibri" pitchFamily="34" charset="-122"/>
                <a:cs typeface="Calibri" pitchFamily="34" charset="-120"/>
              </a:rPr>
              <a:t>Trevor Anjeyo Vuhyah  224038    ·    Valerie Jerono  222331</a:t>
            </a:r>
            <a:endParaRPr lang="en-US" sz="1050" dirty="0"/>
          </a:p>
        </p:txBody>
      </p:sp>
      <p:sp>
        <p:nvSpPr>
          <p:cNvPr id="9" name="Shape 7"/>
          <p:cNvSpPr/>
          <p:nvPr/>
        </p:nvSpPr>
        <p:spPr>
          <a:xfrm>
            <a:off x="548640" y="4069080"/>
            <a:ext cx="1828800" cy="73152"/>
          </a:xfrm>
          <a:prstGeom prst="rect">
            <a:avLst/>
          </a:prstGeom>
          <a:solidFill>
            <a:srgbClr val="1B7A8A"/>
          </a:solidFill>
          <a:ln w="12700">
            <a:solidFill>
              <a:srgbClr val="1B7A8A"/>
            </a:solidFill>
            <a:prstDash val="solid"/>
          </a:ln>
        </p:spPr>
      </p:sp>
      <p:sp>
        <p:nvSpPr>
          <p:cNvPr id="10" name="Text 8"/>
          <p:cNvSpPr/>
          <p:nvPr/>
        </p:nvSpPr>
        <p:spPr>
          <a:xfrm>
            <a:off x="548640" y="4178808"/>
            <a:ext cx="1828800" cy="228600"/>
          </a:xfrm>
          <a:prstGeom prst="rect">
            <a:avLst/>
          </a:prstGeom>
          <a:noFill/>
          <a:ln/>
        </p:spPr>
        <p:txBody>
          <a:bodyPr wrap="square" rtlCol="0" anchor="ctr"/>
          <a:lstStyle/>
          <a:p>
            <a:pPr algn="ctr" indent="0" marL="0">
              <a:buNone/>
            </a:pPr>
            <a:r>
              <a:rPr lang="en-US" sz="900" b="1" dirty="0">
                <a:solidFill>
                  <a:srgbClr val="28A5B5"/>
                </a:solidFill>
              </a:rPr>
              <a:t>Act I</a:t>
            </a:r>
            <a:endParaRPr lang="en-US" sz="900" dirty="0"/>
          </a:p>
        </p:txBody>
      </p:sp>
      <p:sp>
        <p:nvSpPr>
          <p:cNvPr id="11" name="Text 9"/>
          <p:cNvSpPr/>
          <p:nvPr/>
        </p:nvSpPr>
        <p:spPr>
          <a:xfrm>
            <a:off x="548640" y="4407408"/>
            <a:ext cx="1828800" cy="201168"/>
          </a:xfrm>
          <a:prstGeom prst="rect">
            <a:avLst/>
          </a:prstGeom>
          <a:noFill/>
          <a:ln/>
        </p:spPr>
        <p:txBody>
          <a:bodyPr wrap="square" rtlCol="0" anchor="ctr"/>
          <a:lstStyle/>
          <a:p>
            <a:pPr algn="ctr" indent="0" marL="0">
              <a:buNone/>
            </a:pPr>
            <a:r>
              <a:rPr lang="en-US" sz="950" b="1" dirty="0">
                <a:solidFill>
                  <a:srgbClr val="FFFFFF"/>
                </a:solidFill>
              </a:rPr>
              <a:t>Foundation</a:t>
            </a:r>
            <a:endParaRPr lang="en-US" sz="950" dirty="0"/>
          </a:p>
        </p:txBody>
      </p:sp>
      <p:sp>
        <p:nvSpPr>
          <p:cNvPr id="12" name="Text 10"/>
          <p:cNvSpPr/>
          <p:nvPr/>
        </p:nvSpPr>
        <p:spPr>
          <a:xfrm>
            <a:off x="548640" y="4617720"/>
            <a:ext cx="1828800" cy="228600"/>
          </a:xfrm>
          <a:prstGeom prst="rect">
            <a:avLst/>
          </a:prstGeom>
          <a:noFill/>
          <a:ln/>
        </p:spPr>
        <p:txBody>
          <a:bodyPr wrap="square" rtlCol="0" anchor="ctr"/>
          <a:lstStyle/>
          <a:p>
            <a:pPr algn="ctr" indent="0" marL="0">
              <a:buNone/>
            </a:pPr>
            <a:r>
              <a:rPr lang="en-US" sz="750" i="1" dirty="0">
                <a:solidFill>
                  <a:srgbClr val="CADCFC"/>
                </a:solidFill>
              </a:rPr>
              <a:t>EDA · Feature Eng · OLS Baseline</a:t>
            </a:r>
            <a:endParaRPr lang="en-US" sz="750" dirty="0"/>
          </a:p>
        </p:txBody>
      </p:sp>
      <p:sp>
        <p:nvSpPr>
          <p:cNvPr id="13" name="Shape 11"/>
          <p:cNvSpPr/>
          <p:nvPr/>
        </p:nvSpPr>
        <p:spPr>
          <a:xfrm>
            <a:off x="2560320" y="4069080"/>
            <a:ext cx="1828800" cy="73152"/>
          </a:xfrm>
          <a:prstGeom prst="rect">
            <a:avLst/>
          </a:prstGeom>
          <a:solidFill>
            <a:srgbClr val="1B7A8A"/>
          </a:solidFill>
          <a:ln w="12700">
            <a:solidFill>
              <a:srgbClr val="1B7A8A"/>
            </a:solidFill>
            <a:prstDash val="solid"/>
          </a:ln>
        </p:spPr>
      </p:sp>
      <p:sp>
        <p:nvSpPr>
          <p:cNvPr id="14" name="Text 12"/>
          <p:cNvSpPr/>
          <p:nvPr/>
        </p:nvSpPr>
        <p:spPr>
          <a:xfrm>
            <a:off x="2560320" y="4178808"/>
            <a:ext cx="1828800" cy="228600"/>
          </a:xfrm>
          <a:prstGeom prst="rect">
            <a:avLst/>
          </a:prstGeom>
          <a:noFill/>
          <a:ln/>
        </p:spPr>
        <p:txBody>
          <a:bodyPr wrap="square" rtlCol="0" anchor="ctr"/>
          <a:lstStyle/>
          <a:p>
            <a:pPr algn="ctr" indent="0" marL="0">
              <a:buNone/>
            </a:pPr>
            <a:r>
              <a:rPr lang="en-US" sz="900" b="1" dirty="0">
                <a:solidFill>
                  <a:srgbClr val="28A5B5"/>
                </a:solidFill>
              </a:rPr>
              <a:t>Act II</a:t>
            </a:r>
            <a:endParaRPr lang="en-US" sz="900" dirty="0"/>
          </a:p>
        </p:txBody>
      </p:sp>
      <p:sp>
        <p:nvSpPr>
          <p:cNvPr id="15" name="Text 13"/>
          <p:cNvSpPr/>
          <p:nvPr/>
        </p:nvSpPr>
        <p:spPr>
          <a:xfrm>
            <a:off x="2560320" y="4407408"/>
            <a:ext cx="1828800" cy="201168"/>
          </a:xfrm>
          <a:prstGeom prst="rect">
            <a:avLst/>
          </a:prstGeom>
          <a:noFill/>
          <a:ln/>
        </p:spPr>
        <p:txBody>
          <a:bodyPr wrap="square" rtlCol="0" anchor="ctr"/>
          <a:lstStyle/>
          <a:p>
            <a:pPr algn="ctr" indent="0" marL="0">
              <a:buNone/>
            </a:pPr>
            <a:r>
              <a:rPr lang="en-US" sz="950" b="1" dirty="0">
                <a:solidFill>
                  <a:srgbClr val="FFFFFF"/>
                </a:solidFill>
              </a:rPr>
              <a:t>Nonlinear Models</a:t>
            </a:r>
            <a:endParaRPr lang="en-US" sz="950" dirty="0"/>
          </a:p>
        </p:txBody>
      </p:sp>
      <p:sp>
        <p:nvSpPr>
          <p:cNvPr id="16" name="Text 14"/>
          <p:cNvSpPr/>
          <p:nvPr/>
        </p:nvSpPr>
        <p:spPr>
          <a:xfrm>
            <a:off x="2560320" y="4617720"/>
            <a:ext cx="1828800" cy="228600"/>
          </a:xfrm>
          <a:prstGeom prst="rect">
            <a:avLst/>
          </a:prstGeom>
          <a:noFill/>
          <a:ln/>
        </p:spPr>
        <p:txBody>
          <a:bodyPr wrap="square" rtlCol="0" anchor="ctr"/>
          <a:lstStyle/>
          <a:p>
            <a:pPr algn="ctr" indent="0" marL="0">
              <a:buNone/>
            </a:pPr>
            <a:r>
              <a:rPr lang="en-US" sz="750" i="1" dirty="0">
                <a:solidFill>
                  <a:srgbClr val="CADCFC"/>
                </a:solidFill>
              </a:rPr>
              <a:t>Splines · GAM · RF · XGBoost</a:t>
            </a:r>
            <a:endParaRPr lang="en-US" sz="750" dirty="0"/>
          </a:p>
        </p:txBody>
      </p:sp>
      <p:sp>
        <p:nvSpPr>
          <p:cNvPr id="17" name="Shape 15"/>
          <p:cNvSpPr/>
          <p:nvPr/>
        </p:nvSpPr>
        <p:spPr>
          <a:xfrm>
            <a:off x="4572000" y="4069080"/>
            <a:ext cx="1828800" cy="73152"/>
          </a:xfrm>
          <a:prstGeom prst="rect">
            <a:avLst/>
          </a:prstGeom>
          <a:solidFill>
            <a:srgbClr val="1B7A8A"/>
          </a:solidFill>
          <a:ln w="12700">
            <a:solidFill>
              <a:srgbClr val="1B7A8A"/>
            </a:solidFill>
            <a:prstDash val="solid"/>
          </a:ln>
        </p:spPr>
      </p:sp>
      <p:sp>
        <p:nvSpPr>
          <p:cNvPr id="18" name="Text 16"/>
          <p:cNvSpPr/>
          <p:nvPr/>
        </p:nvSpPr>
        <p:spPr>
          <a:xfrm>
            <a:off x="4572000" y="4178808"/>
            <a:ext cx="1828800" cy="228600"/>
          </a:xfrm>
          <a:prstGeom prst="rect">
            <a:avLst/>
          </a:prstGeom>
          <a:noFill/>
          <a:ln/>
        </p:spPr>
        <p:txBody>
          <a:bodyPr wrap="square" rtlCol="0" anchor="ctr"/>
          <a:lstStyle/>
          <a:p>
            <a:pPr algn="ctr" indent="0" marL="0">
              <a:buNone/>
            </a:pPr>
            <a:r>
              <a:rPr lang="en-US" sz="900" b="1" dirty="0">
                <a:solidFill>
                  <a:srgbClr val="28A5B5"/>
                </a:solidFill>
              </a:rPr>
              <a:t>Act III</a:t>
            </a:r>
            <a:endParaRPr lang="en-US" sz="900" dirty="0"/>
          </a:p>
        </p:txBody>
      </p:sp>
      <p:sp>
        <p:nvSpPr>
          <p:cNvPr id="19" name="Text 17"/>
          <p:cNvSpPr/>
          <p:nvPr/>
        </p:nvSpPr>
        <p:spPr>
          <a:xfrm>
            <a:off x="4572000" y="4407408"/>
            <a:ext cx="1828800" cy="201168"/>
          </a:xfrm>
          <a:prstGeom prst="rect">
            <a:avLst/>
          </a:prstGeom>
          <a:noFill/>
          <a:ln/>
        </p:spPr>
        <p:txBody>
          <a:bodyPr wrap="square" rtlCol="0" anchor="ctr"/>
          <a:lstStyle/>
          <a:p>
            <a:pPr algn="ctr" indent="0" marL="0">
              <a:buNone/>
            </a:pPr>
            <a:r>
              <a:rPr lang="en-US" sz="950" b="1" dirty="0">
                <a:solidFill>
                  <a:srgbClr val="FFFFFF"/>
                </a:solidFill>
              </a:rPr>
              <a:t>Spatial Diagnostics</a:t>
            </a:r>
            <a:endParaRPr lang="en-US" sz="950" dirty="0"/>
          </a:p>
        </p:txBody>
      </p:sp>
      <p:sp>
        <p:nvSpPr>
          <p:cNvPr id="20" name="Text 18"/>
          <p:cNvSpPr/>
          <p:nvPr/>
        </p:nvSpPr>
        <p:spPr>
          <a:xfrm>
            <a:off x="4572000" y="4617720"/>
            <a:ext cx="1828800" cy="228600"/>
          </a:xfrm>
          <a:prstGeom prst="rect">
            <a:avLst/>
          </a:prstGeom>
          <a:noFill/>
          <a:ln/>
        </p:spPr>
        <p:txBody>
          <a:bodyPr wrap="square" rtlCol="0" anchor="ctr"/>
          <a:lstStyle/>
          <a:p>
            <a:pPr algn="ctr" indent="0" marL="0">
              <a:buNone/>
            </a:pPr>
            <a:r>
              <a:rPr lang="en-US" sz="750" i="1" dirty="0">
                <a:solidFill>
                  <a:srgbClr val="CADCFC"/>
                </a:solidFill>
              </a:rPr>
              <a:t>Moran's I · Residual Mapping</a:t>
            </a:r>
            <a:endParaRPr lang="en-US" sz="750" dirty="0"/>
          </a:p>
        </p:txBody>
      </p:sp>
      <p:sp>
        <p:nvSpPr>
          <p:cNvPr id="21" name="Shape 19"/>
          <p:cNvSpPr/>
          <p:nvPr/>
        </p:nvSpPr>
        <p:spPr>
          <a:xfrm>
            <a:off x="6583680" y="4069080"/>
            <a:ext cx="1828800" cy="73152"/>
          </a:xfrm>
          <a:prstGeom prst="rect">
            <a:avLst/>
          </a:prstGeom>
          <a:solidFill>
            <a:srgbClr val="1B7A8A"/>
          </a:solidFill>
          <a:ln w="12700">
            <a:solidFill>
              <a:srgbClr val="1B7A8A"/>
            </a:solidFill>
            <a:prstDash val="solid"/>
          </a:ln>
        </p:spPr>
      </p:sp>
      <p:sp>
        <p:nvSpPr>
          <p:cNvPr id="22" name="Text 20"/>
          <p:cNvSpPr/>
          <p:nvPr/>
        </p:nvSpPr>
        <p:spPr>
          <a:xfrm>
            <a:off x="6583680" y="4178808"/>
            <a:ext cx="1828800" cy="228600"/>
          </a:xfrm>
          <a:prstGeom prst="rect">
            <a:avLst/>
          </a:prstGeom>
          <a:noFill/>
          <a:ln/>
        </p:spPr>
        <p:txBody>
          <a:bodyPr wrap="square" rtlCol="0" anchor="ctr"/>
          <a:lstStyle/>
          <a:p>
            <a:pPr algn="ctr" indent="0" marL="0">
              <a:buNone/>
            </a:pPr>
            <a:r>
              <a:rPr lang="en-US" sz="900" b="1" dirty="0">
                <a:solidFill>
                  <a:srgbClr val="28A5B5"/>
                </a:solidFill>
              </a:rPr>
              <a:t>Act IV</a:t>
            </a:r>
            <a:endParaRPr lang="en-US" sz="900" dirty="0"/>
          </a:p>
        </p:txBody>
      </p:sp>
      <p:sp>
        <p:nvSpPr>
          <p:cNvPr id="23" name="Text 21"/>
          <p:cNvSpPr/>
          <p:nvPr/>
        </p:nvSpPr>
        <p:spPr>
          <a:xfrm>
            <a:off x="6583680" y="4407408"/>
            <a:ext cx="1828800" cy="201168"/>
          </a:xfrm>
          <a:prstGeom prst="rect">
            <a:avLst/>
          </a:prstGeom>
          <a:noFill/>
          <a:ln/>
        </p:spPr>
        <p:txBody>
          <a:bodyPr wrap="square" rtlCol="0" anchor="ctr"/>
          <a:lstStyle/>
          <a:p>
            <a:pPr algn="ctr" indent="0" marL="0">
              <a:buNone/>
            </a:pPr>
            <a:r>
              <a:rPr lang="en-US" sz="950" b="1" dirty="0">
                <a:solidFill>
                  <a:srgbClr val="FFFFFF"/>
                </a:solidFill>
              </a:rPr>
              <a:t>Spatial Econometrics</a:t>
            </a:r>
            <a:endParaRPr lang="en-US" sz="950" dirty="0"/>
          </a:p>
        </p:txBody>
      </p:sp>
      <p:sp>
        <p:nvSpPr>
          <p:cNvPr id="24" name="Text 22"/>
          <p:cNvSpPr/>
          <p:nvPr/>
        </p:nvSpPr>
        <p:spPr>
          <a:xfrm>
            <a:off x="6583680" y="4617720"/>
            <a:ext cx="1828800" cy="228600"/>
          </a:xfrm>
          <a:prstGeom prst="rect">
            <a:avLst/>
          </a:prstGeom>
          <a:noFill/>
          <a:ln/>
        </p:spPr>
        <p:txBody>
          <a:bodyPr wrap="square" rtlCol="0" anchor="ctr"/>
          <a:lstStyle/>
          <a:p>
            <a:pPr algn="ctr" indent="0" marL="0">
              <a:buNone/>
            </a:pPr>
            <a:r>
              <a:rPr lang="en-US" sz="750" i="1" dirty="0">
                <a:solidFill>
                  <a:srgbClr val="CADCFC"/>
                </a:solidFill>
              </a:rPr>
              <a:t>SLM · SEM · GWR · Final Compare</a:t>
            </a:r>
            <a:endParaRPr lang="en-US" sz="750" dirty="0"/>
          </a:p>
        </p:txBody>
      </p:sp>
      <p:sp>
        <p:nvSpPr>
          <p:cNvPr id="25" name="Shape 23"/>
          <p:cNvSpPr/>
          <p:nvPr/>
        </p:nvSpPr>
        <p:spPr>
          <a:xfrm>
            <a:off x="548640" y="4041648"/>
            <a:ext cx="2377440" cy="274320"/>
          </a:xfrm>
          <a:prstGeom prst="rect">
            <a:avLst/>
          </a:prstGeom>
          <a:solidFill>
            <a:srgbClr val="1B7A8A"/>
          </a:solidFill>
          <a:ln w="12700">
            <a:solidFill>
              <a:srgbClr val="1B7A8A"/>
            </a:solidFill>
            <a:prstDash val="solid"/>
          </a:ln>
        </p:spPr>
      </p:sp>
      <p:sp>
        <p:nvSpPr>
          <p:cNvPr id="26" name="Text 24"/>
          <p:cNvSpPr/>
          <p:nvPr/>
        </p:nvSpPr>
        <p:spPr>
          <a:xfrm>
            <a:off x="548640" y="4041648"/>
            <a:ext cx="2377440" cy="274320"/>
          </a:xfrm>
          <a:prstGeom prst="rect">
            <a:avLst/>
          </a:prstGeom>
          <a:noFill/>
          <a:ln/>
        </p:spPr>
        <p:txBody>
          <a:bodyPr wrap="square" lIns="0" tIns="0" rIns="0" bIns="0" rtlCol="0" anchor="ctr"/>
          <a:lstStyle/>
          <a:p>
            <a:pPr algn="ctr" indent="0" marL="0">
              <a:buNone/>
            </a:pPr>
            <a:r>
              <a:rPr lang="en-US" sz="850" b="1" dirty="0">
                <a:solidFill>
                  <a:srgbClr val="FFFFFF"/>
                </a:solidFill>
              </a:rPr>
              <a:t>DSA 8301 · Statistical Inference for Big Data</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OVERVIEW</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Three Questions That Drive Everything</a:t>
            </a:r>
            <a:endParaRPr lang="en-US" sz="2400" dirty="0"/>
          </a:p>
        </p:txBody>
      </p:sp>
      <p:sp>
        <p:nvSpPr>
          <p:cNvPr id="5" name="Shape 3"/>
          <p:cNvSpPr/>
          <p:nvPr/>
        </p:nvSpPr>
        <p:spPr>
          <a:xfrm>
            <a:off x="365760" y="1417320"/>
            <a:ext cx="2651760" cy="32918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65760" y="1417320"/>
            <a:ext cx="2651760" cy="502920"/>
          </a:xfrm>
          <a:prstGeom prst="rect">
            <a:avLst/>
          </a:prstGeom>
          <a:solidFill>
            <a:srgbClr val="1B7A8A"/>
          </a:solidFill>
          <a:ln w="12700">
            <a:solidFill>
              <a:srgbClr val="1B7A8A"/>
            </a:solidFill>
            <a:prstDash val="solid"/>
          </a:ln>
        </p:spPr>
      </p:sp>
      <p:sp>
        <p:nvSpPr>
          <p:cNvPr id="7" name="Text 5"/>
          <p:cNvSpPr/>
          <p:nvPr/>
        </p:nvSpPr>
        <p:spPr>
          <a:xfrm>
            <a:off x="365760" y="1417320"/>
            <a:ext cx="2651760" cy="502920"/>
          </a:xfrm>
          <a:prstGeom prst="rect">
            <a:avLst/>
          </a:prstGeom>
          <a:noFill/>
          <a:ln/>
        </p:spPr>
        <p:txBody>
          <a:bodyPr wrap="square" lIns="0" tIns="0" rIns="0" bIns="0" rtlCol="0" anchor="ctr"/>
          <a:lstStyle/>
          <a:p>
            <a:pPr algn="ctr" indent="0" marL="0">
              <a:buNone/>
            </a:pPr>
            <a:r>
              <a:rPr lang="en-US" sz="1600" b="1" dirty="0">
                <a:solidFill>
                  <a:srgbClr val="FFFFFF"/>
                </a:solidFill>
              </a:rPr>
              <a:t>RQ 1</a:t>
            </a:r>
            <a:endParaRPr lang="en-US" sz="1600" dirty="0"/>
          </a:p>
        </p:txBody>
      </p:sp>
      <p:sp>
        <p:nvSpPr>
          <p:cNvPr id="8" name="Text 6"/>
          <p:cNvSpPr/>
          <p:nvPr/>
        </p:nvSpPr>
        <p:spPr>
          <a:xfrm>
            <a:off x="502920" y="2011680"/>
            <a:ext cx="2377440" cy="1828800"/>
          </a:xfrm>
          <a:prstGeom prst="rect">
            <a:avLst/>
          </a:prstGeom>
          <a:noFill/>
          <a:ln/>
        </p:spPr>
        <p:txBody>
          <a:bodyPr wrap="square" rtlCol="0" anchor="t"/>
          <a:lstStyle/>
          <a:p>
            <a:pPr algn="ctr" indent="0" marL="0">
              <a:buNone/>
            </a:pPr>
            <a:r>
              <a:rPr lang="en-US" sz="1100" dirty="0">
                <a:solidFill>
                  <a:srgbClr val="0D1B2A"/>
                </a:solidFill>
                <a:latin typeface="Calibri" pitchFamily="34" charset="0"/>
                <a:ea typeface="Calibri" pitchFamily="34" charset="-122"/>
                <a:cs typeface="Calibri" pitchFamily="34" charset="-120"/>
              </a:rPr>
              <a:t>Can ensemble nonlinear models outperform linear regression in predicting California house prices?</a:t>
            </a:r>
            <a:endParaRPr lang="en-US" sz="1100" dirty="0"/>
          </a:p>
        </p:txBody>
      </p:sp>
      <p:sp>
        <p:nvSpPr>
          <p:cNvPr id="9" name="Shape 7"/>
          <p:cNvSpPr/>
          <p:nvPr/>
        </p:nvSpPr>
        <p:spPr>
          <a:xfrm>
            <a:off x="457200" y="3721608"/>
            <a:ext cx="2468880" cy="27432"/>
          </a:xfrm>
          <a:prstGeom prst="rect">
            <a:avLst/>
          </a:prstGeom>
          <a:solidFill>
            <a:srgbClr val="1A9641"/>
          </a:solidFill>
          <a:ln w="12700">
            <a:solidFill>
              <a:srgbClr val="1A9641"/>
            </a:solidFill>
            <a:prstDash val="solid"/>
          </a:ln>
        </p:spPr>
      </p:sp>
      <p:sp>
        <p:nvSpPr>
          <p:cNvPr id="10" name="Text 8"/>
          <p:cNvSpPr/>
          <p:nvPr/>
        </p:nvSpPr>
        <p:spPr>
          <a:xfrm>
            <a:off x="457200" y="3776472"/>
            <a:ext cx="2468880" cy="731520"/>
          </a:xfrm>
          <a:prstGeom prst="rect">
            <a:avLst/>
          </a:prstGeom>
          <a:noFill/>
          <a:ln/>
        </p:spPr>
        <p:txBody>
          <a:bodyPr wrap="square" rtlCol="0" anchor="ctr"/>
          <a:lstStyle/>
          <a:p>
            <a:pPr algn="ctr" indent="0" marL="0">
              <a:buNone/>
            </a:pPr>
            <a:r>
              <a:rPr lang="en-US" sz="1000" b="1" dirty="0">
                <a:solidFill>
                  <a:srgbClr val="1A9641"/>
                </a:solidFill>
              </a:rPr>
              <a:t>Yes: R² 0.633 to 0.851</a:t>
            </a:r>
            <a:endParaRPr lang="en-US" sz="1000" dirty="0"/>
          </a:p>
        </p:txBody>
      </p:sp>
      <p:sp>
        <p:nvSpPr>
          <p:cNvPr id="11" name="Shape 9"/>
          <p:cNvSpPr/>
          <p:nvPr/>
        </p:nvSpPr>
        <p:spPr>
          <a:xfrm>
            <a:off x="3200400" y="1417320"/>
            <a:ext cx="2651760" cy="32918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200400" y="1417320"/>
            <a:ext cx="2651760" cy="502920"/>
          </a:xfrm>
          <a:prstGeom prst="rect">
            <a:avLst/>
          </a:prstGeom>
          <a:solidFill>
            <a:srgbClr val="1B7A8A"/>
          </a:solidFill>
          <a:ln w="12700">
            <a:solidFill>
              <a:srgbClr val="1B7A8A"/>
            </a:solidFill>
            <a:prstDash val="solid"/>
          </a:ln>
        </p:spPr>
      </p:sp>
      <p:sp>
        <p:nvSpPr>
          <p:cNvPr id="13" name="Text 11"/>
          <p:cNvSpPr/>
          <p:nvPr/>
        </p:nvSpPr>
        <p:spPr>
          <a:xfrm>
            <a:off x="3200400" y="1417320"/>
            <a:ext cx="2651760" cy="502920"/>
          </a:xfrm>
          <a:prstGeom prst="rect">
            <a:avLst/>
          </a:prstGeom>
          <a:noFill/>
          <a:ln/>
        </p:spPr>
        <p:txBody>
          <a:bodyPr wrap="square" lIns="0" tIns="0" rIns="0" bIns="0" rtlCol="0" anchor="ctr"/>
          <a:lstStyle/>
          <a:p>
            <a:pPr algn="ctr" indent="0" marL="0">
              <a:buNone/>
            </a:pPr>
            <a:r>
              <a:rPr lang="en-US" sz="1600" b="1" dirty="0">
                <a:solidFill>
                  <a:srgbClr val="FFFFFF"/>
                </a:solidFill>
              </a:rPr>
              <a:t>RQ 2</a:t>
            </a:r>
            <a:endParaRPr lang="en-US" sz="1600" dirty="0"/>
          </a:p>
        </p:txBody>
      </p:sp>
      <p:sp>
        <p:nvSpPr>
          <p:cNvPr id="14" name="Text 12"/>
          <p:cNvSpPr/>
          <p:nvPr/>
        </p:nvSpPr>
        <p:spPr>
          <a:xfrm>
            <a:off x="3337560" y="2011680"/>
            <a:ext cx="2377440" cy="1828800"/>
          </a:xfrm>
          <a:prstGeom prst="rect">
            <a:avLst/>
          </a:prstGeom>
          <a:noFill/>
          <a:ln/>
        </p:spPr>
        <p:txBody>
          <a:bodyPr wrap="square" rtlCol="0" anchor="t"/>
          <a:lstStyle/>
          <a:p>
            <a:pPr algn="ctr" indent="0" marL="0">
              <a:buNone/>
            </a:pPr>
            <a:r>
              <a:rPr lang="en-US" sz="1100" dirty="0">
                <a:solidFill>
                  <a:srgbClr val="0D1B2A"/>
                </a:solidFill>
                <a:latin typeface="Calibri" pitchFamily="34" charset="0"/>
                <a:ea typeface="Calibri" pitchFamily="34" charset="-122"/>
                <a:cs typeface="Calibri" pitchFamily="34" charset="-120"/>
              </a:rPr>
              <a:t>What are the most important nonlinear interactions between location and income?</a:t>
            </a:r>
            <a:endParaRPr lang="en-US" sz="1100" dirty="0"/>
          </a:p>
        </p:txBody>
      </p:sp>
      <p:sp>
        <p:nvSpPr>
          <p:cNvPr id="15" name="Shape 13"/>
          <p:cNvSpPr/>
          <p:nvPr/>
        </p:nvSpPr>
        <p:spPr>
          <a:xfrm>
            <a:off x="3291840" y="3721608"/>
            <a:ext cx="2468880" cy="27432"/>
          </a:xfrm>
          <a:prstGeom prst="rect">
            <a:avLst/>
          </a:prstGeom>
          <a:solidFill>
            <a:srgbClr val="2C7BB6"/>
          </a:solidFill>
          <a:ln w="12700">
            <a:solidFill>
              <a:srgbClr val="2C7BB6"/>
            </a:solidFill>
            <a:prstDash val="solid"/>
          </a:ln>
        </p:spPr>
      </p:sp>
      <p:sp>
        <p:nvSpPr>
          <p:cNvPr id="16" name="Text 14"/>
          <p:cNvSpPr/>
          <p:nvPr/>
        </p:nvSpPr>
        <p:spPr>
          <a:xfrm>
            <a:off x="3291840" y="3776472"/>
            <a:ext cx="2468880" cy="731520"/>
          </a:xfrm>
          <a:prstGeom prst="rect">
            <a:avLst/>
          </a:prstGeom>
          <a:noFill/>
          <a:ln/>
        </p:spPr>
        <p:txBody>
          <a:bodyPr wrap="square" rtlCol="0" anchor="ctr"/>
          <a:lstStyle/>
          <a:p>
            <a:pPr algn="ctr" indent="0" marL="0">
              <a:buNone/>
            </a:pPr>
            <a:r>
              <a:rPr lang="en-US" sz="1000" b="1" dirty="0">
                <a:solidFill>
                  <a:srgbClr val="2C7BB6"/>
                </a:solidFill>
              </a:rPr>
              <a:t>Income x location is non-additive</a:t>
            </a:r>
            <a:endParaRPr lang="en-US" sz="1000" dirty="0"/>
          </a:p>
        </p:txBody>
      </p:sp>
      <p:sp>
        <p:nvSpPr>
          <p:cNvPr id="17" name="Shape 15"/>
          <p:cNvSpPr/>
          <p:nvPr/>
        </p:nvSpPr>
        <p:spPr>
          <a:xfrm>
            <a:off x="6035040" y="1417320"/>
            <a:ext cx="2651760" cy="32918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6035040" y="1417320"/>
            <a:ext cx="2651760" cy="502920"/>
          </a:xfrm>
          <a:prstGeom prst="rect">
            <a:avLst/>
          </a:prstGeom>
          <a:solidFill>
            <a:srgbClr val="1B7A8A"/>
          </a:solidFill>
          <a:ln w="12700">
            <a:solidFill>
              <a:srgbClr val="1B7A8A"/>
            </a:solidFill>
            <a:prstDash val="solid"/>
          </a:ln>
        </p:spPr>
      </p:sp>
      <p:sp>
        <p:nvSpPr>
          <p:cNvPr id="19" name="Text 17"/>
          <p:cNvSpPr/>
          <p:nvPr/>
        </p:nvSpPr>
        <p:spPr>
          <a:xfrm>
            <a:off x="6035040" y="1417320"/>
            <a:ext cx="2651760" cy="502920"/>
          </a:xfrm>
          <a:prstGeom prst="rect">
            <a:avLst/>
          </a:prstGeom>
          <a:noFill/>
          <a:ln/>
        </p:spPr>
        <p:txBody>
          <a:bodyPr wrap="square" lIns="0" tIns="0" rIns="0" bIns="0" rtlCol="0" anchor="ctr"/>
          <a:lstStyle/>
          <a:p>
            <a:pPr algn="ctr" indent="0" marL="0">
              <a:buNone/>
            </a:pPr>
            <a:r>
              <a:rPr lang="en-US" sz="1600" b="1" dirty="0">
                <a:solidFill>
                  <a:srgbClr val="FFFFFF"/>
                </a:solidFill>
              </a:rPr>
              <a:t>RQ 3</a:t>
            </a:r>
            <a:endParaRPr lang="en-US" sz="1600" dirty="0"/>
          </a:p>
        </p:txBody>
      </p:sp>
      <p:sp>
        <p:nvSpPr>
          <p:cNvPr id="20" name="Text 18"/>
          <p:cNvSpPr/>
          <p:nvPr/>
        </p:nvSpPr>
        <p:spPr>
          <a:xfrm>
            <a:off x="6172200" y="2011680"/>
            <a:ext cx="2377440" cy="1828800"/>
          </a:xfrm>
          <a:prstGeom prst="rect">
            <a:avLst/>
          </a:prstGeom>
          <a:noFill/>
          <a:ln/>
        </p:spPr>
        <p:txBody>
          <a:bodyPr wrap="square" rtlCol="0" anchor="t"/>
          <a:lstStyle/>
          <a:p>
            <a:pPr algn="ctr" indent="0" marL="0">
              <a:buNone/>
            </a:pPr>
            <a:r>
              <a:rPr lang="en-US" sz="1100" dirty="0">
                <a:solidFill>
                  <a:srgbClr val="0D1B2A"/>
                </a:solidFill>
                <a:latin typeface="Calibri" pitchFamily="34" charset="0"/>
                <a:ea typeface="Calibri" pitchFamily="34" charset="-122"/>
                <a:cs typeface="Calibri" pitchFamily="34" charset="-120"/>
              </a:rPr>
              <a:t>Which model family (GNPR, Parametric, or Machine Learning) provides the best predictive accuracy?</a:t>
            </a:r>
            <a:endParaRPr lang="en-US" sz="1100" dirty="0"/>
          </a:p>
        </p:txBody>
      </p:sp>
      <p:sp>
        <p:nvSpPr>
          <p:cNvPr id="21" name="Shape 19"/>
          <p:cNvSpPr/>
          <p:nvPr/>
        </p:nvSpPr>
        <p:spPr>
          <a:xfrm>
            <a:off x="6126480" y="3721608"/>
            <a:ext cx="2468880" cy="27432"/>
          </a:xfrm>
          <a:prstGeom prst="rect">
            <a:avLst/>
          </a:prstGeom>
          <a:solidFill>
            <a:srgbClr val="7B2D8B"/>
          </a:solidFill>
          <a:ln w="12700">
            <a:solidFill>
              <a:srgbClr val="7B2D8B"/>
            </a:solidFill>
            <a:prstDash val="solid"/>
          </a:ln>
        </p:spPr>
      </p:sp>
      <p:sp>
        <p:nvSpPr>
          <p:cNvPr id="22" name="Text 20"/>
          <p:cNvSpPr/>
          <p:nvPr/>
        </p:nvSpPr>
        <p:spPr>
          <a:xfrm>
            <a:off x="6126480" y="3776472"/>
            <a:ext cx="2468880" cy="731520"/>
          </a:xfrm>
          <a:prstGeom prst="rect">
            <a:avLst/>
          </a:prstGeom>
          <a:noFill/>
          <a:ln/>
        </p:spPr>
        <p:txBody>
          <a:bodyPr wrap="square" rtlCol="0" anchor="ctr"/>
          <a:lstStyle/>
          <a:p>
            <a:pPr algn="ctr" indent="0" marL="0">
              <a:buNone/>
            </a:pPr>
            <a:r>
              <a:rPr lang="en-US" sz="1000" b="1" dirty="0">
                <a:solidFill>
                  <a:srgbClr val="7B2D8B"/>
                </a:solidFill>
              </a:rPr>
              <a:t>Purpose-dependent hierarchy</a:t>
            </a:r>
            <a:endParaRPr lang="en-US" sz="1000" dirty="0"/>
          </a:p>
        </p:txBody>
      </p:sp>
      <p:sp>
        <p:nvSpPr>
          <p:cNvPr id="23" name="Text 21"/>
          <p:cNvSpPr/>
          <p:nvPr/>
        </p:nvSpPr>
        <p:spPr>
          <a:xfrm>
            <a:off x="365760" y="4828032"/>
            <a:ext cx="8412480" cy="246888"/>
          </a:xfrm>
          <a:prstGeom prst="rect">
            <a:avLst/>
          </a:prstGeom>
          <a:noFill/>
          <a:ln/>
        </p:spPr>
        <p:txBody>
          <a:bodyPr wrap="square" rtlCol="0" anchor="ctr"/>
          <a:lstStyle/>
          <a:p>
            <a:pPr algn="ctr" indent="0" marL="0">
              <a:buNone/>
            </a:pPr>
            <a:r>
              <a:rPr lang="en-US" sz="950" i="1" dirty="0">
                <a:solidFill>
                  <a:srgbClr val="64748B"/>
                </a:solidFill>
              </a:rPr>
              <a:t>The journey unfolds in four acts: Foundation, Nonlinear Models, Spatial Diagnostics, Spatial Econometrics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EDA · DATA</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The Dataset: 20,640 Census Block Groups, California 1990</a:t>
            </a:r>
            <a:endParaRPr lang="en-US" sz="2400" dirty="0"/>
          </a:p>
        </p:txBody>
      </p:sp>
      <p:sp>
        <p:nvSpPr>
          <p:cNvPr id="5" name="Text 3"/>
          <p:cNvSpPr/>
          <p:nvPr/>
        </p:nvSpPr>
        <p:spPr>
          <a:xfrm>
            <a:off x="365760" y="1024128"/>
            <a:ext cx="8412480" cy="246888"/>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Each row = one block group, typically 600 to 3,000 people. Target: median_house_value (log-transformed).</a:t>
            </a:r>
            <a:endParaRPr lang="en-US" sz="1050" dirty="0"/>
          </a:p>
        </p:txBody>
      </p:sp>
      <p:sp>
        <p:nvSpPr>
          <p:cNvPr id="6" name="Shape 4"/>
          <p:cNvSpPr/>
          <p:nvPr/>
        </p:nvSpPr>
        <p:spPr>
          <a:xfrm>
            <a:off x="365760" y="1371600"/>
            <a:ext cx="1828800" cy="10058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65760" y="1371600"/>
            <a:ext cx="1828800" cy="54864"/>
          </a:xfrm>
          <a:prstGeom prst="rect">
            <a:avLst/>
          </a:prstGeom>
          <a:solidFill>
            <a:srgbClr val="1B7A8A"/>
          </a:solidFill>
          <a:ln w="12700">
            <a:solidFill>
              <a:srgbClr val="1B7A8A"/>
            </a:solidFill>
            <a:prstDash val="solid"/>
          </a:ln>
        </p:spPr>
      </p:sp>
      <p:sp>
        <p:nvSpPr>
          <p:cNvPr id="8" name="Text 6"/>
          <p:cNvSpPr/>
          <p:nvPr/>
        </p:nvSpPr>
        <p:spPr>
          <a:xfrm>
            <a:off x="365760" y="1463040"/>
            <a:ext cx="1828800" cy="553212"/>
          </a:xfrm>
          <a:prstGeom prst="rect">
            <a:avLst/>
          </a:prstGeom>
          <a:noFill/>
          <a:ln/>
        </p:spPr>
        <p:txBody>
          <a:bodyPr wrap="square" rtlCol="0" anchor="ctr"/>
          <a:lstStyle/>
          <a:p>
            <a:pPr algn="ctr" indent="0" marL="0">
              <a:buNone/>
            </a:pPr>
            <a:r>
              <a:rPr lang="en-US" sz="2800" b="1" dirty="0">
                <a:solidFill>
                  <a:srgbClr val="1B7A8A"/>
                </a:solidFill>
                <a:latin typeface="Calibri" pitchFamily="34" charset="0"/>
                <a:ea typeface="Calibri" pitchFamily="34" charset="-122"/>
                <a:cs typeface="Calibri" pitchFamily="34" charset="-120"/>
              </a:rPr>
              <a:t>20,640</a:t>
            </a:r>
            <a:endParaRPr lang="en-US" sz="2800" dirty="0"/>
          </a:p>
        </p:txBody>
      </p:sp>
      <p:sp>
        <p:nvSpPr>
          <p:cNvPr id="9" name="Text 7"/>
          <p:cNvSpPr/>
          <p:nvPr/>
        </p:nvSpPr>
        <p:spPr>
          <a:xfrm>
            <a:off x="365760" y="2025396"/>
            <a:ext cx="1828800" cy="301752"/>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Observations</a:t>
            </a:r>
            <a:endParaRPr lang="en-US" sz="950" dirty="0"/>
          </a:p>
        </p:txBody>
      </p:sp>
      <p:sp>
        <p:nvSpPr>
          <p:cNvPr id="10" name="Shape 8"/>
          <p:cNvSpPr/>
          <p:nvPr/>
        </p:nvSpPr>
        <p:spPr>
          <a:xfrm>
            <a:off x="2331720" y="1371600"/>
            <a:ext cx="1828800" cy="10058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331720" y="1371600"/>
            <a:ext cx="1828800" cy="54864"/>
          </a:xfrm>
          <a:prstGeom prst="rect">
            <a:avLst/>
          </a:prstGeom>
          <a:solidFill>
            <a:srgbClr val="1B7A8A"/>
          </a:solidFill>
          <a:ln w="12700">
            <a:solidFill>
              <a:srgbClr val="1B7A8A"/>
            </a:solidFill>
            <a:prstDash val="solid"/>
          </a:ln>
        </p:spPr>
      </p:sp>
      <p:sp>
        <p:nvSpPr>
          <p:cNvPr id="12" name="Text 10"/>
          <p:cNvSpPr/>
          <p:nvPr/>
        </p:nvSpPr>
        <p:spPr>
          <a:xfrm>
            <a:off x="2331720" y="1463040"/>
            <a:ext cx="1828800" cy="553212"/>
          </a:xfrm>
          <a:prstGeom prst="rect">
            <a:avLst/>
          </a:prstGeom>
          <a:noFill/>
          <a:ln/>
        </p:spPr>
        <p:txBody>
          <a:bodyPr wrap="square" rtlCol="0" anchor="ctr"/>
          <a:lstStyle/>
          <a:p>
            <a:pPr algn="ctr" indent="0" marL="0">
              <a:buNone/>
            </a:pPr>
            <a:r>
              <a:rPr lang="en-US" sz="2800" b="1" dirty="0">
                <a:solidFill>
                  <a:srgbClr val="1B7A8A"/>
                </a:solidFill>
                <a:latin typeface="Calibri" pitchFamily="34" charset="0"/>
                <a:ea typeface="Calibri" pitchFamily="34" charset="-122"/>
                <a:cs typeface="Calibri" pitchFamily="34" charset="-120"/>
              </a:rPr>
              <a:t>9</a:t>
            </a:r>
            <a:endParaRPr lang="en-US" sz="2800" dirty="0"/>
          </a:p>
        </p:txBody>
      </p:sp>
      <p:sp>
        <p:nvSpPr>
          <p:cNvPr id="13" name="Text 11"/>
          <p:cNvSpPr/>
          <p:nvPr/>
        </p:nvSpPr>
        <p:spPr>
          <a:xfrm>
            <a:off x="2331720" y="2025396"/>
            <a:ext cx="1828800" cy="301752"/>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Variables</a:t>
            </a:r>
            <a:endParaRPr lang="en-US" sz="950" dirty="0"/>
          </a:p>
        </p:txBody>
      </p:sp>
      <p:sp>
        <p:nvSpPr>
          <p:cNvPr id="14" name="Shape 12"/>
          <p:cNvSpPr/>
          <p:nvPr/>
        </p:nvSpPr>
        <p:spPr>
          <a:xfrm>
            <a:off x="4297680" y="1371600"/>
            <a:ext cx="1828800" cy="10058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4297680" y="1371600"/>
            <a:ext cx="1828800" cy="54864"/>
          </a:xfrm>
          <a:prstGeom prst="rect">
            <a:avLst/>
          </a:prstGeom>
          <a:solidFill>
            <a:srgbClr val="FDAE61"/>
          </a:solidFill>
          <a:ln w="12700">
            <a:solidFill>
              <a:srgbClr val="FDAE61"/>
            </a:solidFill>
            <a:prstDash val="solid"/>
          </a:ln>
        </p:spPr>
      </p:sp>
      <p:sp>
        <p:nvSpPr>
          <p:cNvPr id="16" name="Text 14"/>
          <p:cNvSpPr/>
          <p:nvPr/>
        </p:nvSpPr>
        <p:spPr>
          <a:xfrm>
            <a:off x="4297680" y="1463040"/>
            <a:ext cx="1828800" cy="553212"/>
          </a:xfrm>
          <a:prstGeom prst="rect">
            <a:avLst/>
          </a:prstGeom>
          <a:noFill/>
          <a:ln/>
        </p:spPr>
        <p:txBody>
          <a:bodyPr wrap="square" rtlCol="0" anchor="ctr"/>
          <a:lstStyle/>
          <a:p>
            <a:pPr algn="ctr" indent="0" marL="0">
              <a:buNone/>
            </a:pPr>
            <a:r>
              <a:rPr lang="en-US" sz="2800" b="1" dirty="0">
                <a:solidFill>
                  <a:srgbClr val="FDAE61"/>
                </a:solidFill>
                <a:latin typeface="Calibri" pitchFamily="34" charset="0"/>
                <a:ea typeface="Calibri" pitchFamily="34" charset="-122"/>
                <a:cs typeface="Calibri" pitchFamily="34" charset="-120"/>
              </a:rPr>
              <a:t>$206,856</a:t>
            </a:r>
            <a:endParaRPr lang="en-US" sz="2800" dirty="0"/>
          </a:p>
        </p:txBody>
      </p:sp>
      <p:sp>
        <p:nvSpPr>
          <p:cNvPr id="17" name="Text 15"/>
          <p:cNvSpPr/>
          <p:nvPr/>
        </p:nvSpPr>
        <p:spPr>
          <a:xfrm>
            <a:off x="4297680" y="2025396"/>
            <a:ext cx="1828800" cy="301752"/>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Mean House Value</a:t>
            </a:r>
            <a:endParaRPr lang="en-US" sz="950" dirty="0"/>
          </a:p>
        </p:txBody>
      </p:sp>
      <p:sp>
        <p:nvSpPr>
          <p:cNvPr id="18" name="Shape 16"/>
          <p:cNvSpPr/>
          <p:nvPr/>
        </p:nvSpPr>
        <p:spPr>
          <a:xfrm>
            <a:off x="6263640" y="1371600"/>
            <a:ext cx="1828800" cy="10058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6263640" y="1371600"/>
            <a:ext cx="1828800" cy="54864"/>
          </a:xfrm>
          <a:prstGeom prst="rect">
            <a:avLst/>
          </a:prstGeom>
          <a:solidFill>
            <a:srgbClr val="D7191C"/>
          </a:solidFill>
          <a:ln w="12700">
            <a:solidFill>
              <a:srgbClr val="D7191C"/>
            </a:solidFill>
            <a:prstDash val="solid"/>
          </a:ln>
        </p:spPr>
      </p:sp>
      <p:sp>
        <p:nvSpPr>
          <p:cNvPr id="20" name="Text 18"/>
          <p:cNvSpPr/>
          <p:nvPr/>
        </p:nvSpPr>
        <p:spPr>
          <a:xfrm>
            <a:off x="6263640" y="1463040"/>
            <a:ext cx="1828800" cy="553212"/>
          </a:xfrm>
          <a:prstGeom prst="rect">
            <a:avLst/>
          </a:prstGeom>
          <a:noFill/>
          <a:ln/>
        </p:spPr>
        <p:txBody>
          <a:bodyPr wrap="square" rtlCol="0" anchor="ctr"/>
          <a:lstStyle/>
          <a:p>
            <a:pPr algn="ctr" indent="0" marL="0">
              <a:buNone/>
            </a:pPr>
            <a:r>
              <a:rPr lang="en-US" sz="2800" b="1" dirty="0">
                <a:solidFill>
                  <a:srgbClr val="D7191C"/>
                </a:solidFill>
                <a:latin typeface="Calibri" pitchFamily="34" charset="0"/>
                <a:ea typeface="Calibri" pitchFamily="34" charset="-122"/>
                <a:cs typeface="Calibri" pitchFamily="34" charset="-120"/>
              </a:rPr>
              <a:t>$500,001</a:t>
            </a:r>
            <a:endParaRPr lang="en-US" sz="2800" dirty="0"/>
          </a:p>
        </p:txBody>
      </p:sp>
      <p:sp>
        <p:nvSpPr>
          <p:cNvPr id="21" name="Text 19"/>
          <p:cNvSpPr/>
          <p:nvPr/>
        </p:nvSpPr>
        <p:spPr>
          <a:xfrm>
            <a:off x="6263640" y="2025396"/>
            <a:ext cx="1828800" cy="301752"/>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Ceiling (965 obs)</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2514600"/>
          <a:ext cx="8412480" cy="2423160"/>
        </p:xfrm>
        <a:graphic>
          <a:graphicData uri="http://schemas.openxmlformats.org/drawingml/2006/table">
            <a:tbl>
              <a:tblPr/>
              <a:tblGrid>
                <a:gridCol w="2286000"/>
                <a:gridCol w="1463040"/>
                <a:gridCol w="914400"/>
                <a:gridCol w="3749040"/>
              </a:tblGrid>
              <a:tr h="36576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Variable</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Mean</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Std</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Key Note</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median_house_value</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$206,856</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$115,396</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Target (log-transformed); right-skewed with ceiling at $500,001</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median_income</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3.87</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1.90</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Strongest predictor (r=0.69 with log target); units = $10,000s</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longitude / latitude</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-119.6 / 35.6</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2.0 / 2.1</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Geographic coordinates (structural determinants of value)</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housing_median_age</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28.6 yrs</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12.6</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Median housing age per block group</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rooms_per_household*</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5.43</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2.47</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Engineered ratio: more informative than raw room counts</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bl>
          </a:graphicData>
        </a:graphic>
      </p:graphicFrame>
      <p:sp>
        <p:nvSpPr>
          <p:cNvPr id="23" name="Text 20"/>
          <p:cNvSpPr/>
          <p:nvPr/>
        </p:nvSpPr>
        <p:spPr>
          <a:xfrm>
            <a:off x="365760" y="5001768"/>
            <a:ext cx="8412480" cy="201168"/>
          </a:xfrm>
          <a:prstGeom prst="rect">
            <a:avLst/>
          </a:prstGeom>
          <a:noFill/>
          <a:ln/>
        </p:spPr>
        <p:txBody>
          <a:bodyPr wrap="square" rtlCol="0" anchor="ctr"/>
          <a:lstStyle/>
          <a:p>
            <a:pPr indent="0" marL="0">
              <a:buNone/>
            </a:pPr>
            <a:r>
              <a:rPr lang="en-US" sz="850" i="1" dirty="0">
                <a:solidFill>
                  <a:srgbClr val="64748B"/>
                </a:solidFill>
              </a:rPr>
              <a:t>* Feature-engineered: not in the original 1990 Census file. Section 3 adds rooms_per_household, bedrooms_per_room, population_per_household, income_age_interaction.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EDA · DISTRIBUTIONS</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Target Variable: Why We Log-Transform</a:t>
            </a:r>
            <a:endParaRPr lang="en-US" sz="2400" dirty="0"/>
          </a:p>
        </p:txBody>
      </p:sp>
      <p:sp>
        <p:nvSpPr>
          <p:cNvPr id="5" name="Text 3"/>
          <p:cNvSpPr/>
          <p:nvPr/>
        </p:nvSpPr>
        <p:spPr>
          <a:xfrm>
            <a:off x="365760" y="1024128"/>
            <a:ext cx="8412480" cy="246888"/>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raw distribution is right-skewed with a hard ceiling at $500,001 (965 obs, 4.7% of data). Log transformation corrects this.</a:t>
            </a:r>
            <a:endParaRPr lang="en-US" sz="1050" dirty="0"/>
          </a:p>
        </p:txBody>
      </p:sp>
      <p:pic>
        <p:nvPicPr>
          <p:cNvPr id="6" name="Image 0" descr="preencoded.png">    </p:cNvPr>
          <p:cNvPicPr>
            <a:picLocks noChangeAspect="1"/>
          </p:cNvPicPr>
          <p:nvPr/>
        </p:nvPicPr>
        <p:blipFill>
          <a:blip r:embed="rId1"/>
          <a:stretch>
            <a:fillRect/>
          </a:stretch>
        </p:blipFill>
        <p:spPr>
          <a:xfrm>
            <a:off x="365760" y="1353312"/>
            <a:ext cx="5669280" cy="2743200"/>
          </a:xfrm>
          <a:prstGeom prst="rect">
            <a:avLst/>
          </a:prstGeom>
        </p:spPr>
      </p:pic>
      <p:sp>
        <p:nvSpPr>
          <p:cNvPr id="7" name="Shape 4"/>
          <p:cNvSpPr/>
          <p:nvPr/>
        </p:nvSpPr>
        <p:spPr>
          <a:xfrm>
            <a:off x="6172200" y="1353312"/>
            <a:ext cx="2606040" cy="274320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8" name="Shape 5"/>
          <p:cNvSpPr/>
          <p:nvPr/>
        </p:nvSpPr>
        <p:spPr>
          <a:xfrm>
            <a:off x="6172200" y="1353312"/>
            <a:ext cx="2606040" cy="73152"/>
          </a:xfrm>
          <a:prstGeom prst="rect">
            <a:avLst/>
          </a:prstGeom>
          <a:solidFill>
            <a:srgbClr val="1B7A8A"/>
          </a:solidFill>
          <a:ln w="12700">
            <a:solidFill>
              <a:srgbClr val="1B7A8A"/>
            </a:solidFill>
            <a:prstDash val="solid"/>
          </a:ln>
        </p:spPr>
      </p:sp>
      <p:sp>
        <p:nvSpPr>
          <p:cNvPr id="9" name="Text 6"/>
          <p:cNvSpPr/>
          <p:nvPr/>
        </p:nvSpPr>
        <p:spPr>
          <a:xfrm>
            <a:off x="6172200" y="1463040"/>
            <a:ext cx="2606040" cy="274320"/>
          </a:xfrm>
          <a:prstGeom prst="rect">
            <a:avLst/>
          </a:prstGeom>
          <a:noFill/>
          <a:ln/>
        </p:spPr>
        <p:txBody>
          <a:bodyPr wrap="square" rtlCol="0" anchor="ctr"/>
          <a:lstStyle/>
          <a:p>
            <a:pPr algn="ctr" indent="0" marL="0">
              <a:buNone/>
            </a:pPr>
            <a:r>
              <a:rPr lang="en-US" sz="1100" b="1" dirty="0">
                <a:solidFill>
                  <a:srgbClr val="0D1B2A"/>
                </a:solidFill>
              </a:rPr>
              <a:t>Why Log?</a:t>
            </a:r>
            <a:endParaRPr lang="en-US" sz="1100" dirty="0"/>
          </a:p>
        </p:txBody>
      </p:sp>
      <p:sp>
        <p:nvSpPr>
          <p:cNvPr id="10" name="Shape 7"/>
          <p:cNvSpPr/>
          <p:nvPr/>
        </p:nvSpPr>
        <p:spPr>
          <a:xfrm>
            <a:off x="6309360" y="1865376"/>
            <a:ext cx="45720" cy="384048"/>
          </a:xfrm>
          <a:prstGeom prst="rect">
            <a:avLst/>
          </a:prstGeom>
          <a:solidFill>
            <a:srgbClr val="1B7A8A"/>
          </a:solidFill>
          <a:ln w="12700">
            <a:solidFill>
              <a:srgbClr val="1B7A8A"/>
            </a:solidFill>
            <a:prstDash val="solid"/>
          </a:ln>
        </p:spPr>
      </p:sp>
      <p:sp>
        <p:nvSpPr>
          <p:cNvPr id="11" name="Text 8"/>
          <p:cNvSpPr/>
          <p:nvPr/>
        </p:nvSpPr>
        <p:spPr>
          <a:xfrm>
            <a:off x="6446520" y="1865376"/>
            <a:ext cx="2194560" cy="201168"/>
          </a:xfrm>
          <a:prstGeom prst="rect">
            <a:avLst/>
          </a:prstGeom>
          <a:noFill/>
          <a:ln/>
        </p:spPr>
        <p:txBody>
          <a:bodyPr wrap="square" rtlCol="0" anchor="ctr"/>
          <a:lstStyle/>
          <a:p>
            <a:pPr indent="0" marL="0">
              <a:buNone/>
            </a:pPr>
            <a:r>
              <a:rPr lang="en-US" sz="950" b="1" dirty="0">
                <a:solidFill>
                  <a:srgbClr val="0D1B2A"/>
                </a:solidFill>
              </a:rPr>
              <a:t>Right skew</a:t>
            </a:r>
            <a:endParaRPr lang="en-US" sz="950" dirty="0"/>
          </a:p>
        </p:txBody>
      </p:sp>
      <p:sp>
        <p:nvSpPr>
          <p:cNvPr id="12" name="Text 9"/>
          <p:cNvSpPr/>
          <p:nvPr/>
        </p:nvSpPr>
        <p:spPr>
          <a:xfrm>
            <a:off x="6446520" y="2066544"/>
            <a:ext cx="2194560" cy="256032"/>
          </a:xfrm>
          <a:prstGeom prst="rect">
            <a:avLst/>
          </a:prstGeom>
          <a:noFill/>
          <a:ln/>
        </p:spPr>
        <p:txBody>
          <a:bodyPr wrap="square" rtlCol="0" anchor="ctr"/>
          <a:lstStyle/>
          <a:p>
            <a:pPr indent="0" marL="0">
              <a:buNone/>
            </a:pPr>
            <a:r>
              <a:rPr lang="en-US" sz="850" dirty="0">
                <a:solidFill>
                  <a:srgbClr val="64748B"/>
                </a:solidFill>
              </a:rPr>
              <a:t>Mean ($206K) well above Median ($180K). Log pulls outliers closer.</a:t>
            </a:r>
            <a:endParaRPr lang="en-US" sz="850" dirty="0"/>
          </a:p>
        </p:txBody>
      </p:sp>
      <p:sp>
        <p:nvSpPr>
          <p:cNvPr id="13" name="Shape 10"/>
          <p:cNvSpPr/>
          <p:nvPr/>
        </p:nvSpPr>
        <p:spPr>
          <a:xfrm>
            <a:off x="6309360" y="2432304"/>
            <a:ext cx="45720" cy="384048"/>
          </a:xfrm>
          <a:prstGeom prst="rect">
            <a:avLst/>
          </a:prstGeom>
          <a:solidFill>
            <a:srgbClr val="1B7A8A"/>
          </a:solidFill>
          <a:ln w="12700">
            <a:solidFill>
              <a:srgbClr val="1B7A8A"/>
            </a:solidFill>
            <a:prstDash val="solid"/>
          </a:ln>
        </p:spPr>
      </p:sp>
      <p:sp>
        <p:nvSpPr>
          <p:cNvPr id="14" name="Text 11"/>
          <p:cNvSpPr/>
          <p:nvPr/>
        </p:nvSpPr>
        <p:spPr>
          <a:xfrm>
            <a:off x="6446520" y="2432304"/>
            <a:ext cx="2194560" cy="201168"/>
          </a:xfrm>
          <a:prstGeom prst="rect">
            <a:avLst/>
          </a:prstGeom>
          <a:noFill/>
          <a:ln/>
        </p:spPr>
        <p:txBody>
          <a:bodyPr wrap="square" rtlCol="0" anchor="ctr"/>
          <a:lstStyle/>
          <a:p>
            <a:pPr indent="0" marL="0">
              <a:buNone/>
            </a:pPr>
            <a:r>
              <a:rPr lang="en-US" sz="950" b="1" dirty="0">
                <a:solidFill>
                  <a:srgbClr val="0D1B2A"/>
                </a:solidFill>
              </a:rPr>
              <a:t>Ceiling artefact</a:t>
            </a:r>
            <a:endParaRPr lang="en-US" sz="950" dirty="0"/>
          </a:p>
        </p:txBody>
      </p:sp>
      <p:sp>
        <p:nvSpPr>
          <p:cNvPr id="15" name="Text 12"/>
          <p:cNvSpPr/>
          <p:nvPr/>
        </p:nvSpPr>
        <p:spPr>
          <a:xfrm>
            <a:off x="6446520" y="2633472"/>
            <a:ext cx="2194560" cy="256032"/>
          </a:xfrm>
          <a:prstGeom prst="rect">
            <a:avLst/>
          </a:prstGeom>
          <a:noFill/>
          <a:ln/>
        </p:spPr>
        <p:txBody>
          <a:bodyPr wrap="square" rtlCol="0" anchor="ctr"/>
          <a:lstStyle/>
          <a:p>
            <a:pPr indent="0" marL="0">
              <a:buNone/>
            </a:pPr>
            <a:r>
              <a:rPr lang="en-US" sz="850" dirty="0">
                <a:solidFill>
                  <a:srgbClr val="64748B"/>
                </a:solidFill>
              </a:rPr>
              <a:t>965 obs at $500,001 distort OLS. Log compresses the spike.</a:t>
            </a:r>
            <a:endParaRPr lang="en-US" sz="850" dirty="0"/>
          </a:p>
        </p:txBody>
      </p:sp>
      <p:sp>
        <p:nvSpPr>
          <p:cNvPr id="16" name="Shape 13"/>
          <p:cNvSpPr/>
          <p:nvPr/>
        </p:nvSpPr>
        <p:spPr>
          <a:xfrm>
            <a:off x="6309360" y="2999232"/>
            <a:ext cx="45720" cy="384048"/>
          </a:xfrm>
          <a:prstGeom prst="rect">
            <a:avLst/>
          </a:prstGeom>
          <a:solidFill>
            <a:srgbClr val="1B7A8A"/>
          </a:solidFill>
          <a:ln w="12700">
            <a:solidFill>
              <a:srgbClr val="1B7A8A"/>
            </a:solidFill>
            <a:prstDash val="solid"/>
          </a:ln>
        </p:spPr>
      </p:sp>
      <p:sp>
        <p:nvSpPr>
          <p:cNvPr id="17" name="Text 14"/>
          <p:cNvSpPr/>
          <p:nvPr/>
        </p:nvSpPr>
        <p:spPr>
          <a:xfrm>
            <a:off x="6446520" y="2999232"/>
            <a:ext cx="2194560" cy="201168"/>
          </a:xfrm>
          <a:prstGeom prst="rect">
            <a:avLst/>
          </a:prstGeom>
          <a:noFill/>
          <a:ln/>
        </p:spPr>
        <p:txBody>
          <a:bodyPr wrap="square" rtlCol="0" anchor="ctr"/>
          <a:lstStyle/>
          <a:p>
            <a:pPr indent="0" marL="0">
              <a:buNone/>
            </a:pPr>
            <a:r>
              <a:rPr lang="en-US" sz="950" b="1" dirty="0">
                <a:solidFill>
                  <a:srgbClr val="0D1B2A"/>
                </a:solidFill>
              </a:rPr>
              <a:t>Multiplicative effects</a:t>
            </a:r>
            <a:endParaRPr lang="en-US" sz="950" dirty="0"/>
          </a:p>
        </p:txBody>
      </p:sp>
      <p:sp>
        <p:nvSpPr>
          <p:cNvPr id="18" name="Text 15"/>
          <p:cNvSpPr/>
          <p:nvPr/>
        </p:nvSpPr>
        <p:spPr>
          <a:xfrm>
            <a:off x="6446520" y="3200400"/>
            <a:ext cx="2194560" cy="256032"/>
          </a:xfrm>
          <a:prstGeom prst="rect">
            <a:avLst/>
          </a:prstGeom>
          <a:noFill/>
          <a:ln/>
        </p:spPr>
        <p:txBody>
          <a:bodyPr wrap="square" rtlCol="0" anchor="ctr"/>
          <a:lstStyle/>
          <a:p>
            <a:pPr indent="0" marL="0">
              <a:buNone/>
            </a:pPr>
            <a:r>
              <a:rPr lang="en-US" sz="850" dirty="0">
                <a:solidFill>
                  <a:srgbClr val="64748B"/>
                </a:solidFill>
              </a:rPr>
              <a:t>A $10K income rise in Beverly Hills differs from Fresno. Log makes effects proportional.</a:t>
            </a:r>
            <a:endParaRPr lang="en-US" sz="850" dirty="0"/>
          </a:p>
        </p:txBody>
      </p:sp>
      <p:sp>
        <p:nvSpPr>
          <p:cNvPr id="19" name="Shape 16"/>
          <p:cNvSpPr/>
          <p:nvPr/>
        </p:nvSpPr>
        <p:spPr>
          <a:xfrm>
            <a:off x="6309360" y="3566160"/>
            <a:ext cx="45720" cy="384048"/>
          </a:xfrm>
          <a:prstGeom prst="rect">
            <a:avLst/>
          </a:prstGeom>
          <a:solidFill>
            <a:srgbClr val="1B7A8A"/>
          </a:solidFill>
          <a:ln w="12700">
            <a:solidFill>
              <a:srgbClr val="1B7A8A"/>
            </a:solidFill>
            <a:prstDash val="solid"/>
          </a:ln>
        </p:spPr>
      </p:sp>
      <p:sp>
        <p:nvSpPr>
          <p:cNvPr id="20" name="Text 17"/>
          <p:cNvSpPr/>
          <p:nvPr/>
        </p:nvSpPr>
        <p:spPr>
          <a:xfrm>
            <a:off x="6446520" y="3566160"/>
            <a:ext cx="2194560" cy="201168"/>
          </a:xfrm>
          <a:prstGeom prst="rect">
            <a:avLst/>
          </a:prstGeom>
          <a:noFill/>
          <a:ln/>
        </p:spPr>
        <p:txBody>
          <a:bodyPr wrap="square" rtlCol="0" anchor="ctr"/>
          <a:lstStyle/>
          <a:p>
            <a:pPr indent="0" marL="0">
              <a:buNone/>
            </a:pPr>
            <a:r>
              <a:rPr lang="en-US" sz="950" b="1" dirty="0">
                <a:solidFill>
                  <a:srgbClr val="0D1B2A"/>
                </a:solidFill>
              </a:rPr>
              <a:t>Normality of errors</a:t>
            </a:r>
            <a:endParaRPr lang="en-US" sz="950" dirty="0"/>
          </a:p>
        </p:txBody>
      </p:sp>
      <p:sp>
        <p:nvSpPr>
          <p:cNvPr id="21" name="Text 18"/>
          <p:cNvSpPr/>
          <p:nvPr/>
        </p:nvSpPr>
        <p:spPr>
          <a:xfrm>
            <a:off x="6446520" y="3767328"/>
            <a:ext cx="2194560" cy="256032"/>
          </a:xfrm>
          <a:prstGeom prst="rect">
            <a:avLst/>
          </a:prstGeom>
          <a:noFill/>
          <a:ln/>
        </p:spPr>
        <p:txBody>
          <a:bodyPr wrap="square" rtlCol="0" anchor="ctr"/>
          <a:lstStyle/>
          <a:p>
            <a:pPr indent="0" marL="0">
              <a:buNone/>
            </a:pPr>
            <a:r>
              <a:rPr lang="en-US" sz="850" dirty="0">
                <a:solidFill>
                  <a:srgbClr val="64748B"/>
                </a:solidFill>
              </a:rPr>
              <a:t>Log(y) residuals are closer to normal; OLS assumptions better satisfied.</a:t>
            </a:r>
            <a:endParaRPr lang="en-US" sz="850" dirty="0"/>
          </a:p>
        </p:txBody>
      </p:sp>
      <p:sp>
        <p:nvSpPr>
          <p:cNvPr id="22" name="Shape 19"/>
          <p:cNvSpPr/>
          <p:nvPr/>
        </p:nvSpPr>
        <p:spPr>
          <a:xfrm>
            <a:off x="365760" y="4206240"/>
            <a:ext cx="8412480" cy="658368"/>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23" name="Shape 20"/>
          <p:cNvSpPr/>
          <p:nvPr/>
        </p:nvSpPr>
        <p:spPr>
          <a:xfrm>
            <a:off x="365760" y="4206240"/>
            <a:ext cx="8412480" cy="54864"/>
          </a:xfrm>
          <a:prstGeom prst="rect">
            <a:avLst/>
          </a:prstGeom>
          <a:solidFill>
            <a:srgbClr val="FDAE61"/>
          </a:solidFill>
          <a:ln w="12700">
            <a:solidFill>
              <a:srgbClr val="FDAE61"/>
            </a:solidFill>
            <a:prstDash val="solid"/>
          </a:ln>
        </p:spPr>
      </p:sp>
      <p:sp>
        <p:nvSpPr>
          <p:cNvPr id="24" name="Text 21"/>
          <p:cNvSpPr/>
          <p:nvPr/>
        </p:nvSpPr>
        <p:spPr>
          <a:xfrm>
            <a:off x="502920" y="4325112"/>
            <a:ext cx="8138160" cy="475488"/>
          </a:xfrm>
          <a:prstGeom prst="rect">
            <a:avLst/>
          </a:prstGeom>
          <a:noFill/>
          <a:ln/>
        </p:spPr>
        <p:txBody>
          <a:bodyPr wrap="square" rtlCol="0" anchor="ctr"/>
          <a:lstStyle/>
          <a:p>
            <a:pPr indent="0" marL="0">
              <a:buNone/>
            </a:pPr>
            <a:r>
              <a:rPr lang="en-US" sz="950" dirty="0">
                <a:solidFill>
                  <a:srgbClr val="0D1B2A"/>
                </a:solidFill>
              </a:rPr>
              <a:t>Practical implication: all model outputs are in log($). Predictions must be back-transformed via exp() to return to dollar scale. RMSE values reported throughout are in log units; multiply by ~$100K for a rough dollar magnitude.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EDA · GEOGRAPHY</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Geography Is a Structural Determinant, Not Just a Covariate</a:t>
            </a:r>
            <a:endParaRPr lang="en-US" sz="2400" dirty="0"/>
          </a:p>
        </p:txBody>
      </p:sp>
      <p:sp>
        <p:nvSpPr>
          <p:cNvPr id="5" name="Text 3"/>
          <p:cNvSpPr/>
          <p:nvPr/>
        </p:nvSpPr>
        <p:spPr>
          <a:xfrm>
            <a:off x="365760" y="1024128"/>
            <a:ext cx="8412480" cy="246888"/>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High-value properties cluster on the coast; the Central Valley is systematically low. Non-spatial models miss this structure.</a:t>
            </a:r>
            <a:endParaRPr lang="en-US" sz="1050" dirty="0"/>
          </a:p>
        </p:txBody>
      </p:sp>
      <p:pic>
        <p:nvPicPr>
          <p:cNvPr id="6" name="Image 0" descr="preencoded.png">    </p:cNvPr>
          <p:cNvPicPr>
            <a:picLocks noChangeAspect="1"/>
          </p:cNvPicPr>
          <p:nvPr/>
        </p:nvPicPr>
        <p:blipFill>
          <a:blip r:embed="rId1"/>
          <a:stretch>
            <a:fillRect/>
          </a:stretch>
        </p:blipFill>
        <p:spPr>
          <a:xfrm>
            <a:off x="365760" y="1325880"/>
            <a:ext cx="2926080" cy="3520440"/>
          </a:xfrm>
          <a:prstGeom prst="rect">
            <a:avLst/>
          </a:prstGeom>
        </p:spPr>
      </p:pic>
      <p:pic>
        <p:nvPicPr>
          <p:cNvPr id="7" name="Image 1" descr="preencoded.png">    </p:cNvPr>
          <p:cNvPicPr>
            <a:picLocks noChangeAspect="1"/>
          </p:cNvPicPr>
          <p:nvPr/>
        </p:nvPicPr>
        <p:blipFill>
          <a:blip r:embed="rId2"/>
          <a:stretch>
            <a:fillRect/>
          </a:stretch>
        </p:blipFill>
        <p:spPr>
          <a:xfrm>
            <a:off x="3474720" y="1325880"/>
            <a:ext cx="5303520" cy="3520440"/>
          </a:xfrm>
          <a:prstGeom prst="rect">
            <a:avLst/>
          </a:prstGeom>
        </p:spPr>
      </p:pic>
      <p:sp>
        <p:nvSpPr>
          <p:cNvPr id="8" name="Shape 4"/>
          <p:cNvSpPr/>
          <p:nvPr/>
        </p:nvSpPr>
        <p:spPr>
          <a:xfrm>
            <a:off x="365760" y="4919472"/>
            <a:ext cx="8412480" cy="384048"/>
          </a:xfrm>
          <a:prstGeom prst="rect">
            <a:avLst/>
          </a:prstGeom>
          <a:solidFill>
            <a:srgbClr val="0D1B2A"/>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9" name="Text 5"/>
          <p:cNvSpPr/>
          <p:nvPr/>
        </p:nvSpPr>
        <p:spPr>
          <a:xfrm>
            <a:off x="502920" y="4919472"/>
            <a:ext cx="8138160" cy="384048"/>
          </a:xfrm>
          <a:prstGeom prst="rect">
            <a:avLst/>
          </a:prstGeom>
          <a:noFill/>
          <a:ln/>
        </p:spPr>
        <p:txBody>
          <a:bodyPr wrap="square" rtlCol="0" anchor="ctr"/>
          <a:lstStyle/>
          <a:p>
            <a:pPr indent="0" marL="0">
              <a:buNone/>
            </a:pPr>
            <a:r>
              <a:rPr lang="en-US" sz="950" b="1" dirty="0">
                <a:solidFill>
                  <a:srgbClr val="28A5B5"/>
                </a:solidFill>
              </a:rPr>
              <a:t>Moran's I = 0.762 </a:t>
            </a:r>
            <a:pPr indent="0" marL="0">
              <a:buNone/>
            </a:pPr>
            <a:r>
              <a:rPr lang="en-US" sz="950" dirty="0">
                <a:solidFill>
                  <a:srgbClr val="A8DADC"/>
                </a:solidFill>
              </a:rPr>
              <a:t>on log(House Value): extremely strong spatial autocorrelation (z=115, p&lt;0.0001). Nearby block groups share similar values. Any non-spatial model leaves this signal partially captured.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FEATURE ENG.</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Four Engineered Features: Ratios Over Raw Counts</a:t>
            </a:r>
            <a:endParaRPr lang="en-US" sz="2400" dirty="0"/>
          </a:p>
        </p:txBody>
      </p:sp>
      <p:sp>
        <p:nvSpPr>
          <p:cNvPr id="5" name="Text 3"/>
          <p:cNvSpPr/>
          <p:nvPr/>
        </p:nvSpPr>
        <p:spPr>
          <a:xfrm>
            <a:off x="365760" y="1024128"/>
            <a:ext cx="8412480" cy="246888"/>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Raw counts are ambiguous. Ratios encode density and quality signals. A 10,000-room block group is unremarkable with 3,000 households.</a:t>
            </a:r>
            <a:endParaRPr lang="en-US" sz="1050" dirty="0"/>
          </a:p>
        </p:txBody>
      </p:sp>
      <p:sp>
        <p:nvSpPr>
          <p:cNvPr id="6" name="Shape 4"/>
          <p:cNvSpPr/>
          <p:nvPr/>
        </p:nvSpPr>
        <p:spPr>
          <a:xfrm>
            <a:off x="365760" y="1371600"/>
            <a:ext cx="4114800" cy="1627632"/>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65760" y="1371600"/>
            <a:ext cx="4114800" cy="54864"/>
          </a:xfrm>
          <a:prstGeom prst="rect">
            <a:avLst/>
          </a:prstGeom>
          <a:solidFill>
            <a:srgbClr val="1B7A8A"/>
          </a:solidFill>
          <a:ln w="12700">
            <a:solidFill>
              <a:srgbClr val="1B7A8A"/>
            </a:solidFill>
            <a:prstDash val="solid"/>
          </a:ln>
        </p:spPr>
      </p:sp>
      <p:sp>
        <p:nvSpPr>
          <p:cNvPr id="8" name="Text 6"/>
          <p:cNvSpPr/>
          <p:nvPr/>
        </p:nvSpPr>
        <p:spPr>
          <a:xfrm>
            <a:off x="457200" y="1463040"/>
            <a:ext cx="3931920" cy="256032"/>
          </a:xfrm>
          <a:prstGeom prst="rect">
            <a:avLst/>
          </a:prstGeom>
          <a:noFill/>
          <a:ln/>
        </p:spPr>
        <p:txBody>
          <a:bodyPr wrap="square" rtlCol="0" anchor="ctr"/>
          <a:lstStyle/>
          <a:p>
            <a:pPr indent="0" marL="0">
              <a:buNone/>
            </a:pPr>
            <a:r>
              <a:rPr lang="en-US" sz="1100" b="1" dirty="0">
                <a:solidFill>
                  <a:srgbClr val="1B7A8A"/>
                </a:solidFill>
              </a:rPr>
              <a:t>rooms_per_household</a:t>
            </a:r>
            <a:endParaRPr lang="en-US" sz="1100" dirty="0"/>
          </a:p>
        </p:txBody>
      </p:sp>
      <p:sp>
        <p:nvSpPr>
          <p:cNvPr id="9" name="Text 7"/>
          <p:cNvSpPr/>
          <p:nvPr/>
        </p:nvSpPr>
        <p:spPr>
          <a:xfrm>
            <a:off x="457200" y="1737360"/>
            <a:ext cx="3931920" cy="228600"/>
          </a:xfrm>
          <a:prstGeom prst="rect">
            <a:avLst/>
          </a:prstGeom>
          <a:noFill/>
          <a:ln/>
        </p:spPr>
        <p:txBody>
          <a:bodyPr wrap="square"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 total_rooms / households</a:t>
            </a:r>
            <a:endParaRPr lang="en-US" sz="1000" dirty="0"/>
          </a:p>
        </p:txBody>
      </p:sp>
      <p:sp>
        <p:nvSpPr>
          <p:cNvPr id="10" name="Text 8"/>
          <p:cNvSpPr/>
          <p:nvPr/>
        </p:nvSpPr>
        <p:spPr>
          <a:xfrm>
            <a:off x="457200" y="1993392"/>
            <a:ext cx="3931920" cy="182880"/>
          </a:xfrm>
          <a:prstGeom prst="rect">
            <a:avLst/>
          </a:prstGeom>
          <a:noFill/>
          <a:ln/>
        </p:spPr>
        <p:txBody>
          <a:bodyPr wrap="square" rtlCol="0" anchor="ctr"/>
          <a:lstStyle/>
          <a:p>
            <a:pPr indent="0" marL="0">
              <a:buNone/>
            </a:pPr>
            <a:r>
              <a:rPr lang="en-US" sz="900" dirty="0">
                <a:solidFill>
                  <a:srgbClr val="64748B"/>
                </a:solidFill>
              </a:rPr>
              <a:t>Mean: 5.43   Std: 2.47</a:t>
            </a:r>
            <a:endParaRPr lang="en-US" sz="900" dirty="0"/>
          </a:p>
        </p:txBody>
      </p:sp>
      <p:sp>
        <p:nvSpPr>
          <p:cNvPr id="11" name="Text 9"/>
          <p:cNvSpPr/>
          <p:nvPr/>
        </p:nvSpPr>
        <p:spPr>
          <a:xfrm>
            <a:off x="457200" y="2212848"/>
            <a:ext cx="3931920" cy="685800"/>
          </a:xfrm>
          <a:prstGeom prst="rect">
            <a:avLst/>
          </a:prstGeom>
          <a:noFill/>
          <a:ln/>
        </p:spPr>
        <p:txBody>
          <a:bodyPr wrap="square" rtlCol="0" anchor="ctr"/>
          <a:lstStyle/>
          <a:p>
            <a:pPr indent="0" marL="0">
              <a:buNone/>
            </a:pPr>
            <a:r>
              <a:rPr lang="en-US" sz="950" dirty="0">
                <a:solidFill>
                  <a:srgbClr val="0D1B2A"/>
                </a:solidFill>
              </a:rPr>
              <a:t>Proxy for living space per unit. Large values signal luxury or low-occupancy stock. Appears in top 5 XGBoost features.</a:t>
            </a:r>
            <a:endParaRPr lang="en-US" sz="950" dirty="0"/>
          </a:p>
        </p:txBody>
      </p:sp>
      <p:sp>
        <p:nvSpPr>
          <p:cNvPr id="12" name="Shape 10"/>
          <p:cNvSpPr/>
          <p:nvPr/>
        </p:nvSpPr>
        <p:spPr>
          <a:xfrm>
            <a:off x="4800600" y="1371600"/>
            <a:ext cx="4114800" cy="1627632"/>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4800600" y="1371600"/>
            <a:ext cx="4114800" cy="54864"/>
          </a:xfrm>
          <a:prstGeom prst="rect">
            <a:avLst/>
          </a:prstGeom>
          <a:solidFill>
            <a:srgbClr val="2C7BB6"/>
          </a:solidFill>
          <a:ln w="12700">
            <a:solidFill>
              <a:srgbClr val="2C7BB6"/>
            </a:solidFill>
            <a:prstDash val="solid"/>
          </a:ln>
        </p:spPr>
      </p:sp>
      <p:sp>
        <p:nvSpPr>
          <p:cNvPr id="14" name="Text 12"/>
          <p:cNvSpPr/>
          <p:nvPr/>
        </p:nvSpPr>
        <p:spPr>
          <a:xfrm>
            <a:off x="4892040" y="1463040"/>
            <a:ext cx="3931920" cy="256032"/>
          </a:xfrm>
          <a:prstGeom prst="rect">
            <a:avLst/>
          </a:prstGeom>
          <a:noFill/>
          <a:ln/>
        </p:spPr>
        <p:txBody>
          <a:bodyPr wrap="square" rtlCol="0" anchor="ctr"/>
          <a:lstStyle/>
          <a:p>
            <a:pPr indent="0" marL="0">
              <a:buNone/>
            </a:pPr>
            <a:r>
              <a:rPr lang="en-US" sz="1100" b="1" dirty="0">
                <a:solidFill>
                  <a:srgbClr val="2C7BB6"/>
                </a:solidFill>
              </a:rPr>
              <a:t>bedrooms_per_room</a:t>
            </a:r>
            <a:endParaRPr lang="en-US" sz="1100" dirty="0"/>
          </a:p>
        </p:txBody>
      </p:sp>
      <p:sp>
        <p:nvSpPr>
          <p:cNvPr id="15" name="Text 13"/>
          <p:cNvSpPr/>
          <p:nvPr/>
        </p:nvSpPr>
        <p:spPr>
          <a:xfrm>
            <a:off x="4892040" y="1737360"/>
            <a:ext cx="3931920" cy="228600"/>
          </a:xfrm>
          <a:prstGeom prst="rect">
            <a:avLst/>
          </a:prstGeom>
          <a:noFill/>
          <a:ln/>
        </p:spPr>
        <p:txBody>
          <a:bodyPr wrap="square"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 total_bedrooms / total_rooms</a:t>
            </a:r>
            <a:endParaRPr lang="en-US" sz="1000" dirty="0"/>
          </a:p>
        </p:txBody>
      </p:sp>
      <p:sp>
        <p:nvSpPr>
          <p:cNvPr id="16" name="Text 14"/>
          <p:cNvSpPr/>
          <p:nvPr/>
        </p:nvSpPr>
        <p:spPr>
          <a:xfrm>
            <a:off x="4892040" y="1993392"/>
            <a:ext cx="3931920" cy="182880"/>
          </a:xfrm>
          <a:prstGeom prst="rect">
            <a:avLst/>
          </a:prstGeom>
          <a:noFill/>
          <a:ln/>
        </p:spPr>
        <p:txBody>
          <a:bodyPr wrap="square" rtlCol="0" anchor="ctr"/>
          <a:lstStyle/>
          <a:p>
            <a:pPr indent="0" marL="0">
              <a:buNone/>
            </a:pPr>
            <a:r>
              <a:rPr lang="en-US" sz="900" dirty="0">
                <a:solidFill>
                  <a:srgbClr val="64748B"/>
                </a:solidFill>
              </a:rPr>
              <a:t>Mean: 0.213   Std: 0.058</a:t>
            </a:r>
            <a:endParaRPr lang="en-US" sz="900" dirty="0"/>
          </a:p>
        </p:txBody>
      </p:sp>
      <p:sp>
        <p:nvSpPr>
          <p:cNvPr id="17" name="Text 15"/>
          <p:cNvSpPr/>
          <p:nvPr/>
        </p:nvSpPr>
        <p:spPr>
          <a:xfrm>
            <a:off x="4892040" y="2212848"/>
            <a:ext cx="3931920" cy="685800"/>
          </a:xfrm>
          <a:prstGeom prst="rect">
            <a:avLst/>
          </a:prstGeom>
          <a:noFill/>
          <a:ln/>
        </p:spPr>
        <p:txBody>
          <a:bodyPr wrap="square" rtlCol="0" anchor="ctr"/>
          <a:lstStyle/>
          <a:p>
            <a:pPr indent="0" marL="0">
              <a:buNone/>
            </a:pPr>
            <a:r>
              <a:rPr lang="en-US" sz="950" dirty="0">
                <a:solidFill>
                  <a:srgbClr val="0D1B2A"/>
                </a:solidFill>
              </a:rPr>
              <a:t>Low ratio = more living space per bedroom, higher quality. Negative GAM effect: fewer bedrooms relative to rooms means more valuable.</a:t>
            </a:r>
            <a:endParaRPr lang="en-US" sz="950" dirty="0"/>
          </a:p>
        </p:txBody>
      </p:sp>
      <p:sp>
        <p:nvSpPr>
          <p:cNvPr id="18" name="Shape 16"/>
          <p:cNvSpPr/>
          <p:nvPr/>
        </p:nvSpPr>
        <p:spPr>
          <a:xfrm>
            <a:off x="365760" y="3154680"/>
            <a:ext cx="4114800" cy="1627632"/>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365760" y="3154680"/>
            <a:ext cx="4114800" cy="54864"/>
          </a:xfrm>
          <a:prstGeom prst="rect">
            <a:avLst/>
          </a:prstGeom>
          <a:solidFill>
            <a:srgbClr val="FDAE61"/>
          </a:solidFill>
          <a:ln w="12700">
            <a:solidFill>
              <a:srgbClr val="FDAE61"/>
            </a:solidFill>
            <a:prstDash val="solid"/>
          </a:ln>
        </p:spPr>
      </p:sp>
      <p:sp>
        <p:nvSpPr>
          <p:cNvPr id="20" name="Text 18"/>
          <p:cNvSpPr/>
          <p:nvPr/>
        </p:nvSpPr>
        <p:spPr>
          <a:xfrm>
            <a:off x="457200" y="3246120"/>
            <a:ext cx="3931920" cy="256032"/>
          </a:xfrm>
          <a:prstGeom prst="rect">
            <a:avLst/>
          </a:prstGeom>
          <a:noFill/>
          <a:ln/>
        </p:spPr>
        <p:txBody>
          <a:bodyPr wrap="square" rtlCol="0" anchor="ctr"/>
          <a:lstStyle/>
          <a:p>
            <a:pPr indent="0" marL="0">
              <a:buNone/>
            </a:pPr>
            <a:r>
              <a:rPr lang="en-US" sz="1100" b="1" dirty="0">
                <a:solidFill>
                  <a:srgbClr val="FDAE61"/>
                </a:solidFill>
              </a:rPr>
              <a:t>population_per_household</a:t>
            </a:r>
            <a:endParaRPr lang="en-US" sz="1100" dirty="0"/>
          </a:p>
        </p:txBody>
      </p:sp>
      <p:sp>
        <p:nvSpPr>
          <p:cNvPr id="21" name="Text 19"/>
          <p:cNvSpPr/>
          <p:nvPr/>
        </p:nvSpPr>
        <p:spPr>
          <a:xfrm>
            <a:off x="457200" y="3520440"/>
            <a:ext cx="3931920" cy="228600"/>
          </a:xfrm>
          <a:prstGeom prst="rect">
            <a:avLst/>
          </a:prstGeom>
          <a:noFill/>
          <a:ln/>
        </p:spPr>
        <p:txBody>
          <a:bodyPr wrap="square"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 population / households</a:t>
            </a:r>
            <a:endParaRPr lang="en-US" sz="1000" dirty="0"/>
          </a:p>
        </p:txBody>
      </p:sp>
      <p:sp>
        <p:nvSpPr>
          <p:cNvPr id="22" name="Text 20"/>
          <p:cNvSpPr/>
          <p:nvPr/>
        </p:nvSpPr>
        <p:spPr>
          <a:xfrm>
            <a:off x="457200" y="3776472"/>
            <a:ext cx="3931920" cy="182880"/>
          </a:xfrm>
          <a:prstGeom prst="rect">
            <a:avLst/>
          </a:prstGeom>
          <a:noFill/>
          <a:ln/>
        </p:spPr>
        <p:txBody>
          <a:bodyPr wrap="square" rtlCol="0" anchor="ctr"/>
          <a:lstStyle/>
          <a:p>
            <a:pPr indent="0" marL="0">
              <a:buNone/>
            </a:pPr>
            <a:r>
              <a:rPr lang="en-US" sz="900" dirty="0">
                <a:solidFill>
                  <a:srgbClr val="64748B"/>
                </a:solidFill>
              </a:rPr>
              <a:t>Mean: 3.07   Std: 10.39</a:t>
            </a:r>
            <a:endParaRPr lang="en-US" sz="900" dirty="0"/>
          </a:p>
        </p:txBody>
      </p:sp>
      <p:sp>
        <p:nvSpPr>
          <p:cNvPr id="23" name="Text 21"/>
          <p:cNvSpPr/>
          <p:nvPr/>
        </p:nvSpPr>
        <p:spPr>
          <a:xfrm>
            <a:off x="457200" y="3995928"/>
            <a:ext cx="3931920" cy="685800"/>
          </a:xfrm>
          <a:prstGeom prst="rect">
            <a:avLst/>
          </a:prstGeom>
          <a:noFill/>
          <a:ln/>
        </p:spPr>
        <p:txBody>
          <a:bodyPr wrap="square" rtlCol="0" anchor="ctr"/>
          <a:lstStyle/>
          <a:p>
            <a:pPr indent="0" marL="0">
              <a:buNone/>
            </a:pPr>
            <a:r>
              <a:rPr lang="en-US" sz="950" dirty="0">
                <a:solidFill>
                  <a:srgbClr val="0D1B2A"/>
                </a:solidFill>
              </a:rPr>
              <a:t>Crowding proxy. High values indicate dense, lower-income block groups. SLM coefficient is significantly negative (beta = -0.001, z = -8.2).</a:t>
            </a:r>
            <a:endParaRPr lang="en-US" sz="950" dirty="0"/>
          </a:p>
        </p:txBody>
      </p:sp>
      <p:sp>
        <p:nvSpPr>
          <p:cNvPr id="24" name="Shape 22"/>
          <p:cNvSpPr/>
          <p:nvPr/>
        </p:nvSpPr>
        <p:spPr>
          <a:xfrm>
            <a:off x="4800600" y="3154680"/>
            <a:ext cx="4114800" cy="1627632"/>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4800600" y="3154680"/>
            <a:ext cx="4114800" cy="54864"/>
          </a:xfrm>
          <a:prstGeom prst="rect">
            <a:avLst/>
          </a:prstGeom>
          <a:solidFill>
            <a:srgbClr val="7B2D8B"/>
          </a:solidFill>
          <a:ln w="12700">
            <a:solidFill>
              <a:srgbClr val="7B2D8B"/>
            </a:solidFill>
            <a:prstDash val="solid"/>
          </a:ln>
        </p:spPr>
      </p:sp>
      <p:sp>
        <p:nvSpPr>
          <p:cNvPr id="26" name="Text 24"/>
          <p:cNvSpPr/>
          <p:nvPr/>
        </p:nvSpPr>
        <p:spPr>
          <a:xfrm>
            <a:off x="4892040" y="3246120"/>
            <a:ext cx="3931920" cy="256032"/>
          </a:xfrm>
          <a:prstGeom prst="rect">
            <a:avLst/>
          </a:prstGeom>
          <a:noFill/>
          <a:ln/>
        </p:spPr>
        <p:txBody>
          <a:bodyPr wrap="square" rtlCol="0" anchor="ctr"/>
          <a:lstStyle/>
          <a:p>
            <a:pPr indent="0" marL="0">
              <a:buNone/>
            </a:pPr>
            <a:r>
              <a:rPr lang="en-US" sz="1100" b="1" dirty="0">
                <a:solidFill>
                  <a:srgbClr val="7B2D8B"/>
                </a:solidFill>
              </a:rPr>
              <a:t>income_age_interaction</a:t>
            </a:r>
            <a:endParaRPr lang="en-US" sz="1100" dirty="0"/>
          </a:p>
        </p:txBody>
      </p:sp>
      <p:sp>
        <p:nvSpPr>
          <p:cNvPr id="27" name="Text 25"/>
          <p:cNvSpPr/>
          <p:nvPr/>
        </p:nvSpPr>
        <p:spPr>
          <a:xfrm>
            <a:off x="4892040" y="3520440"/>
            <a:ext cx="3931920" cy="228600"/>
          </a:xfrm>
          <a:prstGeom prst="rect">
            <a:avLst/>
          </a:prstGeom>
          <a:noFill/>
          <a:ln/>
        </p:spPr>
        <p:txBody>
          <a:bodyPr wrap="square"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 median_income x housing_median_age</a:t>
            </a:r>
            <a:endParaRPr lang="en-US" sz="1000" dirty="0"/>
          </a:p>
        </p:txBody>
      </p:sp>
      <p:sp>
        <p:nvSpPr>
          <p:cNvPr id="28" name="Text 26"/>
          <p:cNvSpPr/>
          <p:nvPr/>
        </p:nvSpPr>
        <p:spPr>
          <a:xfrm>
            <a:off x="4892040" y="3776472"/>
            <a:ext cx="3931920" cy="182880"/>
          </a:xfrm>
          <a:prstGeom prst="rect">
            <a:avLst/>
          </a:prstGeom>
          <a:noFill/>
          <a:ln/>
        </p:spPr>
        <p:txBody>
          <a:bodyPr wrap="square" rtlCol="0" anchor="ctr"/>
          <a:lstStyle/>
          <a:p>
            <a:pPr indent="0" marL="0">
              <a:buNone/>
            </a:pPr>
            <a:r>
              <a:rPr lang="en-US" sz="900" dirty="0">
                <a:solidFill>
                  <a:srgbClr val="64748B"/>
                </a:solidFill>
              </a:rPr>
              <a:t>Mean: 108.0   Std: 74.4</a:t>
            </a:r>
            <a:endParaRPr lang="en-US" sz="900" dirty="0"/>
          </a:p>
        </p:txBody>
      </p:sp>
      <p:sp>
        <p:nvSpPr>
          <p:cNvPr id="29" name="Text 27"/>
          <p:cNvSpPr/>
          <p:nvPr/>
        </p:nvSpPr>
        <p:spPr>
          <a:xfrm>
            <a:off x="4892040" y="3995928"/>
            <a:ext cx="3931920" cy="685800"/>
          </a:xfrm>
          <a:prstGeom prst="rect">
            <a:avLst/>
          </a:prstGeom>
          <a:noFill/>
          <a:ln/>
        </p:spPr>
        <p:txBody>
          <a:bodyPr wrap="square" rtlCol="0" anchor="ctr"/>
          <a:lstStyle/>
          <a:p>
            <a:pPr indent="0" marL="0">
              <a:buNone/>
            </a:pPr>
            <a:r>
              <a:rPr lang="en-US" sz="950" dirty="0">
                <a:solidFill>
                  <a:srgbClr val="0D1B2A"/>
                </a:solidFill>
              </a:rPr>
              <a:t>Captures the joint signal: high income and old stock = established wealth district. Negative SLM coefficient (beta = -0.0004) suggests age discounts high-income value.</a:t>
            </a:r>
            <a:endParaRPr lang="en-US" sz="950" dirty="0"/>
          </a:p>
        </p:txBody>
      </p:sp>
      <p:sp>
        <p:nvSpPr>
          <p:cNvPr id="30" name="Shape 28"/>
          <p:cNvSpPr/>
          <p:nvPr/>
        </p:nvSpPr>
        <p:spPr>
          <a:xfrm>
            <a:off x="365760" y="4919472"/>
            <a:ext cx="8412480" cy="292608"/>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31" name="Text 29"/>
          <p:cNvSpPr/>
          <p:nvPr/>
        </p:nvSpPr>
        <p:spPr>
          <a:xfrm>
            <a:off x="502920" y="4919472"/>
            <a:ext cx="8138160" cy="292608"/>
          </a:xfrm>
          <a:prstGeom prst="rect">
            <a:avLst/>
          </a:prstGeom>
          <a:noFill/>
          <a:ln/>
        </p:spPr>
        <p:txBody>
          <a:bodyPr wrap="square" rtlCol="0" anchor="ctr"/>
          <a:lstStyle/>
          <a:p>
            <a:pPr indent="0" marL="0">
              <a:buNone/>
            </a:pPr>
            <a:r>
              <a:rPr lang="en-US" sz="850" i="1" dirty="0">
                <a:solidFill>
                  <a:srgbClr val="64748B"/>
                </a:solidFill>
              </a:rPr>
              <a:t>Train/test split: 80/20 (random_state=42). Target: log(median_house_value). Scaling applied for linear models and MLP; tree-based models receive unscaled features.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BASELINE · OLS</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OLS Baseline: What Linearity Can and Cannot See</a:t>
            </a:r>
            <a:endParaRPr lang="en-US" sz="2400" dirty="0"/>
          </a:p>
        </p:txBody>
      </p:sp>
      <p:sp>
        <p:nvSpPr>
          <p:cNvPr id="5" name="Text 3"/>
          <p:cNvSpPr/>
          <p:nvPr/>
        </p:nvSpPr>
        <p:spPr>
          <a:xfrm>
            <a:off x="365760" y="1024128"/>
            <a:ext cx="8412480" cy="246888"/>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R² = 0.633 on log scale. Not a bad model, but its residuals reveal exactly where the nonlinear story begins.</a:t>
            </a:r>
            <a:endParaRPr lang="en-US" sz="1050" dirty="0"/>
          </a:p>
        </p:txBody>
      </p:sp>
      <p:sp>
        <p:nvSpPr>
          <p:cNvPr id="6" name="Shape 4"/>
          <p:cNvSpPr/>
          <p:nvPr/>
        </p:nvSpPr>
        <p:spPr>
          <a:xfrm>
            <a:off x="365760" y="1371600"/>
            <a:ext cx="2011680" cy="32918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65760" y="1371600"/>
            <a:ext cx="2011680" cy="73152"/>
          </a:xfrm>
          <a:prstGeom prst="rect">
            <a:avLst/>
          </a:prstGeom>
          <a:solidFill>
            <a:srgbClr val="D7191C"/>
          </a:solidFill>
          <a:ln w="12700">
            <a:solidFill>
              <a:srgbClr val="D7191C"/>
            </a:solidFill>
            <a:prstDash val="solid"/>
          </a:ln>
        </p:spPr>
      </p:sp>
      <p:sp>
        <p:nvSpPr>
          <p:cNvPr id="8" name="Text 6"/>
          <p:cNvSpPr/>
          <p:nvPr/>
        </p:nvSpPr>
        <p:spPr>
          <a:xfrm>
            <a:off x="365760" y="1481328"/>
            <a:ext cx="2011680" cy="274320"/>
          </a:xfrm>
          <a:prstGeom prst="rect">
            <a:avLst/>
          </a:prstGeom>
          <a:noFill/>
          <a:ln/>
        </p:spPr>
        <p:txBody>
          <a:bodyPr wrap="square" rtlCol="0" anchor="ctr"/>
          <a:lstStyle/>
          <a:p>
            <a:pPr algn="ctr" indent="0" marL="0">
              <a:buNone/>
            </a:pPr>
            <a:r>
              <a:rPr lang="en-US" sz="1100" b="1" dirty="0">
                <a:solidFill>
                  <a:srgbClr val="0D1B2A"/>
                </a:solidFill>
              </a:rPr>
              <a:t>OLS Performance</a:t>
            </a:r>
            <a:endParaRPr lang="en-US" sz="1100" dirty="0"/>
          </a:p>
        </p:txBody>
      </p:sp>
      <p:sp>
        <p:nvSpPr>
          <p:cNvPr id="9" name="Text 7"/>
          <p:cNvSpPr/>
          <p:nvPr/>
        </p:nvSpPr>
        <p:spPr>
          <a:xfrm>
            <a:off x="475488" y="1920240"/>
            <a:ext cx="777240" cy="384048"/>
          </a:xfrm>
          <a:prstGeom prst="rect">
            <a:avLst/>
          </a:prstGeom>
          <a:noFill/>
          <a:ln/>
        </p:spPr>
        <p:txBody>
          <a:bodyPr wrap="square" rtlCol="0" anchor="ctr"/>
          <a:lstStyle/>
          <a:p>
            <a:pPr indent="0" marL="0">
              <a:buNone/>
            </a:pPr>
            <a:r>
              <a:rPr lang="en-US" sz="1100" dirty="0">
                <a:solidFill>
                  <a:srgbClr val="64748B"/>
                </a:solidFill>
              </a:rPr>
              <a:t>R²</a:t>
            </a:r>
            <a:endParaRPr lang="en-US" sz="1100" dirty="0"/>
          </a:p>
        </p:txBody>
      </p:sp>
      <p:sp>
        <p:nvSpPr>
          <p:cNvPr id="10" name="Text 8"/>
          <p:cNvSpPr/>
          <p:nvPr/>
        </p:nvSpPr>
        <p:spPr>
          <a:xfrm>
            <a:off x="1261872" y="1920240"/>
            <a:ext cx="1005840" cy="384048"/>
          </a:xfrm>
          <a:prstGeom prst="rect">
            <a:avLst/>
          </a:prstGeom>
          <a:noFill/>
          <a:ln/>
        </p:spPr>
        <p:txBody>
          <a:bodyPr wrap="square" rtlCol="0" anchor="ctr"/>
          <a:lstStyle/>
          <a:p>
            <a:pPr algn="r" indent="0" marL="0">
              <a:buNone/>
            </a:pPr>
            <a:r>
              <a:rPr lang="en-US" sz="1900" b="1" dirty="0">
                <a:solidFill>
                  <a:srgbClr val="D7191C"/>
                </a:solidFill>
              </a:rPr>
              <a:t>0.6330</a:t>
            </a:r>
            <a:endParaRPr lang="en-US" sz="1900" dirty="0"/>
          </a:p>
        </p:txBody>
      </p:sp>
      <p:sp>
        <p:nvSpPr>
          <p:cNvPr id="11" name="Text 9"/>
          <p:cNvSpPr/>
          <p:nvPr/>
        </p:nvSpPr>
        <p:spPr>
          <a:xfrm>
            <a:off x="475488" y="2578608"/>
            <a:ext cx="777240" cy="384048"/>
          </a:xfrm>
          <a:prstGeom prst="rect">
            <a:avLst/>
          </a:prstGeom>
          <a:noFill/>
          <a:ln/>
        </p:spPr>
        <p:txBody>
          <a:bodyPr wrap="square" rtlCol="0" anchor="ctr"/>
          <a:lstStyle/>
          <a:p>
            <a:pPr indent="0" marL="0">
              <a:buNone/>
            </a:pPr>
            <a:r>
              <a:rPr lang="en-US" sz="1100" dirty="0">
                <a:solidFill>
                  <a:srgbClr val="64748B"/>
                </a:solidFill>
              </a:rPr>
              <a:t>RMSE</a:t>
            </a:r>
            <a:endParaRPr lang="en-US" sz="1100" dirty="0"/>
          </a:p>
        </p:txBody>
      </p:sp>
      <p:sp>
        <p:nvSpPr>
          <p:cNvPr id="12" name="Text 10"/>
          <p:cNvSpPr/>
          <p:nvPr/>
        </p:nvSpPr>
        <p:spPr>
          <a:xfrm>
            <a:off x="1261872" y="2578608"/>
            <a:ext cx="1005840" cy="384048"/>
          </a:xfrm>
          <a:prstGeom prst="rect">
            <a:avLst/>
          </a:prstGeom>
          <a:noFill/>
          <a:ln/>
        </p:spPr>
        <p:txBody>
          <a:bodyPr wrap="square" rtlCol="0" anchor="ctr"/>
          <a:lstStyle/>
          <a:p>
            <a:pPr algn="r" indent="0" marL="0">
              <a:buNone/>
            </a:pPr>
            <a:r>
              <a:rPr lang="en-US" sz="1900" b="1" dirty="0">
                <a:solidFill>
                  <a:srgbClr val="D7191C"/>
                </a:solidFill>
              </a:rPr>
              <a:t>0.3451</a:t>
            </a:r>
            <a:endParaRPr lang="en-US" sz="1900" dirty="0"/>
          </a:p>
        </p:txBody>
      </p:sp>
      <p:sp>
        <p:nvSpPr>
          <p:cNvPr id="13" name="Text 11"/>
          <p:cNvSpPr/>
          <p:nvPr/>
        </p:nvSpPr>
        <p:spPr>
          <a:xfrm>
            <a:off x="475488" y="3236976"/>
            <a:ext cx="777240" cy="384048"/>
          </a:xfrm>
          <a:prstGeom prst="rect">
            <a:avLst/>
          </a:prstGeom>
          <a:noFill/>
          <a:ln/>
        </p:spPr>
        <p:txBody>
          <a:bodyPr wrap="square" rtlCol="0" anchor="ctr"/>
          <a:lstStyle/>
          <a:p>
            <a:pPr indent="0" marL="0">
              <a:buNone/>
            </a:pPr>
            <a:r>
              <a:rPr lang="en-US" sz="1100" dirty="0">
                <a:solidFill>
                  <a:srgbClr val="64748B"/>
                </a:solidFill>
              </a:rPr>
              <a:t>MAE</a:t>
            </a:r>
            <a:endParaRPr lang="en-US" sz="1100" dirty="0"/>
          </a:p>
        </p:txBody>
      </p:sp>
      <p:sp>
        <p:nvSpPr>
          <p:cNvPr id="14" name="Text 12"/>
          <p:cNvSpPr/>
          <p:nvPr/>
        </p:nvSpPr>
        <p:spPr>
          <a:xfrm>
            <a:off x="1261872" y="3236976"/>
            <a:ext cx="1005840" cy="384048"/>
          </a:xfrm>
          <a:prstGeom prst="rect">
            <a:avLst/>
          </a:prstGeom>
          <a:noFill/>
          <a:ln/>
        </p:spPr>
        <p:txBody>
          <a:bodyPr wrap="square" rtlCol="0" anchor="ctr"/>
          <a:lstStyle/>
          <a:p>
            <a:pPr algn="r" indent="0" marL="0">
              <a:buNone/>
            </a:pPr>
            <a:r>
              <a:rPr lang="en-US" sz="1900" b="1" dirty="0">
                <a:solidFill>
                  <a:srgbClr val="D7191C"/>
                </a:solidFill>
              </a:rPr>
              <a:t>0.2577</a:t>
            </a:r>
            <a:endParaRPr lang="en-US" sz="1900" dirty="0"/>
          </a:p>
        </p:txBody>
      </p:sp>
      <p:sp>
        <p:nvSpPr>
          <p:cNvPr id="15" name="Text 13"/>
          <p:cNvSpPr/>
          <p:nvPr/>
        </p:nvSpPr>
        <p:spPr>
          <a:xfrm>
            <a:off x="475488" y="3895344"/>
            <a:ext cx="777240" cy="384048"/>
          </a:xfrm>
          <a:prstGeom prst="rect">
            <a:avLst/>
          </a:prstGeom>
          <a:noFill/>
          <a:ln/>
        </p:spPr>
        <p:txBody>
          <a:bodyPr wrap="square" rtlCol="0" anchor="ctr"/>
          <a:lstStyle/>
          <a:p>
            <a:pPr indent="0" marL="0">
              <a:buNone/>
            </a:pPr>
            <a:r>
              <a:rPr lang="en-US" sz="1100" dirty="0">
                <a:solidFill>
                  <a:srgbClr val="64748B"/>
                </a:solidFill>
              </a:rPr>
              <a:t>Adj. R²</a:t>
            </a:r>
            <a:endParaRPr lang="en-US" sz="1100" dirty="0"/>
          </a:p>
        </p:txBody>
      </p:sp>
      <p:sp>
        <p:nvSpPr>
          <p:cNvPr id="16" name="Text 14"/>
          <p:cNvSpPr/>
          <p:nvPr/>
        </p:nvSpPr>
        <p:spPr>
          <a:xfrm>
            <a:off x="1261872" y="3895344"/>
            <a:ext cx="1005840" cy="384048"/>
          </a:xfrm>
          <a:prstGeom prst="rect">
            <a:avLst/>
          </a:prstGeom>
          <a:noFill/>
          <a:ln/>
        </p:spPr>
        <p:txBody>
          <a:bodyPr wrap="square" rtlCol="0" anchor="ctr"/>
          <a:lstStyle/>
          <a:p>
            <a:pPr algn="r" indent="0" marL="0">
              <a:buNone/>
            </a:pPr>
            <a:r>
              <a:rPr lang="en-US" sz="1900" b="1" dirty="0">
                <a:solidFill>
                  <a:srgbClr val="647E9E"/>
                </a:solidFill>
              </a:rPr>
              <a:t>0.6423</a:t>
            </a:r>
            <a:endParaRPr lang="en-US" sz="1900" dirty="0"/>
          </a:p>
        </p:txBody>
      </p:sp>
      <p:pic>
        <p:nvPicPr>
          <p:cNvPr id="17" name="Image 0" descr="preencoded.png">    </p:cNvPr>
          <p:cNvPicPr>
            <a:picLocks noChangeAspect="1"/>
          </p:cNvPicPr>
          <p:nvPr/>
        </p:nvPicPr>
        <p:blipFill>
          <a:blip r:embed="rId1"/>
          <a:stretch>
            <a:fillRect/>
          </a:stretch>
        </p:blipFill>
        <p:spPr>
          <a:xfrm>
            <a:off x="2560320" y="1353312"/>
            <a:ext cx="6217920" cy="2743200"/>
          </a:xfrm>
          <a:prstGeom prst="rect">
            <a:avLst/>
          </a:prstGeom>
        </p:spPr>
      </p:pic>
      <p:sp>
        <p:nvSpPr>
          <p:cNvPr id="18" name="Shape 15"/>
          <p:cNvSpPr/>
          <p:nvPr/>
        </p:nvSpPr>
        <p:spPr>
          <a:xfrm>
            <a:off x="365760" y="4663440"/>
            <a:ext cx="8412480" cy="658368"/>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9" name="Shape 16"/>
          <p:cNvSpPr/>
          <p:nvPr/>
        </p:nvSpPr>
        <p:spPr>
          <a:xfrm>
            <a:off x="365760" y="4663440"/>
            <a:ext cx="8412480" cy="54864"/>
          </a:xfrm>
          <a:prstGeom prst="rect">
            <a:avLst/>
          </a:prstGeom>
          <a:solidFill>
            <a:srgbClr val="0D1B2A"/>
          </a:solidFill>
          <a:ln w="12700">
            <a:solidFill>
              <a:srgbClr val="0D1B2A"/>
            </a:solidFill>
            <a:prstDash val="solid"/>
          </a:ln>
        </p:spPr>
      </p:sp>
      <p:sp>
        <p:nvSpPr>
          <p:cNvPr id="20" name="Text 17"/>
          <p:cNvSpPr/>
          <p:nvPr/>
        </p:nvSpPr>
        <p:spPr>
          <a:xfrm>
            <a:off x="502920" y="4754880"/>
            <a:ext cx="8138160" cy="502920"/>
          </a:xfrm>
          <a:prstGeom prst="rect">
            <a:avLst/>
          </a:prstGeom>
          <a:noFill/>
          <a:ln/>
        </p:spPr>
        <p:txBody>
          <a:bodyPr wrap="square" rtlCol="0" anchor="ctr"/>
          <a:lstStyle/>
          <a:p>
            <a:pPr algn="ctr" indent="0" marL="0">
              <a:buNone/>
            </a:pPr>
            <a:r>
              <a:rPr lang="en-US" sz="950" dirty="0">
                <a:solidFill>
                  <a:srgbClr val="0D1B2A"/>
                </a:solidFill>
              </a:rPr>
              <a:t>Fan-shaped residuals (heteroscedasticity)  ·  Curved residual band (concave income effect OLS cannot model)  ·  Coastal clusters of positive residuals (geographic signal unabsorbed)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MODELS</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Three Families, Three Epistemological Stances</a:t>
            </a:r>
            <a:endParaRPr lang="en-US" sz="2400" dirty="0"/>
          </a:p>
        </p:txBody>
      </p:sp>
      <p:sp>
        <p:nvSpPr>
          <p:cNvPr id="5" name="Shape 3"/>
          <p:cNvSpPr/>
          <p:nvPr/>
        </p:nvSpPr>
        <p:spPr>
          <a:xfrm>
            <a:off x="365760" y="1371600"/>
            <a:ext cx="2743200" cy="347472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65760" y="1371600"/>
            <a:ext cx="2743200" cy="502920"/>
          </a:xfrm>
          <a:prstGeom prst="rect">
            <a:avLst/>
          </a:prstGeom>
          <a:solidFill>
            <a:srgbClr val="D7191C"/>
          </a:solidFill>
          <a:ln w="12700">
            <a:solidFill>
              <a:srgbClr val="D7191C"/>
            </a:solidFill>
            <a:prstDash val="solid"/>
          </a:ln>
        </p:spPr>
      </p:sp>
      <p:sp>
        <p:nvSpPr>
          <p:cNvPr id="7" name="Text 5"/>
          <p:cNvSpPr/>
          <p:nvPr/>
        </p:nvSpPr>
        <p:spPr>
          <a:xfrm>
            <a:off x="365760" y="1371600"/>
            <a:ext cx="2743200" cy="502920"/>
          </a:xfrm>
          <a:prstGeom prst="rect">
            <a:avLst/>
          </a:prstGeom>
          <a:noFill/>
          <a:ln/>
        </p:spPr>
        <p:txBody>
          <a:bodyPr wrap="square" lIns="0" tIns="0" rIns="0" bIns="0" rtlCol="0" anchor="ctr"/>
          <a:lstStyle/>
          <a:p>
            <a:pPr algn="ctr" indent="0" marL="0">
              <a:buNone/>
            </a:pPr>
            <a:r>
              <a:rPr lang="en-US" sz="1500" b="1" dirty="0">
                <a:solidFill>
                  <a:srgbClr val="FFFFFF"/>
                </a:solidFill>
              </a:rPr>
              <a:t>Parametric</a:t>
            </a:r>
            <a:endParaRPr lang="en-US" sz="1500" dirty="0"/>
          </a:p>
        </p:txBody>
      </p:sp>
      <p:sp>
        <p:nvSpPr>
          <p:cNvPr id="8" name="Text 6"/>
          <p:cNvSpPr/>
          <p:nvPr/>
        </p:nvSpPr>
        <p:spPr>
          <a:xfrm>
            <a:off x="457200" y="1993392"/>
            <a:ext cx="2560320" cy="256032"/>
          </a:xfrm>
          <a:prstGeom prst="rect">
            <a:avLst/>
          </a:prstGeom>
          <a:noFill/>
          <a:ln/>
        </p:spPr>
        <p:txBody>
          <a:bodyPr wrap="square" rtlCol="0" anchor="ctr"/>
          <a:lstStyle/>
          <a:p>
            <a:pPr algn="ctr" indent="0" marL="0">
              <a:buNone/>
            </a:pPr>
            <a:r>
              <a:rPr lang="en-US" sz="1000" i="1" dirty="0">
                <a:solidFill>
                  <a:srgbClr val="64748B"/>
                </a:solidFill>
              </a:rPr>
              <a:t>OLS · Ridge · Lasso</a:t>
            </a:r>
            <a:endParaRPr lang="en-US" sz="1000" dirty="0"/>
          </a:p>
        </p:txBody>
      </p:sp>
      <p:sp>
        <p:nvSpPr>
          <p:cNvPr id="9" name="Text 7"/>
          <p:cNvSpPr/>
          <p:nvPr/>
        </p:nvSpPr>
        <p:spPr>
          <a:xfrm>
            <a:off x="502920" y="2331720"/>
            <a:ext cx="2468880" cy="1828800"/>
          </a:xfrm>
          <a:prstGeom prst="rect">
            <a:avLst/>
          </a:prstGeom>
          <a:noFill/>
          <a:ln/>
        </p:spPr>
        <p:txBody>
          <a:bodyPr wrap="square" rtlCol="0" anchor="t"/>
          <a:lstStyle/>
          <a:p>
            <a:pPr indent="0" marL="0">
              <a:buNone/>
            </a:pPr>
            <a:r>
              <a:rPr lang="en-US" sz="1000" dirty="0">
                <a:solidFill>
                  <a:srgbClr val="0D1B2A"/>
                </a:solidFill>
              </a:rPr>
              <a:t>Produces coefficients: legible, falsifiable, policy-relevant statements about each predictor. Assumes linearity. Best R²: 0.633.</a:t>
            </a:r>
            <a:endParaRPr lang="en-US" sz="1000" dirty="0"/>
          </a:p>
        </p:txBody>
      </p:sp>
      <p:sp>
        <p:nvSpPr>
          <p:cNvPr id="10" name="Shape 8"/>
          <p:cNvSpPr/>
          <p:nvPr/>
        </p:nvSpPr>
        <p:spPr>
          <a:xfrm>
            <a:off x="457200" y="4526280"/>
            <a:ext cx="2560320" cy="27432"/>
          </a:xfrm>
          <a:prstGeom prst="rect">
            <a:avLst/>
          </a:prstGeom>
          <a:solidFill>
            <a:srgbClr val="D7191C"/>
          </a:solidFill>
          <a:ln w="12700">
            <a:solidFill>
              <a:srgbClr val="D7191C"/>
            </a:solidFill>
            <a:prstDash val="solid"/>
          </a:ln>
        </p:spPr>
      </p:sp>
      <p:sp>
        <p:nvSpPr>
          <p:cNvPr id="11" name="Text 9"/>
          <p:cNvSpPr/>
          <p:nvPr/>
        </p:nvSpPr>
        <p:spPr>
          <a:xfrm>
            <a:off x="457200" y="4590288"/>
            <a:ext cx="2560320" cy="228600"/>
          </a:xfrm>
          <a:prstGeom prst="rect">
            <a:avLst/>
          </a:prstGeom>
          <a:noFill/>
          <a:ln/>
        </p:spPr>
        <p:txBody>
          <a:bodyPr wrap="square" rtlCol="0" anchor="ctr"/>
          <a:lstStyle/>
          <a:p>
            <a:pPr algn="ctr" indent="0" marL="0">
              <a:buNone/>
            </a:pPr>
            <a:r>
              <a:rPr lang="en-US" sz="950" b="1" dirty="0">
                <a:solidFill>
                  <a:srgbClr val="D7191C"/>
                </a:solidFill>
              </a:rPr>
              <a:t>Interpretability: High   Accuracy: Low</a:t>
            </a:r>
            <a:endParaRPr lang="en-US" sz="950" dirty="0"/>
          </a:p>
        </p:txBody>
      </p:sp>
      <p:sp>
        <p:nvSpPr>
          <p:cNvPr id="12" name="Shape 10"/>
          <p:cNvSpPr/>
          <p:nvPr/>
        </p:nvSpPr>
        <p:spPr>
          <a:xfrm>
            <a:off x="3291840" y="1371600"/>
            <a:ext cx="2743200" cy="347472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291840" y="1371600"/>
            <a:ext cx="2743200" cy="502920"/>
          </a:xfrm>
          <a:prstGeom prst="rect">
            <a:avLst/>
          </a:prstGeom>
          <a:solidFill>
            <a:srgbClr val="FDAE61"/>
          </a:solidFill>
          <a:ln w="12700">
            <a:solidFill>
              <a:srgbClr val="FDAE61"/>
            </a:solidFill>
            <a:prstDash val="solid"/>
          </a:ln>
        </p:spPr>
      </p:sp>
      <p:sp>
        <p:nvSpPr>
          <p:cNvPr id="14" name="Text 12"/>
          <p:cNvSpPr/>
          <p:nvPr/>
        </p:nvSpPr>
        <p:spPr>
          <a:xfrm>
            <a:off x="3291840" y="1371600"/>
            <a:ext cx="2743200" cy="502920"/>
          </a:xfrm>
          <a:prstGeom prst="rect">
            <a:avLst/>
          </a:prstGeom>
          <a:noFill/>
          <a:ln/>
        </p:spPr>
        <p:txBody>
          <a:bodyPr wrap="square" lIns="0" tIns="0" rIns="0" bIns="0" rtlCol="0" anchor="ctr"/>
          <a:lstStyle/>
          <a:p>
            <a:pPr algn="ctr" indent="0" marL="0">
              <a:buNone/>
            </a:pPr>
            <a:r>
              <a:rPr lang="en-US" sz="1500" b="1" dirty="0">
                <a:solidFill>
                  <a:srgbClr val="FFFFFF"/>
                </a:solidFill>
              </a:rPr>
              <a:t>GNPR</a:t>
            </a:r>
            <a:endParaRPr lang="en-US" sz="1500" dirty="0"/>
          </a:p>
        </p:txBody>
      </p:sp>
      <p:sp>
        <p:nvSpPr>
          <p:cNvPr id="15" name="Text 13"/>
          <p:cNvSpPr/>
          <p:nvPr/>
        </p:nvSpPr>
        <p:spPr>
          <a:xfrm>
            <a:off x="3383280" y="1993392"/>
            <a:ext cx="2560320" cy="256032"/>
          </a:xfrm>
          <a:prstGeom prst="rect">
            <a:avLst/>
          </a:prstGeom>
          <a:noFill/>
          <a:ln/>
        </p:spPr>
        <p:txBody>
          <a:bodyPr wrap="square" rtlCol="0" anchor="ctr"/>
          <a:lstStyle/>
          <a:p>
            <a:pPr algn="ctr" indent="0" marL="0">
              <a:buNone/>
            </a:pPr>
            <a:r>
              <a:rPr lang="en-US" sz="1000" i="1" dirty="0">
                <a:solidFill>
                  <a:srgbClr val="64748B"/>
                </a:solidFill>
              </a:rPr>
              <a:t>Splines · GAM</a:t>
            </a:r>
            <a:endParaRPr lang="en-US" sz="1000" dirty="0"/>
          </a:p>
        </p:txBody>
      </p:sp>
      <p:sp>
        <p:nvSpPr>
          <p:cNvPr id="16" name="Text 14"/>
          <p:cNvSpPr/>
          <p:nvPr/>
        </p:nvSpPr>
        <p:spPr>
          <a:xfrm>
            <a:off x="3429000" y="2331720"/>
            <a:ext cx="2468880" cy="1828800"/>
          </a:xfrm>
          <a:prstGeom prst="rect">
            <a:avLst/>
          </a:prstGeom>
          <a:noFill/>
          <a:ln/>
        </p:spPr>
        <p:txBody>
          <a:bodyPr wrap="square" rtlCol="0" anchor="t"/>
          <a:lstStyle/>
          <a:p>
            <a:pPr indent="0" marL="0">
              <a:buNone/>
            </a:pPr>
            <a:r>
              <a:rPr lang="en-US" sz="1000" dirty="0">
                <a:solidFill>
                  <a:srgbClr val="0D1B2A"/>
                </a:solidFill>
              </a:rPr>
              <a:t>Relaxes linearity while preserving additive interpretability. Each predictor gets a smooth curve f(x). Asks: what is the shape of each relationship? Best R²: 0.759.</a:t>
            </a:r>
            <a:endParaRPr lang="en-US" sz="1000" dirty="0"/>
          </a:p>
        </p:txBody>
      </p:sp>
      <p:sp>
        <p:nvSpPr>
          <p:cNvPr id="17" name="Shape 15"/>
          <p:cNvSpPr/>
          <p:nvPr/>
        </p:nvSpPr>
        <p:spPr>
          <a:xfrm>
            <a:off x="3383280" y="4526280"/>
            <a:ext cx="2560320" cy="27432"/>
          </a:xfrm>
          <a:prstGeom prst="rect">
            <a:avLst/>
          </a:prstGeom>
          <a:solidFill>
            <a:srgbClr val="FDAE61"/>
          </a:solidFill>
          <a:ln w="12700">
            <a:solidFill>
              <a:srgbClr val="FDAE61"/>
            </a:solidFill>
            <a:prstDash val="solid"/>
          </a:ln>
        </p:spPr>
      </p:sp>
      <p:sp>
        <p:nvSpPr>
          <p:cNvPr id="18" name="Text 16"/>
          <p:cNvSpPr/>
          <p:nvPr/>
        </p:nvSpPr>
        <p:spPr>
          <a:xfrm>
            <a:off x="3383280" y="4590288"/>
            <a:ext cx="2560320" cy="228600"/>
          </a:xfrm>
          <a:prstGeom prst="rect">
            <a:avLst/>
          </a:prstGeom>
          <a:noFill/>
          <a:ln/>
        </p:spPr>
        <p:txBody>
          <a:bodyPr wrap="square" rtlCol="0" anchor="ctr"/>
          <a:lstStyle/>
          <a:p>
            <a:pPr algn="ctr" indent="0" marL="0">
              <a:buNone/>
            </a:pPr>
            <a:r>
              <a:rPr lang="en-US" sz="950" b="1" dirty="0">
                <a:solidFill>
                  <a:srgbClr val="FDAE61"/>
                </a:solidFill>
              </a:rPr>
              <a:t>Interpretability: High   Accuracy: Medium</a:t>
            </a:r>
            <a:endParaRPr lang="en-US" sz="950" dirty="0"/>
          </a:p>
        </p:txBody>
      </p:sp>
      <p:sp>
        <p:nvSpPr>
          <p:cNvPr id="19" name="Shape 17"/>
          <p:cNvSpPr/>
          <p:nvPr/>
        </p:nvSpPr>
        <p:spPr>
          <a:xfrm>
            <a:off x="6217920" y="1371600"/>
            <a:ext cx="2743200" cy="347472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6217920" y="1371600"/>
            <a:ext cx="2743200" cy="502920"/>
          </a:xfrm>
          <a:prstGeom prst="rect">
            <a:avLst/>
          </a:prstGeom>
          <a:solidFill>
            <a:srgbClr val="2C7BB6"/>
          </a:solidFill>
          <a:ln w="12700">
            <a:solidFill>
              <a:srgbClr val="2C7BB6"/>
            </a:solidFill>
            <a:prstDash val="solid"/>
          </a:ln>
        </p:spPr>
      </p:sp>
      <p:sp>
        <p:nvSpPr>
          <p:cNvPr id="21" name="Text 19"/>
          <p:cNvSpPr/>
          <p:nvPr/>
        </p:nvSpPr>
        <p:spPr>
          <a:xfrm>
            <a:off x="6217920" y="1371600"/>
            <a:ext cx="2743200" cy="502920"/>
          </a:xfrm>
          <a:prstGeom prst="rect">
            <a:avLst/>
          </a:prstGeom>
          <a:noFill/>
          <a:ln/>
        </p:spPr>
        <p:txBody>
          <a:bodyPr wrap="square" lIns="0" tIns="0" rIns="0" bIns="0" rtlCol="0" anchor="ctr"/>
          <a:lstStyle/>
          <a:p>
            <a:pPr algn="ctr" indent="0" marL="0">
              <a:buNone/>
            </a:pPr>
            <a:r>
              <a:rPr lang="en-US" sz="1500" b="1" dirty="0">
                <a:solidFill>
                  <a:srgbClr val="FFFFFF"/>
                </a:solidFill>
              </a:rPr>
              <a:t>ML Ensemble</a:t>
            </a:r>
            <a:endParaRPr lang="en-US" sz="1500" dirty="0"/>
          </a:p>
        </p:txBody>
      </p:sp>
      <p:sp>
        <p:nvSpPr>
          <p:cNvPr id="22" name="Text 20"/>
          <p:cNvSpPr/>
          <p:nvPr/>
        </p:nvSpPr>
        <p:spPr>
          <a:xfrm>
            <a:off x="6309360" y="1993392"/>
            <a:ext cx="2560320" cy="256032"/>
          </a:xfrm>
          <a:prstGeom prst="rect">
            <a:avLst/>
          </a:prstGeom>
          <a:noFill/>
          <a:ln/>
        </p:spPr>
        <p:txBody>
          <a:bodyPr wrap="square" rtlCol="0" anchor="ctr"/>
          <a:lstStyle/>
          <a:p>
            <a:pPr algn="ctr" indent="0" marL="0">
              <a:buNone/>
            </a:pPr>
            <a:r>
              <a:rPr lang="en-US" sz="1000" i="1" dirty="0">
                <a:solidFill>
                  <a:srgbClr val="64748B"/>
                </a:solidFill>
              </a:rPr>
              <a:t>RF · GradBoost · XGBoost</a:t>
            </a:r>
            <a:endParaRPr lang="en-US" sz="1000" dirty="0"/>
          </a:p>
        </p:txBody>
      </p:sp>
      <p:sp>
        <p:nvSpPr>
          <p:cNvPr id="23" name="Text 21"/>
          <p:cNvSpPr/>
          <p:nvPr/>
        </p:nvSpPr>
        <p:spPr>
          <a:xfrm>
            <a:off x="6355080" y="2331720"/>
            <a:ext cx="2468880" cy="1828800"/>
          </a:xfrm>
          <a:prstGeom prst="rect">
            <a:avLst/>
          </a:prstGeom>
          <a:noFill/>
          <a:ln/>
        </p:spPr>
        <p:txBody>
          <a:bodyPr wrap="square" rtlCol="0" anchor="t"/>
          <a:lstStyle/>
          <a:p>
            <a:pPr indent="0" marL="0">
              <a:buNone/>
            </a:pPr>
            <a:r>
              <a:rPr lang="en-US" sz="1000" dirty="0">
                <a:solidFill>
                  <a:srgbClr val="0D1B2A"/>
                </a:solidFill>
              </a:rPr>
              <a:t>Function approximators. Interactions are discovered, not declared. Maximum accuracy at cost of opacity. Explainability via SHAP/PDP. Best R²: 0.851.</a:t>
            </a:r>
            <a:endParaRPr lang="en-US" sz="1000" dirty="0"/>
          </a:p>
        </p:txBody>
      </p:sp>
      <p:sp>
        <p:nvSpPr>
          <p:cNvPr id="24" name="Shape 22"/>
          <p:cNvSpPr/>
          <p:nvPr/>
        </p:nvSpPr>
        <p:spPr>
          <a:xfrm>
            <a:off x="6309360" y="4526280"/>
            <a:ext cx="2560320" cy="27432"/>
          </a:xfrm>
          <a:prstGeom prst="rect">
            <a:avLst/>
          </a:prstGeom>
          <a:solidFill>
            <a:srgbClr val="2C7BB6"/>
          </a:solidFill>
          <a:ln w="12700">
            <a:solidFill>
              <a:srgbClr val="2C7BB6"/>
            </a:solidFill>
            <a:prstDash val="solid"/>
          </a:ln>
        </p:spPr>
      </p:sp>
      <p:sp>
        <p:nvSpPr>
          <p:cNvPr id="25" name="Text 23"/>
          <p:cNvSpPr/>
          <p:nvPr/>
        </p:nvSpPr>
        <p:spPr>
          <a:xfrm>
            <a:off x="6309360" y="4590288"/>
            <a:ext cx="2560320" cy="228600"/>
          </a:xfrm>
          <a:prstGeom prst="rect">
            <a:avLst/>
          </a:prstGeom>
          <a:noFill/>
          <a:ln/>
        </p:spPr>
        <p:txBody>
          <a:bodyPr wrap="square" rtlCol="0" anchor="ctr"/>
          <a:lstStyle/>
          <a:p>
            <a:pPr algn="ctr" indent="0" marL="0">
              <a:buNone/>
            </a:pPr>
            <a:r>
              <a:rPr lang="en-US" sz="950" b="1" dirty="0">
                <a:solidFill>
                  <a:srgbClr val="2C7BB6"/>
                </a:solidFill>
              </a:rPr>
              <a:t>Interpretability: Low   Accuracy: High</a:t>
            </a:r>
            <a:endParaRPr lang="en-US" sz="950" dirty="0"/>
          </a:p>
        </p:txBody>
      </p:sp>
      <p:sp>
        <p:nvSpPr>
          <p:cNvPr id="26" name="Shape 24"/>
          <p:cNvSpPr/>
          <p:nvPr/>
        </p:nvSpPr>
        <p:spPr>
          <a:xfrm>
            <a:off x="365760" y="4864608"/>
            <a:ext cx="8412480" cy="274320"/>
          </a:xfrm>
          <a:prstGeom prst="rect">
            <a:avLst/>
          </a:prstGeom>
          <a:solidFill>
            <a:srgbClr val="0D1B2A"/>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27" name="Text 25"/>
          <p:cNvSpPr/>
          <p:nvPr/>
        </p:nvSpPr>
        <p:spPr>
          <a:xfrm>
            <a:off x="365760" y="4864608"/>
            <a:ext cx="8412480" cy="274320"/>
          </a:xfrm>
          <a:prstGeom prst="rect">
            <a:avLst/>
          </a:prstGeom>
          <a:noFill/>
          <a:ln/>
        </p:spPr>
        <p:txBody>
          <a:bodyPr wrap="square" lIns="0" tIns="0" rIns="0" bIns="0" rtlCol="0" anchor="ctr"/>
          <a:lstStyle/>
          <a:p>
            <a:pPr algn="ctr" indent="0" marL="0">
              <a:buNone/>
            </a:pPr>
            <a:r>
              <a:rPr lang="en-US" sz="950" dirty="0">
                <a:solidFill>
                  <a:srgbClr val="A8DADC"/>
                </a:solidFill>
              </a:rPr>
              <a:t>Plus: Spatial Econometrics (SLM, SEM, GWR) — explicitly modelling the geographic dependence structure all three families partially ignore.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GNPR · GAM</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GAM Partial Dependence: The Shape of Every Relationship</a:t>
            </a:r>
            <a:endParaRPr lang="en-US" sz="2400" dirty="0"/>
          </a:p>
        </p:txBody>
      </p:sp>
      <p:sp>
        <p:nvSpPr>
          <p:cNvPr id="5" name="Text 3"/>
          <p:cNvSpPr/>
          <p:nvPr/>
        </p:nvSpPr>
        <p:spPr>
          <a:xfrm>
            <a:off x="365760" y="1024128"/>
            <a:ext cx="8412480" cy="246888"/>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R² = 0.759  ·  RMSE = 0.280  ·  Each curve is the marginal contribution of one predictor holding all others equal</a:t>
            </a:r>
            <a:endParaRPr lang="en-US" sz="1050" dirty="0"/>
          </a:p>
        </p:txBody>
      </p:sp>
      <p:pic>
        <p:nvPicPr>
          <p:cNvPr id="6" name="Image 0" descr="preencoded.png">    </p:cNvPr>
          <p:cNvPicPr>
            <a:picLocks noChangeAspect="1"/>
          </p:cNvPicPr>
          <p:nvPr/>
        </p:nvPicPr>
        <p:blipFill>
          <a:blip r:embed="rId1"/>
          <a:stretch>
            <a:fillRect/>
          </a:stretch>
        </p:blipFill>
        <p:spPr>
          <a:xfrm>
            <a:off x="365760" y="1353312"/>
            <a:ext cx="8412480" cy="2834640"/>
          </a:xfrm>
          <a:prstGeom prst="rect">
            <a:avLst/>
          </a:prstGeom>
        </p:spPr>
      </p:pic>
      <p:sp>
        <p:nvSpPr>
          <p:cNvPr id="7" name="Shape 4"/>
          <p:cNvSpPr/>
          <p:nvPr/>
        </p:nvSpPr>
        <p:spPr>
          <a:xfrm>
            <a:off x="365760" y="4251960"/>
            <a:ext cx="8412480" cy="86868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8" name="Shape 5"/>
          <p:cNvSpPr/>
          <p:nvPr/>
        </p:nvSpPr>
        <p:spPr>
          <a:xfrm>
            <a:off x="365760" y="4251960"/>
            <a:ext cx="8412480" cy="54864"/>
          </a:xfrm>
          <a:prstGeom prst="rect">
            <a:avLst/>
          </a:prstGeom>
          <a:solidFill>
            <a:srgbClr val="FDAE61"/>
          </a:solidFill>
          <a:ln w="12700">
            <a:solidFill>
              <a:srgbClr val="FDAE61"/>
            </a:solidFill>
            <a:prstDash val="solid"/>
          </a:ln>
        </p:spPr>
      </p:sp>
      <p:sp>
        <p:nvSpPr>
          <p:cNvPr id="9" name="Text 6"/>
          <p:cNvSpPr/>
          <p:nvPr/>
        </p:nvSpPr>
        <p:spPr>
          <a:xfrm>
            <a:off x="502920" y="4361688"/>
            <a:ext cx="731520" cy="182880"/>
          </a:xfrm>
          <a:prstGeom prst="rect">
            <a:avLst/>
          </a:prstGeom>
          <a:noFill/>
          <a:ln/>
        </p:spPr>
        <p:txBody>
          <a:bodyPr wrap="square" rtlCol="0" anchor="ctr"/>
          <a:lstStyle/>
          <a:p>
            <a:pPr indent="0" marL="0">
              <a:buNone/>
            </a:pPr>
            <a:r>
              <a:rPr lang="en-US" sz="950" b="1" dirty="0">
                <a:solidFill>
                  <a:srgbClr val="FDAE61"/>
                </a:solidFill>
              </a:rPr>
              <a:t>Income: </a:t>
            </a:r>
            <a:endParaRPr lang="en-US" sz="950" dirty="0"/>
          </a:p>
        </p:txBody>
      </p:sp>
      <p:sp>
        <p:nvSpPr>
          <p:cNvPr id="10" name="Text 7"/>
          <p:cNvSpPr/>
          <p:nvPr/>
        </p:nvSpPr>
        <p:spPr>
          <a:xfrm>
            <a:off x="1188720" y="4361688"/>
            <a:ext cx="2057400" cy="685800"/>
          </a:xfrm>
          <a:prstGeom prst="rect">
            <a:avLst/>
          </a:prstGeom>
          <a:noFill/>
          <a:ln/>
        </p:spPr>
        <p:txBody>
          <a:bodyPr wrap="square" rtlCol="0" anchor="ctr"/>
          <a:lstStyle/>
          <a:p>
            <a:pPr indent="0" marL="0">
              <a:buNone/>
            </a:pPr>
            <a:r>
              <a:rPr lang="en-US" sz="850" dirty="0">
                <a:solidFill>
                  <a:srgbClr val="0D1B2A"/>
                </a:solidFill>
              </a:rPr>
              <a:t>Concave: marginal returns diminish above ~$38K. OLS forces a straight line through this curve, systematically under-predicting low-income blocks.</a:t>
            </a:r>
            <a:endParaRPr lang="en-US" sz="850" dirty="0"/>
          </a:p>
        </p:txBody>
      </p:sp>
      <p:sp>
        <p:nvSpPr>
          <p:cNvPr id="11" name="Text 8"/>
          <p:cNvSpPr/>
          <p:nvPr/>
        </p:nvSpPr>
        <p:spPr>
          <a:xfrm>
            <a:off x="3337560" y="4361688"/>
            <a:ext cx="731520" cy="182880"/>
          </a:xfrm>
          <a:prstGeom prst="rect">
            <a:avLst/>
          </a:prstGeom>
          <a:noFill/>
          <a:ln/>
        </p:spPr>
        <p:txBody>
          <a:bodyPr wrap="square" rtlCol="0" anchor="ctr"/>
          <a:lstStyle/>
          <a:p>
            <a:pPr indent="0" marL="0">
              <a:buNone/>
            </a:pPr>
            <a:r>
              <a:rPr lang="en-US" sz="950" b="1" dirty="0">
                <a:solidFill>
                  <a:srgbClr val="7B2D8B"/>
                </a:solidFill>
              </a:rPr>
              <a:t>Latitude: </a:t>
            </a:r>
            <a:endParaRPr lang="en-US" sz="950" dirty="0"/>
          </a:p>
        </p:txBody>
      </p:sp>
      <p:sp>
        <p:nvSpPr>
          <p:cNvPr id="12" name="Text 9"/>
          <p:cNvSpPr/>
          <p:nvPr/>
        </p:nvSpPr>
        <p:spPr>
          <a:xfrm>
            <a:off x="4023360" y="4361688"/>
            <a:ext cx="2057400" cy="685800"/>
          </a:xfrm>
          <a:prstGeom prst="rect">
            <a:avLst/>
          </a:prstGeom>
          <a:noFill/>
          <a:ln/>
        </p:spPr>
        <p:txBody>
          <a:bodyPr wrap="square" rtlCol="0" anchor="ctr"/>
          <a:lstStyle/>
          <a:p>
            <a:pPr indent="0" marL="0">
              <a:buNone/>
            </a:pPr>
            <a:r>
              <a:rPr lang="en-US" sz="850" dirty="0">
                <a:solidFill>
                  <a:srgbClr val="0D1B2A"/>
                </a:solidFill>
              </a:rPr>
              <a:t>Sharp structural break at 37.5° N. The Bay Area premium is a discontinuity, not a smooth gradient. Confirms a distinct housing market boundary.</a:t>
            </a:r>
            <a:endParaRPr lang="en-US" sz="850" dirty="0"/>
          </a:p>
        </p:txBody>
      </p:sp>
      <p:sp>
        <p:nvSpPr>
          <p:cNvPr id="13" name="Text 10"/>
          <p:cNvSpPr/>
          <p:nvPr/>
        </p:nvSpPr>
        <p:spPr>
          <a:xfrm>
            <a:off x="6172200" y="4361688"/>
            <a:ext cx="731520" cy="182880"/>
          </a:xfrm>
          <a:prstGeom prst="rect">
            <a:avLst/>
          </a:prstGeom>
          <a:noFill/>
          <a:ln/>
        </p:spPr>
        <p:txBody>
          <a:bodyPr wrap="square" rtlCol="0" anchor="ctr"/>
          <a:lstStyle/>
          <a:p>
            <a:pPr indent="0" marL="0">
              <a:buNone/>
            </a:pPr>
            <a:r>
              <a:rPr lang="en-US" sz="950" b="1" dirty="0">
                <a:solidFill>
                  <a:srgbClr val="2C7BB6"/>
                </a:solidFill>
              </a:rPr>
              <a:t>Income x Location: </a:t>
            </a:r>
            <a:endParaRPr lang="en-US" sz="950" dirty="0"/>
          </a:p>
        </p:txBody>
      </p:sp>
      <p:sp>
        <p:nvSpPr>
          <p:cNvPr id="14" name="Text 11"/>
          <p:cNvSpPr/>
          <p:nvPr/>
        </p:nvSpPr>
        <p:spPr>
          <a:xfrm>
            <a:off x="6858000" y="4361688"/>
            <a:ext cx="2057400" cy="685800"/>
          </a:xfrm>
          <a:prstGeom prst="rect">
            <a:avLst/>
          </a:prstGeom>
          <a:noFill/>
          <a:ln/>
        </p:spPr>
        <p:txBody>
          <a:bodyPr wrap="square" rtlCol="0" anchor="ctr"/>
          <a:lstStyle/>
          <a:p>
            <a:pPr indent="0" marL="0">
              <a:buNone/>
            </a:pPr>
            <a:r>
              <a:rPr lang="en-US" sz="850" dirty="0">
                <a:solidFill>
                  <a:srgbClr val="0D1B2A"/>
                </a:solidFill>
              </a:rPr>
              <a:t>The income slope is steeper in coastal regions (Bay Area vs. Central Valley by ~0.13 per unit income). No additive model can represent this.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ML · FEATURE IMPORTANCE</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What Drives House Prices? XGBoost Feature Importance</a:t>
            </a:r>
            <a:endParaRPr lang="en-US" sz="2400" dirty="0"/>
          </a:p>
        </p:txBody>
      </p:sp>
      <p:sp>
        <p:nvSpPr>
          <p:cNvPr id="5" name="Text 3"/>
          <p:cNvSpPr/>
          <p:nvPr/>
        </p:nvSpPr>
        <p:spPr>
          <a:xfrm>
            <a:off x="365760" y="1024128"/>
            <a:ext cx="8412480" cy="246888"/>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median_income (31%), latitude (20%), longitude (15%) account for 66% of the model's predictive gain.</a:t>
            </a:r>
            <a:endParaRPr lang="en-US" sz="1050" dirty="0"/>
          </a:p>
        </p:txBody>
      </p:sp>
      <p:pic>
        <p:nvPicPr>
          <p:cNvPr id="6" name="Image 0" descr="preencoded.png">    </p:cNvPr>
          <p:cNvPicPr>
            <a:picLocks noChangeAspect="1"/>
          </p:cNvPicPr>
          <p:nvPr/>
        </p:nvPicPr>
        <p:blipFill>
          <a:blip r:embed="rId1"/>
          <a:stretch>
            <a:fillRect/>
          </a:stretch>
        </p:blipFill>
        <p:spPr>
          <a:xfrm>
            <a:off x="365760" y="1325880"/>
            <a:ext cx="5120640" cy="3703320"/>
          </a:xfrm>
          <a:prstGeom prst="rect">
            <a:avLst/>
          </a:prstGeom>
        </p:spPr>
      </p:pic>
      <p:sp>
        <p:nvSpPr>
          <p:cNvPr id="7" name="Shape 4"/>
          <p:cNvSpPr/>
          <p:nvPr/>
        </p:nvSpPr>
        <p:spPr>
          <a:xfrm>
            <a:off x="5669280" y="1325880"/>
            <a:ext cx="3108960" cy="370332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8" name="Shape 5"/>
          <p:cNvSpPr/>
          <p:nvPr/>
        </p:nvSpPr>
        <p:spPr>
          <a:xfrm>
            <a:off x="5669280" y="1325880"/>
            <a:ext cx="3108960" cy="73152"/>
          </a:xfrm>
          <a:prstGeom prst="rect">
            <a:avLst/>
          </a:prstGeom>
          <a:solidFill>
            <a:srgbClr val="0D1B2A"/>
          </a:solidFill>
          <a:ln w="12700">
            <a:solidFill>
              <a:srgbClr val="0D1B2A"/>
            </a:solidFill>
            <a:prstDash val="solid"/>
          </a:ln>
        </p:spPr>
      </p:sp>
      <p:sp>
        <p:nvSpPr>
          <p:cNvPr id="9" name="Text 6"/>
          <p:cNvSpPr/>
          <p:nvPr/>
        </p:nvSpPr>
        <p:spPr>
          <a:xfrm>
            <a:off x="5669280" y="1435608"/>
            <a:ext cx="3108960" cy="274320"/>
          </a:xfrm>
          <a:prstGeom prst="rect">
            <a:avLst/>
          </a:prstGeom>
          <a:noFill/>
          <a:ln/>
        </p:spPr>
        <p:txBody>
          <a:bodyPr wrap="square" rtlCol="0" anchor="ctr"/>
          <a:lstStyle/>
          <a:p>
            <a:pPr algn="ctr" indent="0" marL="0">
              <a:buNone/>
            </a:pPr>
            <a:r>
              <a:rPr lang="en-US" sz="1100" b="1" dirty="0">
                <a:solidFill>
                  <a:srgbClr val="0D1B2A"/>
                </a:solidFill>
              </a:rPr>
              <a:t>What This Tells Us</a:t>
            </a:r>
            <a:endParaRPr lang="en-US" sz="1100" dirty="0"/>
          </a:p>
        </p:txBody>
      </p:sp>
      <p:sp>
        <p:nvSpPr>
          <p:cNvPr id="10" name="Shape 7"/>
          <p:cNvSpPr/>
          <p:nvPr/>
        </p:nvSpPr>
        <p:spPr>
          <a:xfrm>
            <a:off x="5806440" y="1865376"/>
            <a:ext cx="164592" cy="164592"/>
          </a:xfrm>
          <a:prstGeom prst="ellipse">
            <a:avLst/>
          </a:prstGeom>
          <a:solidFill>
            <a:srgbClr val="1A9641"/>
          </a:solidFill>
          <a:ln w="12700">
            <a:solidFill>
              <a:srgbClr val="1A9641"/>
            </a:solidFill>
            <a:prstDash val="solid"/>
          </a:ln>
        </p:spPr>
      </p:sp>
      <p:sp>
        <p:nvSpPr>
          <p:cNvPr id="11" name="Text 8"/>
          <p:cNvSpPr/>
          <p:nvPr/>
        </p:nvSpPr>
        <p:spPr>
          <a:xfrm>
            <a:off x="6062472" y="1828800"/>
            <a:ext cx="2578608" cy="201168"/>
          </a:xfrm>
          <a:prstGeom prst="rect">
            <a:avLst/>
          </a:prstGeom>
          <a:noFill/>
          <a:ln/>
        </p:spPr>
        <p:txBody>
          <a:bodyPr wrap="square" rtlCol="0" anchor="ctr"/>
          <a:lstStyle/>
          <a:p>
            <a:pPr indent="0" marL="0">
              <a:buNone/>
            </a:pPr>
            <a:r>
              <a:rPr lang="en-US" sz="1000" b="1" dirty="0">
                <a:solidFill>
                  <a:srgbClr val="0D1B2A"/>
                </a:solidFill>
              </a:rPr>
              <a:t>Income dominates</a:t>
            </a:r>
            <a:endParaRPr lang="en-US" sz="1000" dirty="0"/>
          </a:p>
        </p:txBody>
      </p:sp>
      <p:sp>
        <p:nvSpPr>
          <p:cNvPr id="12" name="Text 9"/>
          <p:cNvSpPr/>
          <p:nvPr/>
        </p:nvSpPr>
        <p:spPr>
          <a:xfrm>
            <a:off x="6062472" y="2029968"/>
            <a:ext cx="2578608" cy="320040"/>
          </a:xfrm>
          <a:prstGeom prst="rect">
            <a:avLst/>
          </a:prstGeom>
          <a:noFill/>
          <a:ln/>
        </p:spPr>
        <p:txBody>
          <a:bodyPr wrap="square" rtlCol="0" anchor="ctr"/>
          <a:lstStyle/>
          <a:p>
            <a:pPr indent="0" marL="0">
              <a:buNone/>
            </a:pPr>
            <a:r>
              <a:rPr lang="en-US" sz="900" dirty="0">
                <a:solidFill>
                  <a:srgbClr val="64748B"/>
                </a:solidFill>
              </a:rPr>
              <a:t>31% of gain. It is concave (GAM) and location-modulated (GWR), not linear.</a:t>
            </a:r>
            <a:endParaRPr lang="en-US" sz="900" dirty="0"/>
          </a:p>
        </p:txBody>
      </p:sp>
      <p:sp>
        <p:nvSpPr>
          <p:cNvPr id="13" name="Shape 10"/>
          <p:cNvSpPr/>
          <p:nvPr/>
        </p:nvSpPr>
        <p:spPr>
          <a:xfrm>
            <a:off x="5806440" y="2478024"/>
            <a:ext cx="164592" cy="164592"/>
          </a:xfrm>
          <a:prstGeom prst="ellipse">
            <a:avLst/>
          </a:prstGeom>
          <a:solidFill>
            <a:srgbClr val="1A9641"/>
          </a:solidFill>
          <a:ln w="12700">
            <a:solidFill>
              <a:srgbClr val="1A9641"/>
            </a:solidFill>
            <a:prstDash val="solid"/>
          </a:ln>
        </p:spPr>
      </p:sp>
      <p:sp>
        <p:nvSpPr>
          <p:cNvPr id="14" name="Text 11"/>
          <p:cNvSpPr/>
          <p:nvPr/>
        </p:nvSpPr>
        <p:spPr>
          <a:xfrm>
            <a:off x="6062472" y="2441448"/>
            <a:ext cx="2578608" cy="201168"/>
          </a:xfrm>
          <a:prstGeom prst="rect">
            <a:avLst/>
          </a:prstGeom>
          <a:noFill/>
          <a:ln/>
        </p:spPr>
        <p:txBody>
          <a:bodyPr wrap="square" rtlCol="0" anchor="ctr"/>
          <a:lstStyle/>
          <a:p>
            <a:pPr indent="0" marL="0">
              <a:buNone/>
            </a:pPr>
            <a:r>
              <a:rPr lang="en-US" sz="1000" b="1" dirty="0">
                <a:solidFill>
                  <a:srgbClr val="0D1B2A"/>
                </a:solidFill>
              </a:rPr>
              <a:t>Coordinates top-3</a:t>
            </a:r>
            <a:endParaRPr lang="en-US" sz="1000" dirty="0"/>
          </a:p>
        </p:txBody>
      </p:sp>
      <p:sp>
        <p:nvSpPr>
          <p:cNvPr id="15" name="Text 12"/>
          <p:cNvSpPr/>
          <p:nvPr/>
        </p:nvSpPr>
        <p:spPr>
          <a:xfrm>
            <a:off x="6062472" y="2642616"/>
            <a:ext cx="2578608" cy="320040"/>
          </a:xfrm>
          <a:prstGeom prst="rect">
            <a:avLst/>
          </a:prstGeom>
          <a:noFill/>
          <a:ln/>
        </p:spPr>
        <p:txBody>
          <a:bodyPr wrap="square" rtlCol="0" anchor="ctr"/>
          <a:lstStyle/>
          <a:p>
            <a:pPr indent="0" marL="0">
              <a:buNone/>
            </a:pPr>
            <a:r>
              <a:rPr lang="en-US" sz="900" dirty="0">
                <a:solidFill>
                  <a:srgbClr val="64748B"/>
                </a:solidFill>
              </a:rPr>
              <a:t>lat+lon together = 35% of gain. Geography is signal, not noise. Confirms the case for spatial models.</a:t>
            </a:r>
            <a:endParaRPr lang="en-US" sz="900" dirty="0"/>
          </a:p>
        </p:txBody>
      </p:sp>
      <p:sp>
        <p:nvSpPr>
          <p:cNvPr id="16" name="Shape 13"/>
          <p:cNvSpPr/>
          <p:nvPr/>
        </p:nvSpPr>
        <p:spPr>
          <a:xfrm>
            <a:off x="5806440" y="3090672"/>
            <a:ext cx="164592" cy="164592"/>
          </a:xfrm>
          <a:prstGeom prst="ellipse">
            <a:avLst/>
          </a:prstGeom>
          <a:solidFill>
            <a:srgbClr val="1B7A8A"/>
          </a:solidFill>
          <a:ln w="12700">
            <a:solidFill>
              <a:srgbClr val="1B7A8A"/>
            </a:solidFill>
            <a:prstDash val="solid"/>
          </a:ln>
        </p:spPr>
      </p:sp>
      <p:sp>
        <p:nvSpPr>
          <p:cNvPr id="17" name="Text 14"/>
          <p:cNvSpPr/>
          <p:nvPr/>
        </p:nvSpPr>
        <p:spPr>
          <a:xfrm>
            <a:off x="6062472" y="3054096"/>
            <a:ext cx="2578608" cy="201168"/>
          </a:xfrm>
          <a:prstGeom prst="rect">
            <a:avLst/>
          </a:prstGeom>
          <a:noFill/>
          <a:ln/>
        </p:spPr>
        <p:txBody>
          <a:bodyPr wrap="square" rtlCol="0" anchor="ctr"/>
          <a:lstStyle/>
          <a:p>
            <a:pPr indent="0" marL="0">
              <a:buNone/>
            </a:pPr>
            <a:r>
              <a:rPr lang="en-US" sz="1000" b="1" dirty="0">
                <a:solidFill>
                  <a:srgbClr val="0D1B2A"/>
                </a:solidFill>
              </a:rPr>
              <a:t>rooms_per_hh: 8%</a:t>
            </a:r>
            <a:endParaRPr lang="en-US" sz="1000" dirty="0"/>
          </a:p>
        </p:txBody>
      </p:sp>
      <p:sp>
        <p:nvSpPr>
          <p:cNvPr id="18" name="Text 15"/>
          <p:cNvSpPr/>
          <p:nvPr/>
        </p:nvSpPr>
        <p:spPr>
          <a:xfrm>
            <a:off x="6062472" y="3255264"/>
            <a:ext cx="2578608" cy="320040"/>
          </a:xfrm>
          <a:prstGeom prst="rect">
            <a:avLst/>
          </a:prstGeom>
          <a:noFill/>
          <a:ln/>
        </p:spPr>
        <p:txBody>
          <a:bodyPr wrap="square" rtlCol="0" anchor="ctr"/>
          <a:lstStyle/>
          <a:p>
            <a:pPr indent="0" marL="0">
              <a:buNone/>
            </a:pPr>
            <a:r>
              <a:rPr lang="en-US" sz="900" dirty="0">
                <a:solidFill>
                  <a:srgbClr val="64748B"/>
                </a:solidFill>
              </a:rPr>
              <a:t>Engineered feature ranks 4th. Raw room counts rank lower; the ratio compresses the informative signal.</a:t>
            </a:r>
            <a:endParaRPr lang="en-US" sz="900" dirty="0"/>
          </a:p>
        </p:txBody>
      </p:sp>
      <p:sp>
        <p:nvSpPr>
          <p:cNvPr id="19" name="Shape 16"/>
          <p:cNvSpPr/>
          <p:nvPr/>
        </p:nvSpPr>
        <p:spPr>
          <a:xfrm>
            <a:off x="5806440" y="3703320"/>
            <a:ext cx="164592" cy="164592"/>
          </a:xfrm>
          <a:prstGeom prst="ellipse">
            <a:avLst/>
          </a:prstGeom>
          <a:solidFill>
            <a:srgbClr val="1B7A8A"/>
          </a:solidFill>
          <a:ln w="12700">
            <a:solidFill>
              <a:srgbClr val="1B7A8A"/>
            </a:solidFill>
            <a:prstDash val="solid"/>
          </a:ln>
        </p:spPr>
      </p:sp>
      <p:sp>
        <p:nvSpPr>
          <p:cNvPr id="20" name="Text 17"/>
          <p:cNvSpPr/>
          <p:nvPr/>
        </p:nvSpPr>
        <p:spPr>
          <a:xfrm>
            <a:off x="6062472" y="3666744"/>
            <a:ext cx="2578608" cy="201168"/>
          </a:xfrm>
          <a:prstGeom prst="rect">
            <a:avLst/>
          </a:prstGeom>
          <a:noFill/>
          <a:ln/>
        </p:spPr>
        <p:txBody>
          <a:bodyPr wrap="square" rtlCol="0" anchor="ctr"/>
          <a:lstStyle/>
          <a:p>
            <a:pPr indent="0" marL="0">
              <a:buNone/>
            </a:pPr>
            <a:r>
              <a:rPr lang="en-US" sz="1000" b="1" dirty="0">
                <a:solidFill>
                  <a:srgbClr val="0D1B2A"/>
                </a:solidFill>
              </a:rPr>
              <a:t>housing_age: 6%</a:t>
            </a:r>
            <a:endParaRPr lang="en-US" sz="1000" dirty="0"/>
          </a:p>
        </p:txBody>
      </p:sp>
      <p:sp>
        <p:nvSpPr>
          <p:cNvPr id="21" name="Text 18"/>
          <p:cNvSpPr/>
          <p:nvPr/>
        </p:nvSpPr>
        <p:spPr>
          <a:xfrm>
            <a:off x="6062472" y="3867912"/>
            <a:ext cx="2578608" cy="320040"/>
          </a:xfrm>
          <a:prstGeom prst="rect">
            <a:avLst/>
          </a:prstGeom>
          <a:noFill/>
          <a:ln/>
        </p:spPr>
        <p:txBody>
          <a:bodyPr wrap="square" rtlCol="0" anchor="ctr"/>
          <a:lstStyle/>
          <a:p>
            <a:pPr indent="0" marL="0">
              <a:buNone/>
            </a:pPr>
            <a:r>
              <a:rPr lang="en-US" sz="900" dirty="0">
                <a:solidFill>
                  <a:srgbClr val="64748B"/>
                </a:solidFill>
              </a:rPr>
              <a:t>Older stock correlates with established, high-value neighbourhoods but effect reverses in some regions (GWR).</a:t>
            </a:r>
            <a:endParaRPr lang="en-US" sz="900" dirty="0"/>
          </a:p>
        </p:txBody>
      </p:sp>
      <p:sp>
        <p:nvSpPr>
          <p:cNvPr id="22" name="Shape 19"/>
          <p:cNvSpPr/>
          <p:nvPr/>
        </p:nvSpPr>
        <p:spPr>
          <a:xfrm>
            <a:off x="5806440" y="4315968"/>
            <a:ext cx="164592" cy="164592"/>
          </a:xfrm>
          <a:prstGeom prst="ellipse">
            <a:avLst/>
          </a:prstGeom>
          <a:solidFill>
            <a:srgbClr val="64748B"/>
          </a:solidFill>
          <a:ln w="12700">
            <a:solidFill>
              <a:srgbClr val="64748B"/>
            </a:solidFill>
            <a:prstDash val="solid"/>
          </a:ln>
        </p:spPr>
      </p:sp>
      <p:sp>
        <p:nvSpPr>
          <p:cNvPr id="23" name="Text 20"/>
          <p:cNvSpPr/>
          <p:nvPr/>
        </p:nvSpPr>
        <p:spPr>
          <a:xfrm>
            <a:off x="6062472" y="4279392"/>
            <a:ext cx="2578608" cy="201168"/>
          </a:xfrm>
          <a:prstGeom prst="rect">
            <a:avLst/>
          </a:prstGeom>
          <a:noFill/>
          <a:ln/>
        </p:spPr>
        <p:txBody>
          <a:bodyPr wrap="square" rtlCol="0" anchor="ctr"/>
          <a:lstStyle/>
          <a:p>
            <a:pPr indent="0" marL="0">
              <a:buNone/>
            </a:pPr>
            <a:r>
              <a:rPr lang="en-US" sz="1000" b="1" dirty="0">
                <a:solidFill>
                  <a:srgbClr val="0D1B2A"/>
                </a:solidFill>
              </a:rPr>
              <a:t>Raw counts low</a:t>
            </a:r>
            <a:endParaRPr lang="en-US" sz="1000" dirty="0"/>
          </a:p>
        </p:txBody>
      </p:sp>
      <p:sp>
        <p:nvSpPr>
          <p:cNvPr id="24" name="Text 21"/>
          <p:cNvSpPr/>
          <p:nvPr/>
        </p:nvSpPr>
        <p:spPr>
          <a:xfrm>
            <a:off x="6062472" y="4480560"/>
            <a:ext cx="2578608" cy="320040"/>
          </a:xfrm>
          <a:prstGeom prst="rect">
            <a:avLst/>
          </a:prstGeom>
          <a:noFill/>
          <a:ln/>
        </p:spPr>
        <p:txBody>
          <a:bodyPr wrap="square" rtlCol="0" anchor="ctr"/>
          <a:lstStyle/>
          <a:p>
            <a:pPr indent="0" marL="0">
              <a:buNone/>
            </a:pPr>
            <a:r>
              <a:rPr lang="en-US" sz="900" dirty="0">
                <a:solidFill>
                  <a:srgbClr val="64748B"/>
                </a:solidFill>
              </a:rPr>
              <a:t>total_rooms, total_bedrooms rank near bottom. Volume without context is weak signal.</a:t>
            </a:r>
            <a:endParaRPr lang="en-US" sz="900" dirty="0"/>
          </a:p>
        </p:txBody>
      </p:sp>
      <p:sp>
        <p:nvSpPr>
          <p:cNvPr id="25" name="Text 22"/>
          <p:cNvSpPr/>
          <p:nvPr/>
        </p:nvSpPr>
        <p:spPr>
          <a:xfrm>
            <a:off x="365760" y="5093208"/>
            <a:ext cx="8412480" cy="246888"/>
          </a:xfrm>
          <a:prstGeom prst="rect">
            <a:avLst/>
          </a:prstGeom>
          <a:noFill/>
          <a:ln/>
        </p:spPr>
        <p:txBody>
          <a:bodyPr wrap="square" rtlCol="0" anchor="ctr"/>
          <a:lstStyle/>
          <a:p>
            <a:pPr algn="ctr" indent="0" marL="0">
              <a:buNone/>
            </a:pPr>
            <a:r>
              <a:rPr lang="en-US" sz="850" i="1" dirty="0">
                <a:solidFill>
                  <a:srgbClr val="64748B"/>
                </a:solidFill>
              </a:rPr>
              <a:t>Importance = average gain in loss function per split. High importance does not mean linear effect; it means the model splits on this feature frequently and gains accuracy each time.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MODEL COMPARISON</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All Non-Spatial Models: Ranked by Performance</a:t>
            </a:r>
            <a:endParaRPr lang="en-US" sz="2400" dirty="0"/>
          </a:p>
        </p:txBody>
      </p:sp>
      <p:sp>
        <p:nvSpPr>
          <p:cNvPr id="5" name="Text 3"/>
          <p:cNvSpPr/>
          <p:nvPr/>
        </p:nvSpPr>
        <p:spPr>
          <a:xfrm>
            <a:off x="365760" y="1024128"/>
            <a:ext cx="8412480" cy="246888"/>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XGBoost leads with R² = 0.851. Every step away from linearity improves accuracy, confirming RQ1 decisively.</a:t>
            </a:r>
            <a:endParaRPr lang="en-US" sz="1050" dirty="0"/>
          </a:p>
        </p:txBody>
      </p:sp>
      <p:pic>
        <p:nvPicPr>
          <p:cNvPr id="6" name="Image 0" descr="preencoded.png">    </p:cNvPr>
          <p:cNvPicPr>
            <a:picLocks noChangeAspect="1"/>
          </p:cNvPicPr>
          <p:nvPr/>
        </p:nvPicPr>
        <p:blipFill>
          <a:blip r:embed="rId1"/>
          <a:stretch>
            <a:fillRect/>
          </a:stretch>
        </p:blipFill>
        <p:spPr>
          <a:xfrm>
            <a:off x="365760" y="1353312"/>
            <a:ext cx="6035040" cy="3108960"/>
          </a:xfrm>
          <a:prstGeom prst="rect">
            <a:avLst/>
          </a:prstGeom>
        </p:spPr>
      </p:pic>
      <p:sp>
        <p:nvSpPr>
          <p:cNvPr id="7" name="Shape 4"/>
          <p:cNvSpPr/>
          <p:nvPr/>
        </p:nvSpPr>
        <p:spPr>
          <a:xfrm>
            <a:off x="6537960" y="1353312"/>
            <a:ext cx="2240280" cy="310896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8" name="Shape 5"/>
          <p:cNvSpPr/>
          <p:nvPr/>
        </p:nvSpPr>
        <p:spPr>
          <a:xfrm>
            <a:off x="6537960" y="1353312"/>
            <a:ext cx="2240280" cy="73152"/>
          </a:xfrm>
          <a:prstGeom prst="rect">
            <a:avLst/>
          </a:prstGeom>
          <a:solidFill>
            <a:srgbClr val="0D1B2A"/>
          </a:solidFill>
          <a:ln w="12700">
            <a:solidFill>
              <a:srgbClr val="0D1B2A"/>
            </a:solidFill>
            <a:prstDash val="solid"/>
          </a:ln>
        </p:spPr>
      </p:sp>
      <p:sp>
        <p:nvSpPr>
          <p:cNvPr id="9" name="Text 6"/>
          <p:cNvSpPr/>
          <p:nvPr/>
        </p:nvSpPr>
        <p:spPr>
          <a:xfrm>
            <a:off x="6537960" y="1463040"/>
            <a:ext cx="2240280" cy="274320"/>
          </a:xfrm>
          <a:prstGeom prst="rect">
            <a:avLst/>
          </a:prstGeom>
          <a:noFill/>
          <a:ln/>
        </p:spPr>
        <p:txBody>
          <a:bodyPr wrap="square" rtlCol="0" anchor="ctr"/>
          <a:lstStyle/>
          <a:p>
            <a:pPr algn="ctr" indent="0" marL="0">
              <a:buNone/>
            </a:pPr>
            <a:r>
              <a:rPr lang="en-US" sz="1100" b="1" dirty="0">
                <a:solidFill>
                  <a:srgbClr val="0D1B2A"/>
                </a:solidFill>
              </a:rPr>
              <a:t>Key Gaps</a:t>
            </a:r>
            <a:endParaRPr lang="en-US" sz="1100" dirty="0"/>
          </a:p>
        </p:txBody>
      </p:sp>
      <p:sp>
        <p:nvSpPr>
          <p:cNvPr id="10" name="Shape 7"/>
          <p:cNvSpPr/>
          <p:nvPr/>
        </p:nvSpPr>
        <p:spPr>
          <a:xfrm>
            <a:off x="6629400" y="1828800"/>
            <a:ext cx="2057400" cy="749808"/>
          </a:xfrm>
          <a:prstGeom prst="rect">
            <a:avLst/>
          </a:prstGeom>
          <a:solidFill>
            <a:srgbClr val="F4F8FA"/>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1" name="Text 8"/>
          <p:cNvSpPr/>
          <p:nvPr/>
        </p:nvSpPr>
        <p:spPr>
          <a:xfrm>
            <a:off x="6675120" y="1874520"/>
            <a:ext cx="1965960" cy="201168"/>
          </a:xfrm>
          <a:prstGeom prst="rect">
            <a:avLst/>
          </a:prstGeom>
          <a:noFill/>
          <a:ln/>
        </p:spPr>
        <p:txBody>
          <a:bodyPr wrap="square" rtlCol="0" anchor="ctr"/>
          <a:lstStyle/>
          <a:p>
            <a:pPr algn="ctr" indent="0" marL="0">
              <a:buNone/>
            </a:pPr>
            <a:r>
              <a:rPr lang="en-US" sz="850" dirty="0">
                <a:solidFill>
                  <a:srgbClr val="64748B"/>
                </a:solidFill>
              </a:rPr>
              <a:t>OLS to GAM</a:t>
            </a:r>
            <a:endParaRPr lang="en-US" sz="850" dirty="0"/>
          </a:p>
        </p:txBody>
      </p:sp>
      <p:sp>
        <p:nvSpPr>
          <p:cNvPr id="12" name="Text 9"/>
          <p:cNvSpPr/>
          <p:nvPr/>
        </p:nvSpPr>
        <p:spPr>
          <a:xfrm>
            <a:off x="6675120" y="2075688"/>
            <a:ext cx="1965960" cy="274320"/>
          </a:xfrm>
          <a:prstGeom prst="rect">
            <a:avLst/>
          </a:prstGeom>
          <a:noFill/>
          <a:ln/>
        </p:spPr>
        <p:txBody>
          <a:bodyPr wrap="square" rtlCol="0" anchor="ctr"/>
          <a:lstStyle/>
          <a:p>
            <a:pPr algn="ctr" indent="0" marL="0">
              <a:buNone/>
            </a:pPr>
            <a:r>
              <a:rPr lang="en-US" sz="2000" b="1" dirty="0">
                <a:solidFill>
                  <a:srgbClr val="FDAE61"/>
                </a:solidFill>
              </a:rPr>
              <a:t>+0.126</a:t>
            </a:r>
            <a:endParaRPr lang="en-US" sz="2000" dirty="0"/>
          </a:p>
        </p:txBody>
      </p:sp>
      <p:sp>
        <p:nvSpPr>
          <p:cNvPr id="13" name="Text 10"/>
          <p:cNvSpPr/>
          <p:nvPr/>
        </p:nvSpPr>
        <p:spPr>
          <a:xfrm>
            <a:off x="6675120" y="2368296"/>
            <a:ext cx="1965960" cy="256032"/>
          </a:xfrm>
          <a:prstGeom prst="rect">
            <a:avLst/>
          </a:prstGeom>
          <a:noFill/>
          <a:ln/>
        </p:spPr>
        <p:txBody>
          <a:bodyPr wrap="square" rtlCol="0" anchor="ctr"/>
          <a:lstStyle/>
          <a:p>
            <a:pPr algn="ctr" indent="0" marL="0">
              <a:buNone/>
            </a:pPr>
            <a:r>
              <a:rPr lang="en-US" sz="750" i="1" dirty="0">
                <a:solidFill>
                  <a:srgbClr val="64748B"/>
                </a:solidFill>
              </a:rPr>
              <a:t>Adding smoothness</a:t>
            </a:r>
            <a:endParaRPr lang="en-US" sz="750" dirty="0"/>
          </a:p>
          <a:p>
            <a:pPr algn="ctr" indent="0" marL="0">
              <a:buNone/>
            </a:pPr>
            <a:r>
              <a:rPr lang="en-US" sz="750" i="1" dirty="0">
                <a:solidFill>
                  <a:srgbClr val="64748B"/>
                </a:solidFill>
              </a:rPr>
              <a:t>(GNPR advantage)</a:t>
            </a:r>
            <a:endParaRPr lang="en-US" sz="750" dirty="0"/>
          </a:p>
        </p:txBody>
      </p:sp>
      <p:sp>
        <p:nvSpPr>
          <p:cNvPr id="14" name="Shape 11"/>
          <p:cNvSpPr/>
          <p:nvPr/>
        </p:nvSpPr>
        <p:spPr>
          <a:xfrm>
            <a:off x="6629400" y="2679192"/>
            <a:ext cx="2057400" cy="749808"/>
          </a:xfrm>
          <a:prstGeom prst="rect">
            <a:avLst/>
          </a:prstGeom>
          <a:solidFill>
            <a:srgbClr val="F4F8FA"/>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5" name="Text 12"/>
          <p:cNvSpPr/>
          <p:nvPr/>
        </p:nvSpPr>
        <p:spPr>
          <a:xfrm>
            <a:off x="6675120" y="2724912"/>
            <a:ext cx="1965960" cy="201168"/>
          </a:xfrm>
          <a:prstGeom prst="rect">
            <a:avLst/>
          </a:prstGeom>
          <a:noFill/>
          <a:ln/>
        </p:spPr>
        <p:txBody>
          <a:bodyPr wrap="square" rtlCol="0" anchor="ctr"/>
          <a:lstStyle/>
          <a:p>
            <a:pPr algn="ctr" indent="0" marL="0">
              <a:buNone/>
            </a:pPr>
            <a:r>
              <a:rPr lang="en-US" sz="850" dirty="0">
                <a:solidFill>
                  <a:srgbClr val="64748B"/>
                </a:solidFill>
              </a:rPr>
              <a:t>GAM to XGBoost</a:t>
            </a:r>
            <a:endParaRPr lang="en-US" sz="850" dirty="0"/>
          </a:p>
        </p:txBody>
      </p:sp>
      <p:sp>
        <p:nvSpPr>
          <p:cNvPr id="16" name="Text 13"/>
          <p:cNvSpPr/>
          <p:nvPr/>
        </p:nvSpPr>
        <p:spPr>
          <a:xfrm>
            <a:off x="6675120" y="2926080"/>
            <a:ext cx="1965960" cy="274320"/>
          </a:xfrm>
          <a:prstGeom prst="rect">
            <a:avLst/>
          </a:prstGeom>
          <a:noFill/>
          <a:ln/>
        </p:spPr>
        <p:txBody>
          <a:bodyPr wrap="square" rtlCol="0" anchor="ctr"/>
          <a:lstStyle/>
          <a:p>
            <a:pPr algn="ctr" indent="0" marL="0">
              <a:buNone/>
            </a:pPr>
            <a:r>
              <a:rPr lang="en-US" sz="2000" b="1" dirty="0">
                <a:solidFill>
                  <a:srgbClr val="2C7BB6"/>
                </a:solidFill>
              </a:rPr>
              <a:t>+0.091</a:t>
            </a:r>
            <a:endParaRPr lang="en-US" sz="2000" dirty="0"/>
          </a:p>
        </p:txBody>
      </p:sp>
      <p:sp>
        <p:nvSpPr>
          <p:cNvPr id="17" name="Text 14"/>
          <p:cNvSpPr/>
          <p:nvPr/>
        </p:nvSpPr>
        <p:spPr>
          <a:xfrm>
            <a:off x="6675120" y="3218688"/>
            <a:ext cx="1965960" cy="256032"/>
          </a:xfrm>
          <a:prstGeom prst="rect">
            <a:avLst/>
          </a:prstGeom>
          <a:noFill/>
          <a:ln/>
        </p:spPr>
        <p:txBody>
          <a:bodyPr wrap="square" rtlCol="0" anchor="ctr"/>
          <a:lstStyle/>
          <a:p>
            <a:pPr algn="ctr" indent="0" marL="0">
              <a:buNone/>
            </a:pPr>
            <a:r>
              <a:rPr lang="en-US" sz="750" i="1" dirty="0">
                <a:solidFill>
                  <a:srgbClr val="64748B"/>
                </a:solidFill>
              </a:rPr>
              <a:t>Adding interactions</a:t>
            </a:r>
            <a:endParaRPr lang="en-US" sz="750" dirty="0"/>
          </a:p>
          <a:p>
            <a:pPr algn="ctr" indent="0" marL="0">
              <a:buNone/>
            </a:pPr>
            <a:r>
              <a:rPr lang="en-US" sz="750" i="1" dirty="0">
                <a:solidFill>
                  <a:srgbClr val="64748B"/>
                </a:solidFill>
              </a:rPr>
              <a:t>(ML advantage)</a:t>
            </a:r>
            <a:endParaRPr lang="en-US" sz="750" dirty="0"/>
          </a:p>
        </p:txBody>
      </p:sp>
      <p:sp>
        <p:nvSpPr>
          <p:cNvPr id="18" name="Shape 15"/>
          <p:cNvSpPr/>
          <p:nvPr/>
        </p:nvSpPr>
        <p:spPr>
          <a:xfrm>
            <a:off x="6629400" y="3529584"/>
            <a:ext cx="2057400" cy="749808"/>
          </a:xfrm>
          <a:prstGeom prst="rect">
            <a:avLst/>
          </a:prstGeom>
          <a:solidFill>
            <a:srgbClr val="F4F8FA"/>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9" name="Text 16"/>
          <p:cNvSpPr/>
          <p:nvPr/>
        </p:nvSpPr>
        <p:spPr>
          <a:xfrm>
            <a:off x="6675120" y="3575304"/>
            <a:ext cx="1965960" cy="201168"/>
          </a:xfrm>
          <a:prstGeom prst="rect">
            <a:avLst/>
          </a:prstGeom>
          <a:noFill/>
          <a:ln/>
        </p:spPr>
        <p:txBody>
          <a:bodyPr wrap="square" rtlCol="0" anchor="ctr"/>
          <a:lstStyle/>
          <a:p>
            <a:pPr algn="ctr" indent="0" marL="0">
              <a:buNone/>
            </a:pPr>
            <a:r>
              <a:rPr lang="en-US" sz="850" dirty="0">
                <a:solidFill>
                  <a:srgbClr val="64748B"/>
                </a:solidFill>
              </a:rPr>
              <a:t>OLS to XGBoost</a:t>
            </a:r>
            <a:endParaRPr lang="en-US" sz="850" dirty="0"/>
          </a:p>
        </p:txBody>
      </p:sp>
      <p:sp>
        <p:nvSpPr>
          <p:cNvPr id="20" name="Text 17"/>
          <p:cNvSpPr/>
          <p:nvPr/>
        </p:nvSpPr>
        <p:spPr>
          <a:xfrm>
            <a:off x="6675120" y="3776472"/>
            <a:ext cx="1965960" cy="274320"/>
          </a:xfrm>
          <a:prstGeom prst="rect">
            <a:avLst/>
          </a:prstGeom>
          <a:noFill/>
          <a:ln/>
        </p:spPr>
        <p:txBody>
          <a:bodyPr wrap="square" rtlCol="0" anchor="ctr"/>
          <a:lstStyle/>
          <a:p>
            <a:pPr algn="ctr" indent="0" marL="0">
              <a:buNone/>
            </a:pPr>
            <a:r>
              <a:rPr lang="en-US" sz="2000" b="1" dirty="0">
                <a:solidFill>
                  <a:srgbClr val="1A9641"/>
                </a:solidFill>
              </a:rPr>
              <a:t>+0.218</a:t>
            </a:r>
            <a:endParaRPr lang="en-US" sz="2000" dirty="0"/>
          </a:p>
        </p:txBody>
      </p:sp>
      <p:sp>
        <p:nvSpPr>
          <p:cNvPr id="21" name="Text 18"/>
          <p:cNvSpPr/>
          <p:nvPr/>
        </p:nvSpPr>
        <p:spPr>
          <a:xfrm>
            <a:off x="6675120" y="4069080"/>
            <a:ext cx="1965960" cy="256032"/>
          </a:xfrm>
          <a:prstGeom prst="rect">
            <a:avLst/>
          </a:prstGeom>
          <a:noFill/>
          <a:ln/>
        </p:spPr>
        <p:txBody>
          <a:bodyPr wrap="square" rtlCol="0" anchor="ctr"/>
          <a:lstStyle/>
          <a:p>
            <a:pPr algn="ctr" indent="0" marL="0">
              <a:buNone/>
            </a:pPr>
            <a:r>
              <a:rPr lang="en-US" sz="750" i="1" dirty="0">
                <a:solidFill>
                  <a:srgbClr val="64748B"/>
                </a:solidFill>
              </a:rPr>
              <a:t>Total nonlinearity</a:t>
            </a:r>
            <a:endParaRPr lang="en-US" sz="750" dirty="0"/>
          </a:p>
          <a:p>
            <a:pPr algn="ctr" indent="0" marL="0">
              <a:buNone/>
            </a:pPr>
            <a:r>
              <a:rPr lang="en-US" sz="750" i="1" dirty="0">
                <a:solidFill>
                  <a:srgbClr val="64748B"/>
                </a:solidFill>
              </a:rPr>
              <a:t>gain over baseline</a:t>
            </a:r>
            <a:endParaRPr lang="en-US" sz="7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4553712"/>
          <a:ext cx="6035040" cy="822960"/>
        </p:xfrm>
        <a:graphic>
          <a:graphicData uri="http://schemas.openxmlformats.org/drawingml/2006/table">
            <a:tbl>
              <a:tblPr/>
              <a:tblGrid>
                <a:gridCol w="2926080"/>
                <a:gridCol w="1645920"/>
                <a:gridCol w="1463040"/>
              </a:tblGrid>
              <a:tr h="16459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Family</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Best R²</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Best RMSE</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Parametric</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0.633</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0.345</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GNPR</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DAE61"/>
                          </a:solidFill>
                          <a:latin typeface="Calibri" pitchFamily="34" charset="0"/>
                          <a:ea typeface="Calibri" pitchFamily="34" charset="-122"/>
                          <a:cs typeface="Calibri" pitchFamily="34" charset="-120"/>
                        </a:rPr>
                        <a:t>0.759</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0.280</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ML Ensemble</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9641"/>
                          </a:solidFill>
                          <a:latin typeface="Calibri" pitchFamily="34" charset="0"/>
                          <a:ea typeface="Calibri" pitchFamily="34" charset="-122"/>
                          <a:cs typeface="Calibri" pitchFamily="34" charset="-120"/>
                        </a:rPr>
                        <a:t>0.851</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9641"/>
                          </a:solidFill>
                          <a:latin typeface="Calibri" pitchFamily="34" charset="0"/>
                          <a:ea typeface="Calibri" pitchFamily="34" charset="-122"/>
                          <a:cs typeface="Calibri" pitchFamily="34" charset="-120"/>
                        </a:rPr>
                        <a:t>0.220</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ML Deep (MLP)</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0.739</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0.291</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CROSS-VALIDATION</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5-Fold Cross-Validation: The Results Are Not Lucky</a:t>
            </a:r>
            <a:endParaRPr lang="en-US" sz="2400" dirty="0"/>
          </a:p>
        </p:txBody>
      </p:sp>
      <p:sp>
        <p:nvSpPr>
          <p:cNvPr id="5" name="Text 3"/>
          <p:cNvSpPr/>
          <p:nvPr/>
        </p:nvSpPr>
        <p:spPr>
          <a:xfrm>
            <a:off x="365760" y="1024128"/>
            <a:ext cx="8412480" cy="246888"/>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CV stability confirms that ensemble gains are real, not a consequence of a favourable train/test split. Low sigma means the model generalises.</a:t>
            </a:r>
            <a:endParaRPr lang="en-US" sz="1050" dirty="0"/>
          </a:p>
        </p:txBody>
      </p:sp>
      <p:pic>
        <p:nvPicPr>
          <p:cNvPr id="6" name="Image 0" descr="preencoded.png">    </p:cNvPr>
          <p:cNvPicPr>
            <a:picLocks noChangeAspect="1"/>
          </p:cNvPicPr>
          <p:nvPr/>
        </p:nvPicPr>
        <p:blipFill>
          <a:blip r:embed="rId1"/>
          <a:stretch>
            <a:fillRect/>
          </a:stretch>
        </p:blipFill>
        <p:spPr>
          <a:xfrm>
            <a:off x="365760" y="1353312"/>
            <a:ext cx="6400800" cy="2926080"/>
          </a:xfrm>
          <a:prstGeom prst="rect">
            <a:avLst/>
          </a:prstGeom>
        </p:spPr>
      </p:pic>
      <p:sp>
        <p:nvSpPr>
          <p:cNvPr id="7" name="Shape 4"/>
          <p:cNvSpPr/>
          <p:nvPr/>
        </p:nvSpPr>
        <p:spPr>
          <a:xfrm>
            <a:off x="6949440" y="1353312"/>
            <a:ext cx="1828800" cy="292608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8" name="Shape 5"/>
          <p:cNvSpPr/>
          <p:nvPr/>
        </p:nvSpPr>
        <p:spPr>
          <a:xfrm>
            <a:off x="6949440" y="1353312"/>
            <a:ext cx="1828800" cy="73152"/>
          </a:xfrm>
          <a:prstGeom prst="rect">
            <a:avLst/>
          </a:prstGeom>
          <a:solidFill>
            <a:srgbClr val="0D1B2A"/>
          </a:solidFill>
          <a:ln w="12700">
            <a:solidFill>
              <a:srgbClr val="0D1B2A"/>
            </a:solidFill>
            <a:prstDash val="solid"/>
          </a:ln>
        </p:spPr>
      </p:sp>
      <p:sp>
        <p:nvSpPr>
          <p:cNvPr id="9" name="Text 6"/>
          <p:cNvSpPr/>
          <p:nvPr/>
        </p:nvSpPr>
        <p:spPr>
          <a:xfrm>
            <a:off x="6949440" y="1463040"/>
            <a:ext cx="1828800" cy="274320"/>
          </a:xfrm>
          <a:prstGeom prst="rect">
            <a:avLst/>
          </a:prstGeom>
          <a:noFill/>
          <a:ln/>
        </p:spPr>
        <p:txBody>
          <a:bodyPr wrap="square" rtlCol="0" anchor="ctr"/>
          <a:lstStyle/>
          <a:p>
            <a:pPr algn="ctr" indent="0" marL="0">
              <a:buNone/>
            </a:pPr>
            <a:r>
              <a:rPr lang="en-US" sz="1100" b="1" dirty="0">
                <a:solidFill>
                  <a:srgbClr val="0D1B2A"/>
                </a:solidFill>
              </a:rPr>
              <a:t>CV Verdict</a:t>
            </a:r>
            <a:endParaRPr lang="en-US" sz="1100" dirty="0"/>
          </a:p>
        </p:txBody>
      </p:sp>
      <p:sp>
        <p:nvSpPr>
          <p:cNvPr id="10" name="Shape 7"/>
          <p:cNvSpPr/>
          <p:nvPr/>
        </p:nvSpPr>
        <p:spPr>
          <a:xfrm>
            <a:off x="7059168" y="1865376"/>
            <a:ext cx="146304" cy="146304"/>
          </a:xfrm>
          <a:prstGeom prst="ellipse">
            <a:avLst/>
          </a:prstGeom>
          <a:solidFill>
            <a:srgbClr val="D7191C"/>
          </a:solidFill>
          <a:ln w="12700">
            <a:solidFill>
              <a:srgbClr val="D7191C"/>
            </a:solidFill>
            <a:prstDash val="solid"/>
          </a:ln>
        </p:spPr>
      </p:sp>
      <p:sp>
        <p:nvSpPr>
          <p:cNvPr id="11" name="Text 8"/>
          <p:cNvSpPr/>
          <p:nvPr/>
        </p:nvSpPr>
        <p:spPr>
          <a:xfrm>
            <a:off x="7296912" y="1828800"/>
            <a:ext cx="1371600" cy="182880"/>
          </a:xfrm>
          <a:prstGeom prst="rect">
            <a:avLst/>
          </a:prstGeom>
          <a:noFill/>
          <a:ln/>
        </p:spPr>
        <p:txBody>
          <a:bodyPr wrap="square" rtlCol="0" anchor="ctr"/>
          <a:lstStyle/>
          <a:p>
            <a:pPr indent="0" marL="0">
              <a:buNone/>
            </a:pPr>
            <a:r>
              <a:rPr lang="en-US" sz="950" b="1" dirty="0">
                <a:solidFill>
                  <a:srgbClr val="D7191C"/>
                </a:solidFill>
              </a:rPr>
              <a:t>OLS</a:t>
            </a:r>
            <a:endParaRPr lang="en-US" sz="950" dirty="0"/>
          </a:p>
        </p:txBody>
      </p:sp>
      <p:sp>
        <p:nvSpPr>
          <p:cNvPr id="12" name="Text 9"/>
          <p:cNvSpPr/>
          <p:nvPr/>
        </p:nvSpPr>
        <p:spPr>
          <a:xfrm>
            <a:off x="7296912" y="2011680"/>
            <a:ext cx="1371600" cy="347472"/>
          </a:xfrm>
          <a:prstGeom prst="rect">
            <a:avLst/>
          </a:prstGeom>
          <a:noFill/>
          <a:ln/>
        </p:spPr>
        <p:txBody>
          <a:bodyPr wrap="square" rtlCol="0" anchor="ctr"/>
          <a:lstStyle/>
          <a:p>
            <a:pPr indent="0" marL="0">
              <a:buNone/>
            </a:pPr>
            <a:r>
              <a:rPr lang="en-US" sz="800" dirty="0">
                <a:solidFill>
                  <a:srgbClr val="64748B"/>
                </a:solidFill>
              </a:rPr>
              <a:t>sigma=0.009: stable but low ceiling. Linearity limits performance consistently.</a:t>
            </a:r>
            <a:endParaRPr lang="en-US" sz="800" dirty="0"/>
          </a:p>
        </p:txBody>
      </p:sp>
      <p:sp>
        <p:nvSpPr>
          <p:cNvPr id="13" name="Shape 10"/>
          <p:cNvSpPr/>
          <p:nvPr/>
        </p:nvSpPr>
        <p:spPr>
          <a:xfrm>
            <a:off x="7059168" y="2459736"/>
            <a:ext cx="146304" cy="146304"/>
          </a:xfrm>
          <a:prstGeom prst="ellipse">
            <a:avLst/>
          </a:prstGeom>
          <a:solidFill>
            <a:srgbClr val="FDAE61"/>
          </a:solidFill>
          <a:ln w="12700">
            <a:solidFill>
              <a:srgbClr val="FDAE61"/>
            </a:solidFill>
            <a:prstDash val="solid"/>
          </a:ln>
        </p:spPr>
      </p:sp>
      <p:sp>
        <p:nvSpPr>
          <p:cNvPr id="14" name="Text 11"/>
          <p:cNvSpPr/>
          <p:nvPr/>
        </p:nvSpPr>
        <p:spPr>
          <a:xfrm>
            <a:off x="7296912" y="2423160"/>
            <a:ext cx="1371600" cy="182880"/>
          </a:xfrm>
          <a:prstGeom prst="rect">
            <a:avLst/>
          </a:prstGeom>
          <a:noFill/>
          <a:ln/>
        </p:spPr>
        <p:txBody>
          <a:bodyPr wrap="square" rtlCol="0" anchor="ctr"/>
          <a:lstStyle/>
          <a:p>
            <a:pPr indent="0" marL="0">
              <a:buNone/>
            </a:pPr>
            <a:r>
              <a:rPr lang="en-US" sz="950" b="1" dirty="0">
                <a:solidFill>
                  <a:srgbClr val="FDAE61"/>
                </a:solidFill>
              </a:rPr>
              <a:t>Spline</a:t>
            </a:r>
            <a:endParaRPr lang="en-US" sz="950" dirty="0"/>
          </a:p>
        </p:txBody>
      </p:sp>
      <p:sp>
        <p:nvSpPr>
          <p:cNvPr id="15" name="Text 12"/>
          <p:cNvSpPr/>
          <p:nvPr/>
        </p:nvSpPr>
        <p:spPr>
          <a:xfrm>
            <a:off x="7296912" y="2606040"/>
            <a:ext cx="1371600" cy="347472"/>
          </a:xfrm>
          <a:prstGeom prst="rect">
            <a:avLst/>
          </a:prstGeom>
          <a:noFill/>
          <a:ln/>
        </p:spPr>
        <p:txBody>
          <a:bodyPr wrap="square" rtlCol="0" anchor="ctr"/>
          <a:lstStyle/>
          <a:p>
            <a:pPr indent="0" marL="0">
              <a:buNone/>
            </a:pPr>
            <a:r>
              <a:rPr lang="en-US" sz="800" dirty="0">
                <a:solidFill>
                  <a:srgbClr val="64748B"/>
                </a:solidFill>
              </a:rPr>
              <a:t>sigma=0.004: very stable. GNPR models generalise smoothly.</a:t>
            </a:r>
            <a:endParaRPr lang="en-US" sz="800" dirty="0"/>
          </a:p>
        </p:txBody>
      </p:sp>
      <p:sp>
        <p:nvSpPr>
          <p:cNvPr id="16" name="Shape 13"/>
          <p:cNvSpPr/>
          <p:nvPr/>
        </p:nvSpPr>
        <p:spPr>
          <a:xfrm>
            <a:off x="7059168" y="3054096"/>
            <a:ext cx="146304" cy="146304"/>
          </a:xfrm>
          <a:prstGeom prst="ellipse">
            <a:avLst/>
          </a:prstGeom>
          <a:solidFill>
            <a:srgbClr val="2C7BB6"/>
          </a:solidFill>
          <a:ln w="12700">
            <a:solidFill>
              <a:srgbClr val="2C7BB6"/>
            </a:solidFill>
            <a:prstDash val="solid"/>
          </a:ln>
        </p:spPr>
      </p:sp>
      <p:sp>
        <p:nvSpPr>
          <p:cNvPr id="17" name="Text 14"/>
          <p:cNvSpPr/>
          <p:nvPr/>
        </p:nvSpPr>
        <p:spPr>
          <a:xfrm>
            <a:off x="7296912" y="3017520"/>
            <a:ext cx="1371600" cy="182880"/>
          </a:xfrm>
          <a:prstGeom prst="rect">
            <a:avLst/>
          </a:prstGeom>
          <a:noFill/>
          <a:ln/>
        </p:spPr>
        <p:txBody>
          <a:bodyPr wrap="square" rtlCol="0" anchor="ctr"/>
          <a:lstStyle/>
          <a:p>
            <a:pPr indent="0" marL="0">
              <a:buNone/>
            </a:pPr>
            <a:r>
              <a:rPr lang="en-US" sz="950" b="1" dirty="0">
                <a:solidFill>
                  <a:srgbClr val="2C7BB6"/>
                </a:solidFill>
              </a:rPr>
              <a:t>GBM</a:t>
            </a:r>
            <a:endParaRPr lang="en-US" sz="950" dirty="0"/>
          </a:p>
        </p:txBody>
      </p:sp>
      <p:sp>
        <p:nvSpPr>
          <p:cNvPr id="18" name="Text 15"/>
          <p:cNvSpPr/>
          <p:nvPr/>
        </p:nvSpPr>
        <p:spPr>
          <a:xfrm>
            <a:off x="7296912" y="3200400"/>
            <a:ext cx="1371600" cy="347472"/>
          </a:xfrm>
          <a:prstGeom prst="rect">
            <a:avLst/>
          </a:prstGeom>
          <a:noFill/>
          <a:ln/>
        </p:spPr>
        <p:txBody>
          <a:bodyPr wrap="square" rtlCol="0" anchor="ctr"/>
          <a:lstStyle/>
          <a:p>
            <a:pPr indent="0" marL="0">
              <a:buNone/>
            </a:pPr>
            <a:r>
              <a:rPr lang="en-US" sz="800" dirty="0">
                <a:solidFill>
                  <a:srgbClr val="64748B"/>
                </a:solidFill>
              </a:rPr>
              <a:t>sigma=0.005: high accuracy, low variance. No overfitting signal.</a:t>
            </a:r>
            <a:endParaRPr lang="en-US" sz="800" dirty="0"/>
          </a:p>
        </p:txBody>
      </p:sp>
      <p:sp>
        <p:nvSpPr>
          <p:cNvPr id="19" name="Shape 16"/>
          <p:cNvSpPr/>
          <p:nvPr/>
        </p:nvSpPr>
        <p:spPr>
          <a:xfrm>
            <a:off x="7059168" y="3648456"/>
            <a:ext cx="146304" cy="146304"/>
          </a:xfrm>
          <a:prstGeom prst="ellipse">
            <a:avLst/>
          </a:prstGeom>
          <a:solidFill>
            <a:srgbClr val="1A9641"/>
          </a:solidFill>
          <a:ln w="12700">
            <a:solidFill>
              <a:srgbClr val="1A9641"/>
            </a:solidFill>
            <a:prstDash val="solid"/>
          </a:ln>
        </p:spPr>
      </p:sp>
      <p:sp>
        <p:nvSpPr>
          <p:cNvPr id="20" name="Text 17"/>
          <p:cNvSpPr/>
          <p:nvPr/>
        </p:nvSpPr>
        <p:spPr>
          <a:xfrm>
            <a:off x="7296912" y="3611880"/>
            <a:ext cx="1371600" cy="182880"/>
          </a:xfrm>
          <a:prstGeom prst="rect">
            <a:avLst/>
          </a:prstGeom>
          <a:noFill/>
          <a:ln/>
        </p:spPr>
        <p:txBody>
          <a:bodyPr wrap="square" rtlCol="0" anchor="ctr"/>
          <a:lstStyle/>
          <a:p>
            <a:pPr indent="0" marL="0">
              <a:buNone/>
            </a:pPr>
            <a:r>
              <a:rPr lang="en-US" sz="950" b="1" dirty="0">
                <a:solidFill>
                  <a:srgbClr val="1A9641"/>
                </a:solidFill>
              </a:rPr>
              <a:t>RF</a:t>
            </a:r>
            <a:endParaRPr lang="en-US" sz="950" dirty="0"/>
          </a:p>
        </p:txBody>
      </p:sp>
      <p:sp>
        <p:nvSpPr>
          <p:cNvPr id="21" name="Text 18"/>
          <p:cNvSpPr/>
          <p:nvPr/>
        </p:nvSpPr>
        <p:spPr>
          <a:xfrm>
            <a:off x="7296912" y="3794760"/>
            <a:ext cx="1371600" cy="347472"/>
          </a:xfrm>
          <a:prstGeom prst="rect">
            <a:avLst/>
          </a:prstGeom>
          <a:noFill/>
          <a:ln/>
        </p:spPr>
        <p:txBody>
          <a:bodyPr wrap="square" rtlCol="0" anchor="ctr"/>
          <a:lstStyle/>
          <a:p>
            <a:pPr indent="0" marL="0">
              <a:buNone/>
            </a:pPr>
            <a:r>
              <a:rPr lang="en-US" sz="800" dirty="0">
                <a:solidFill>
                  <a:srgbClr val="64748B"/>
                </a:solidFill>
              </a:rPr>
              <a:t>sigma=0.006: highest CV R². Confirms RQ1: ensembles win decisively.</a:t>
            </a:r>
            <a:endParaRPr lang="en-US" sz="800" dirty="0"/>
          </a:p>
        </p:txBody>
      </p:sp>
      <p:sp>
        <p:nvSpPr>
          <p:cNvPr id="22" name="Shape 19"/>
          <p:cNvSpPr/>
          <p:nvPr/>
        </p:nvSpPr>
        <p:spPr>
          <a:xfrm>
            <a:off x="365760" y="4370832"/>
            <a:ext cx="8412480" cy="841248"/>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23" name="Shape 20"/>
          <p:cNvSpPr/>
          <p:nvPr/>
        </p:nvSpPr>
        <p:spPr>
          <a:xfrm>
            <a:off x="365760" y="4370832"/>
            <a:ext cx="8412480" cy="54864"/>
          </a:xfrm>
          <a:prstGeom prst="rect">
            <a:avLst/>
          </a:prstGeom>
          <a:solidFill>
            <a:srgbClr val="1B7A8A"/>
          </a:solidFill>
          <a:ln w="12700">
            <a:solidFill>
              <a:srgbClr val="1B7A8A"/>
            </a:solidFill>
            <a:prstDash val="solid"/>
          </a:ln>
        </p:spPr>
      </p:sp>
      <p:sp>
        <p:nvSpPr>
          <p:cNvPr id="24" name="Text 21"/>
          <p:cNvSpPr/>
          <p:nvPr/>
        </p:nvSpPr>
        <p:spPr>
          <a:xfrm>
            <a:off x="502920" y="4480560"/>
            <a:ext cx="8138160" cy="667512"/>
          </a:xfrm>
          <a:prstGeom prst="rect">
            <a:avLst/>
          </a:prstGeom>
          <a:noFill/>
          <a:ln/>
        </p:spPr>
        <p:txBody>
          <a:bodyPr wrap="square" rtlCol="0" anchor="ctr"/>
          <a:lstStyle/>
          <a:p>
            <a:pPr indent="0" marL="0">
              <a:buNone/>
            </a:pPr>
            <a:r>
              <a:rPr lang="en-US" sz="950" b="1" dirty="0">
                <a:solidFill>
                  <a:srgbClr val="1B7A8A"/>
                </a:solidFill>
              </a:rPr>
              <a:t>Why CV matters: </a:t>
            </a:r>
            <a:pPr indent="0" marL="0">
              <a:buNone/>
            </a:pPr>
            <a:r>
              <a:rPr lang="en-US" sz="950" dirty="0">
                <a:solidFill>
                  <a:srgbClr val="0D1B2A"/>
                </a:solidFill>
              </a:rPr>
              <a:t>A single test split could be lucky or unlucky. 5-fold CV trains on 80% of data five different ways and tests on the remaining 20% each time. If mean R² is high and sigma is low, the model is genuinely learning the data-generating process.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SPATIAL DIAGNOSTICS</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Moran's I: Formally Proving What the Map Suggested</a:t>
            </a:r>
            <a:endParaRPr lang="en-US" sz="2400" dirty="0"/>
          </a:p>
        </p:txBody>
      </p:sp>
      <p:sp>
        <p:nvSpPr>
          <p:cNvPr id="5" name="Text 3"/>
          <p:cNvSpPr/>
          <p:nvPr/>
        </p:nvSpPr>
        <p:spPr>
          <a:xfrm>
            <a:off x="365760" y="1024128"/>
            <a:ext cx="8412480" cy="246888"/>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Test: are OLS residuals spatially random? z=66.2, p&lt;0.0001. They are not. Classical regression assumptions are violated.</a:t>
            </a:r>
            <a:endParaRPr lang="en-US" sz="1050" dirty="0"/>
          </a:p>
        </p:txBody>
      </p:sp>
      <p:pic>
        <p:nvPicPr>
          <p:cNvPr id="6" name="Image 0" descr="preencoded.png">    </p:cNvPr>
          <p:cNvPicPr>
            <a:picLocks noChangeAspect="1"/>
          </p:cNvPicPr>
          <p:nvPr/>
        </p:nvPicPr>
        <p:blipFill>
          <a:blip r:embed="rId1"/>
          <a:stretch>
            <a:fillRect/>
          </a:stretch>
        </p:blipFill>
        <p:spPr>
          <a:xfrm>
            <a:off x="365760" y="1353312"/>
            <a:ext cx="6035040" cy="2834640"/>
          </a:xfrm>
          <a:prstGeom prst="rect">
            <a:avLst/>
          </a:prstGeom>
        </p:spPr>
      </p:pic>
      <p:sp>
        <p:nvSpPr>
          <p:cNvPr id="7" name="Shape 4"/>
          <p:cNvSpPr/>
          <p:nvPr/>
        </p:nvSpPr>
        <p:spPr>
          <a:xfrm>
            <a:off x="6537960" y="1353312"/>
            <a:ext cx="2240280" cy="28346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8" name="Shape 5"/>
          <p:cNvSpPr/>
          <p:nvPr/>
        </p:nvSpPr>
        <p:spPr>
          <a:xfrm>
            <a:off x="6537960" y="1353312"/>
            <a:ext cx="2240280" cy="73152"/>
          </a:xfrm>
          <a:prstGeom prst="rect">
            <a:avLst/>
          </a:prstGeom>
          <a:solidFill>
            <a:srgbClr val="0D1B2A"/>
          </a:solidFill>
          <a:ln w="12700">
            <a:solidFill>
              <a:srgbClr val="0D1B2A"/>
            </a:solidFill>
            <a:prstDash val="solid"/>
          </a:ln>
        </p:spPr>
      </p:sp>
      <p:sp>
        <p:nvSpPr>
          <p:cNvPr id="9" name="Text 6"/>
          <p:cNvSpPr/>
          <p:nvPr/>
        </p:nvSpPr>
        <p:spPr>
          <a:xfrm>
            <a:off x="6537960" y="1463040"/>
            <a:ext cx="2240280" cy="274320"/>
          </a:xfrm>
          <a:prstGeom prst="rect">
            <a:avLst/>
          </a:prstGeom>
          <a:noFill/>
          <a:ln/>
        </p:spPr>
        <p:txBody>
          <a:bodyPr wrap="square" rtlCol="0" anchor="ctr"/>
          <a:lstStyle/>
          <a:p>
            <a:pPr algn="ctr" indent="0" marL="0">
              <a:buNone/>
            </a:pPr>
            <a:r>
              <a:rPr lang="en-US" sz="1100" b="1" dirty="0">
                <a:solidFill>
                  <a:srgbClr val="0D1B2A"/>
                </a:solidFill>
              </a:rPr>
              <a:t>Results</a:t>
            </a:r>
            <a:endParaRPr lang="en-US" sz="1100" dirty="0"/>
          </a:p>
        </p:txBody>
      </p:sp>
      <p:sp>
        <p:nvSpPr>
          <p:cNvPr id="10" name="Text 7"/>
          <p:cNvSpPr/>
          <p:nvPr/>
        </p:nvSpPr>
        <p:spPr>
          <a:xfrm>
            <a:off x="6583680" y="1892808"/>
            <a:ext cx="1371600" cy="256032"/>
          </a:xfrm>
          <a:prstGeom prst="rect">
            <a:avLst/>
          </a:prstGeom>
          <a:noFill/>
          <a:ln/>
        </p:spPr>
        <p:txBody>
          <a:bodyPr wrap="square" rtlCol="0" anchor="ctr"/>
          <a:lstStyle/>
          <a:p>
            <a:pPr indent="0" marL="0">
              <a:buNone/>
            </a:pPr>
            <a:r>
              <a:rPr lang="en-US" sz="850" dirty="0">
                <a:solidFill>
                  <a:srgbClr val="64748B"/>
                </a:solidFill>
              </a:rPr>
              <a:t>I (house values)</a:t>
            </a:r>
            <a:endParaRPr lang="en-US" sz="850" dirty="0"/>
          </a:p>
        </p:txBody>
      </p:sp>
      <p:sp>
        <p:nvSpPr>
          <p:cNvPr id="11" name="Text 8"/>
          <p:cNvSpPr/>
          <p:nvPr/>
        </p:nvSpPr>
        <p:spPr>
          <a:xfrm>
            <a:off x="7955280" y="1892808"/>
            <a:ext cx="731520" cy="256032"/>
          </a:xfrm>
          <a:prstGeom prst="rect">
            <a:avLst/>
          </a:prstGeom>
          <a:noFill/>
          <a:ln/>
        </p:spPr>
        <p:txBody>
          <a:bodyPr wrap="square" rtlCol="0" anchor="ctr"/>
          <a:lstStyle/>
          <a:p>
            <a:pPr algn="r" indent="0" marL="0">
              <a:buNone/>
            </a:pPr>
            <a:r>
              <a:rPr lang="en-US" sz="1100" b="1" dirty="0">
                <a:solidFill>
                  <a:srgbClr val="D7191C"/>
                </a:solidFill>
              </a:rPr>
              <a:t>0.762</a:t>
            </a:r>
            <a:endParaRPr lang="en-US" sz="1100" dirty="0"/>
          </a:p>
        </p:txBody>
      </p:sp>
      <p:sp>
        <p:nvSpPr>
          <p:cNvPr id="12" name="Text 9"/>
          <p:cNvSpPr/>
          <p:nvPr/>
        </p:nvSpPr>
        <p:spPr>
          <a:xfrm>
            <a:off x="6583680" y="2212848"/>
            <a:ext cx="1371600" cy="256032"/>
          </a:xfrm>
          <a:prstGeom prst="rect">
            <a:avLst/>
          </a:prstGeom>
          <a:noFill/>
          <a:ln/>
        </p:spPr>
        <p:txBody>
          <a:bodyPr wrap="square" rtlCol="0" anchor="ctr"/>
          <a:lstStyle/>
          <a:p>
            <a:pPr indent="0" marL="0">
              <a:buNone/>
            </a:pPr>
            <a:r>
              <a:rPr lang="en-US" sz="850" dirty="0">
                <a:solidFill>
                  <a:srgbClr val="64748B"/>
                </a:solidFill>
              </a:rPr>
              <a:t>z-score</a:t>
            </a:r>
            <a:endParaRPr lang="en-US" sz="850" dirty="0"/>
          </a:p>
        </p:txBody>
      </p:sp>
      <p:sp>
        <p:nvSpPr>
          <p:cNvPr id="13" name="Text 10"/>
          <p:cNvSpPr/>
          <p:nvPr/>
        </p:nvSpPr>
        <p:spPr>
          <a:xfrm>
            <a:off x="7955280" y="2212848"/>
            <a:ext cx="731520" cy="256032"/>
          </a:xfrm>
          <a:prstGeom prst="rect">
            <a:avLst/>
          </a:prstGeom>
          <a:noFill/>
          <a:ln/>
        </p:spPr>
        <p:txBody>
          <a:bodyPr wrap="square" rtlCol="0" anchor="ctr"/>
          <a:lstStyle/>
          <a:p>
            <a:pPr algn="r" indent="0" marL="0">
              <a:buNone/>
            </a:pPr>
            <a:r>
              <a:rPr lang="en-US" sz="1100" b="1" dirty="0">
                <a:solidFill>
                  <a:srgbClr val="D7191C"/>
                </a:solidFill>
              </a:rPr>
              <a:t>115.0</a:t>
            </a:r>
            <a:endParaRPr lang="en-US" sz="1100" dirty="0"/>
          </a:p>
        </p:txBody>
      </p:sp>
      <p:sp>
        <p:nvSpPr>
          <p:cNvPr id="14" name="Text 11"/>
          <p:cNvSpPr/>
          <p:nvPr/>
        </p:nvSpPr>
        <p:spPr>
          <a:xfrm>
            <a:off x="6583680" y="2532888"/>
            <a:ext cx="1371600" cy="256032"/>
          </a:xfrm>
          <a:prstGeom prst="rect">
            <a:avLst/>
          </a:prstGeom>
          <a:noFill/>
          <a:ln/>
        </p:spPr>
        <p:txBody>
          <a:bodyPr wrap="square" rtlCol="0" anchor="ctr"/>
          <a:lstStyle/>
          <a:p>
            <a:pPr indent="0" marL="0">
              <a:buNone/>
            </a:pPr>
            <a:r>
              <a:rPr lang="en-US" sz="850" dirty="0">
                <a:solidFill>
                  <a:srgbClr val="64748B"/>
                </a:solidFill>
              </a:rPr>
              <a:t>I (OLS residuals)</a:t>
            </a:r>
            <a:endParaRPr lang="en-US" sz="850" dirty="0"/>
          </a:p>
        </p:txBody>
      </p:sp>
      <p:sp>
        <p:nvSpPr>
          <p:cNvPr id="15" name="Text 12"/>
          <p:cNvSpPr/>
          <p:nvPr/>
        </p:nvSpPr>
        <p:spPr>
          <a:xfrm>
            <a:off x="7955280" y="2532888"/>
            <a:ext cx="731520" cy="256032"/>
          </a:xfrm>
          <a:prstGeom prst="rect">
            <a:avLst/>
          </a:prstGeom>
          <a:noFill/>
          <a:ln/>
        </p:spPr>
        <p:txBody>
          <a:bodyPr wrap="square" rtlCol="0" anchor="ctr"/>
          <a:lstStyle/>
          <a:p>
            <a:pPr algn="r" indent="0" marL="0">
              <a:buNone/>
            </a:pPr>
            <a:r>
              <a:rPr lang="en-US" sz="1100" b="1" dirty="0">
                <a:solidFill>
                  <a:srgbClr val="FDAE61"/>
                </a:solidFill>
              </a:rPr>
              <a:t>0.439</a:t>
            </a:r>
            <a:endParaRPr lang="en-US" sz="1100" dirty="0"/>
          </a:p>
        </p:txBody>
      </p:sp>
      <p:sp>
        <p:nvSpPr>
          <p:cNvPr id="16" name="Text 13"/>
          <p:cNvSpPr/>
          <p:nvPr/>
        </p:nvSpPr>
        <p:spPr>
          <a:xfrm>
            <a:off x="6583680" y="2852928"/>
            <a:ext cx="1371600" cy="256032"/>
          </a:xfrm>
          <a:prstGeom prst="rect">
            <a:avLst/>
          </a:prstGeom>
          <a:noFill/>
          <a:ln/>
        </p:spPr>
        <p:txBody>
          <a:bodyPr wrap="square" rtlCol="0" anchor="ctr"/>
          <a:lstStyle/>
          <a:p>
            <a:pPr indent="0" marL="0">
              <a:buNone/>
            </a:pPr>
            <a:r>
              <a:rPr lang="en-US" sz="850" dirty="0">
                <a:solidFill>
                  <a:srgbClr val="64748B"/>
                </a:solidFill>
              </a:rPr>
              <a:t>z-score (resid.)</a:t>
            </a:r>
            <a:endParaRPr lang="en-US" sz="850" dirty="0"/>
          </a:p>
        </p:txBody>
      </p:sp>
      <p:sp>
        <p:nvSpPr>
          <p:cNvPr id="17" name="Text 14"/>
          <p:cNvSpPr/>
          <p:nvPr/>
        </p:nvSpPr>
        <p:spPr>
          <a:xfrm>
            <a:off x="7955280" y="2852928"/>
            <a:ext cx="731520" cy="256032"/>
          </a:xfrm>
          <a:prstGeom prst="rect">
            <a:avLst/>
          </a:prstGeom>
          <a:noFill/>
          <a:ln/>
        </p:spPr>
        <p:txBody>
          <a:bodyPr wrap="square" rtlCol="0" anchor="ctr"/>
          <a:lstStyle/>
          <a:p>
            <a:pPr algn="r" indent="0" marL="0">
              <a:buNone/>
            </a:pPr>
            <a:r>
              <a:rPr lang="en-US" sz="1100" b="1" dirty="0">
                <a:solidFill>
                  <a:srgbClr val="FDAE61"/>
                </a:solidFill>
              </a:rPr>
              <a:t>66.2</a:t>
            </a:r>
            <a:endParaRPr lang="en-US" sz="1100" dirty="0"/>
          </a:p>
        </p:txBody>
      </p:sp>
      <p:sp>
        <p:nvSpPr>
          <p:cNvPr id="18" name="Text 15"/>
          <p:cNvSpPr/>
          <p:nvPr/>
        </p:nvSpPr>
        <p:spPr>
          <a:xfrm>
            <a:off x="6583680" y="3172968"/>
            <a:ext cx="1371600" cy="256032"/>
          </a:xfrm>
          <a:prstGeom prst="rect">
            <a:avLst/>
          </a:prstGeom>
          <a:noFill/>
          <a:ln/>
        </p:spPr>
        <p:txBody>
          <a:bodyPr wrap="square" rtlCol="0" anchor="ctr"/>
          <a:lstStyle/>
          <a:p>
            <a:pPr indent="0" marL="0">
              <a:buNone/>
            </a:pPr>
            <a:r>
              <a:rPr lang="en-US" sz="850" dirty="0">
                <a:solidFill>
                  <a:srgbClr val="64748B"/>
                </a:solidFill>
              </a:rPr>
              <a:t>p-value</a:t>
            </a:r>
            <a:endParaRPr lang="en-US" sz="850" dirty="0"/>
          </a:p>
        </p:txBody>
      </p:sp>
      <p:sp>
        <p:nvSpPr>
          <p:cNvPr id="19" name="Text 16"/>
          <p:cNvSpPr/>
          <p:nvPr/>
        </p:nvSpPr>
        <p:spPr>
          <a:xfrm>
            <a:off x="7955280" y="3172968"/>
            <a:ext cx="731520" cy="256032"/>
          </a:xfrm>
          <a:prstGeom prst="rect">
            <a:avLst/>
          </a:prstGeom>
          <a:noFill/>
          <a:ln/>
        </p:spPr>
        <p:txBody>
          <a:bodyPr wrap="square" rtlCol="0" anchor="ctr"/>
          <a:lstStyle/>
          <a:p>
            <a:pPr algn="r" indent="0" marL="0">
              <a:buNone/>
            </a:pPr>
            <a:r>
              <a:rPr lang="en-US" sz="1100" b="1" dirty="0">
                <a:solidFill>
                  <a:srgbClr val="0D1B2A"/>
                </a:solidFill>
              </a:rPr>
              <a:t>&lt;0.0001</a:t>
            </a:r>
            <a:endParaRPr lang="en-US" sz="1100" dirty="0"/>
          </a:p>
        </p:txBody>
      </p:sp>
      <p:sp>
        <p:nvSpPr>
          <p:cNvPr id="20" name="Text 17"/>
          <p:cNvSpPr/>
          <p:nvPr/>
        </p:nvSpPr>
        <p:spPr>
          <a:xfrm>
            <a:off x="6583680" y="3493008"/>
            <a:ext cx="1371600" cy="256032"/>
          </a:xfrm>
          <a:prstGeom prst="rect">
            <a:avLst/>
          </a:prstGeom>
          <a:noFill/>
          <a:ln/>
        </p:spPr>
        <p:txBody>
          <a:bodyPr wrap="square" rtlCol="0" anchor="ctr"/>
          <a:lstStyle/>
          <a:p>
            <a:pPr indent="0" marL="0">
              <a:buNone/>
            </a:pPr>
            <a:r>
              <a:rPr lang="en-US" sz="850" dirty="0">
                <a:solidFill>
                  <a:srgbClr val="64748B"/>
                </a:solidFill>
              </a:rPr>
              <a:t>K-NN neighbours</a:t>
            </a:r>
            <a:endParaRPr lang="en-US" sz="850" dirty="0"/>
          </a:p>
        </p:txBody>
      </p:sp>
      <p:sp>
        <p:nvSpPr>
          <p:cNvPr id="21" name="Text 18"/>
          <p:cNvSpPr/>
          <p:nvPr/>
        </p:nvSpPr>
        <p:spPr>
          <a:xfrm>
            <a:off x="7955280" y="3493008"/>
            <a:ext cx="731520" cy="256032"/>
          </a:xfrm>
          <a:prstGeom prst="rect">
            <a:avLst/>
          </a:prstGeom>
          <a:noFill/>
          <a:ln/>
        </p:spPr>
        <p:txBody>
          <a:bodyPr wrap="square" rtlCol="0" anchor="ctr"/>
          <a:lstStyle/>
          <a:p>
            <a:pPr algn="r" indent="0" marL="0">
              <a:buNone/>
            </a:pPr>
            <a:r>
              <a:rPr lang="en-US" sz="1100" b="1" dirty="0">
                <a:solidFill>
                  <a:srgbClr val="64748B"/>
                </a:solidFill>
              </a:rPr>
              <a:t>8</a:t>
            </a:r>
            <a:endParaRPr lang="en-US" sz="1100" dirty="0"/>
          </a:p>
        </p:txBody>
      </p:sp>
      <p:sp>
        <p:nvSpPr>
          <p:cNvPr id="22" name="Text 19"/>
          <p:cNvSpPr/>
          <p:nvPr/>
        </p:nvSpPr>
        <p:spPr>
          <a:xfrm>
            <a:off x="6583680" y="3813048"/>
            <a:ext cx="1371600" cy="256032"/>
          </a:xfrm>
          <a:prstGeom prst="rect">
            <a:avLst/>
          </a:prstGeom>
          <a:noFill/>
          <a:ln/>
        </p:spPr>
        <p:txBody>
          <a:bodyPr wrap="square" rtlCol="0" anchor="ctr"/>
          <a:lstStyle/>
          <a:p>
            <a:pPr indent="0" marL="0">
              <a:buNone/>
            </a:pPr>
            <a:r>
              <a:rPr lang="en-US" sz="850" dirty="0">
                <a:solidFill>
                  <a:srgbClr val="64748B"/>
                </a:solidFill>
              </a:rPr>
              <a:t>Sample</a:t>
            </a:r>
            <a:endParaRPr lang="en-US" sz="850" dirty="0"/>
          </a:p>
        </p:txBody>
      </p:sp>
      <p:sp>
        <p:nvSpPr>
          <p:cNvPr id="23" name="Text 20"/>
          <p:cNvSpPr/>
          <p:nvPr/>
        </p:nvSpPr>
        <p:spPr>
          <a:xfrm>
            <a:off x="7955280" y="3813048"/>
            <a:ext cx="731520" cy="256032"/>
          </a:xfrm>
          <a:prstGeom prst="rect">
            <a:avLst/>
          </a:prstGeom>
          <a:noFill/>
          <a:ln/>
        </p:spPr>
        <p:txBody>
          <a:bodyPr wrap="square" rtlCol="0" anchor="ctr"/>
          <a:lstStyle/>
          <a:p>
            <a:pPr algn="r" indent="0" marL="0">
              <a:buNone/>
            </a:pPr>
            <a:r>
              <a:rPr lang="en-US" sz="1100" b="1" dirty="0">
                <a:solidFill>
                  <a:srgbClr val="64748B"/>
                </a:solidFill>
              </a:rPr>
              <a:t>5,000</a:t>
            </a:r>
            <a:endParaRPr lang="en-US" sz="1100" dirty="0"/>
          </a:p>
        </p:txBody>
      </p:sp>
      <p:sp>
        <p:nvSpPr>
          <p:cNvPr id="24" name="Shape 21"/>
          <p:cNvSpPr/>
          <p:nvPr/>
        </p:nvSpPr>
        <p:spPr>
          <a:xfrm>
            <a:off x="365760" y="4261104"/>
            <a:ext cx="8412480" cy="86868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25" name="Shape 22"/>
          <p:cNvSpPr/>
          <p:nvPr/>
        </p:nvSpPr>
        <p:spPr>
          <a:xfrm>
            <a:off x="365760" y="4261104"/>
            <a:ext cx="8412480" cy="54864"/>
          </a:xfrm>
          <a:prstGeom prst="rect">
            <a:avLst/>
          </a:prstGeom>
          <a:solidFill>
            <a:srgbClr val="D7191C"/>
          </a:solidFill>
          <a:ln w="12700">
            <a:solidFill>
              <a:srgbClr val="D7191C"/>
            </a:solidFill>
            <a:prstDash val="solid"/>
          </a:ln>
        </p:spPr>
      </p:sp>
      <p:sp>
        <p:nvSpPr>
          <p:cNvPr id="26" name="Text 23"/>
          <p:cNvSpPr/>
          <p:nvPr/>
        </p:nvSpPr>
        <p:spPr>
          <a:xfrm>
            <a:off x="502920" y="4361688"/>
            <a:ext cx="8138160" cy="685800"/>
          </a:xfrm>
          <a:prstGeom prst="rect">
            <a:avLst/>
          </a:prstGeom>
          <a:noFill/>
          <a:ln/>
        </p:spPr>
        <p:txBody>
          <a:bodyPr wrap="square" rtlCol="0" anchor="ctr"/>
          <a:lstStyle/>
          <a:p>
            <a:pPr indent="0" marL="0">
              <a:buNone/>
            </a:pPr>
            <a:r>
              <a:rPr lang="en-US" sz="950" b="1" dirty="0">
                <a:solidFill>
                  <a:srgbClr val="D7191C"/>
                </a:solidFill>
              </a:rPr>
              <a:t>What this means: </a:t>
            </a:r>
            <a:pPr indent="0" marL="0">
              <a:buNone/>
            </a:pPr>
            <a:r>
              <a:rPr lang="en-US" sz="950" dirty="0">
                <a:solidFill>
                  <a:srgbClr val="0D1B2A"/>
                </a:solidFill>
              </a:rPr>
              <a:t>OLS assumes residuals are independent. Moran's I = 0.439 with z = 66.2 shatters that assumption. Nearby block groups share unexplained variance. OLS coefficient estimates are biased and standard errors are wrong. The appropriate response is to model spatial dependence explicitly via Spatial Lag and Spatial Error models.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SPATIAL MODELS · SLM/SEM</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Spatial Lag and Spatial Error: Acting on Moran's Signal</a:t>
            </a:r>
            <a:endParaRPr lang="en-US" sz="2400" dirty="0"/>
          </a:p>
        </p:txBody>
      </p:sp>
      <p:sp>
        <p:nvSpPr>
          <p:cNvPr id="5" name="Shape 3"/>
          <p:cNvSpPr/>
          <p:nvPr/>
        </p:nvSpPr>
        <p:spPr>
          <a:xfrm>
            <a:off x="365760" y="1353312"/>
            <a:ext cx="4114800" cy="3767328"/>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65760" y="1353312"/>
            <a:ext cx="4114800" cy="457200"/>
          </a:xfrm>
          <a:prstGeom prst="rect">
            <a:avLst/>
          </a:prstGeom>
          <a:solidFill>
            <a:srgbClr val="7B2D8B"/>
          </a:solidFill>
          <a:ln w="12700">
            <a:solidFill>
              <a:srgbClr val="7B2D8B"/>
            </a:solidFill>
            <a:prstDash val="solid"/>
          </a:ln>
        </p:spPr>
      </p:sp>
      <p:sp>
        <p:nvSpPr>
          <p:cNvPr id="7" name="Text 5"/>
          <p:cNvSpPr/>
          <p:nvPr/>
        </p:nvSpPr>
        <p:spPr>
          <a:xfrm>
            <a:off x="365760" y="1353312"/>
            <a:ext cx="4114800" cy="457200"/>
          </a:xfrm>
          <a:prstGeom prst="rect">
            <a:avLst/>
          </a:prstGeom>
          <a:noFill/>
          <a:ln/>
        </p:spPr>
        <p:txBody>
          <a:bodyPr wrap="square" lIns="0" tIns="0" rIns="0" bIns="0" rtlCol="0" anchor="ctr"/>
          <a:lstStyle/>
          <a:p>
            <a:pPr algn="ctr" indent="0" marL="0">
              <a:buNone/>
            </a:pPr>
            <a:r>
              <a:rPr lang="en-US" sz="1200" b="1" dirty="0">
                <a:solidFill>
                  <a:srgbClr val="FFFFFF"/>
                </a:solidFill>
              </a:rPr>
              <a:t>Spatial Lag Model (SLM / SAR)</a:t>
            </a:r>
            <a:endParaRPr lang="en-US" sz="1200" dirty="0"/>
          </a:p>
        </p:txBody>
      </p:sp>
      <p:sp>
        <p:nvSpPr>
          <p:cNvPr id="8" name="Text 6"/>
          <p:cNvSpPr/>
          <p:nvPr/>
        </p:nvSpPr>
        <p:spPr>
          <a:xfrm>
            <a:off x="457200" y="1874520"/>
            <a:ext cx="3931920" cy="274320"/>
          </a:xfrm>
          <a:prstGeom prst="rect">
            <a:avLst/>
          </a:prstGeom>
          <a:noFill/>
          <a:ln/>
        </p:spPr>
        <p:txBody>
          <a:bodyPr wrap="square" rtlCol="0" anchor="ctr"/>
          <a:lstStyle/>
          <a:p>
            <a:pPr algn="ctr" indent="0" marL="0">
              <a:buNone/>
            </a:pPr>
            <a:r>
              <a:rPr lang="en-US" sz="1250" dirty="0">
                <a:solidFill>
                  <a:srgbClr val="7B2D8B"/>
                </a:solidFill>
                <a:latin typeface="Consolas" pitchFamily="34" charset="0"/>
                <a:ea typeface="Consolas" pitchFamily="34" charset="-122"/>
                <a:cs typeface="Consolas" pitchFamily="34" charset="-120"/>
              </a:rPr>
              <a:t>y = rho*Wy + X*beta + epsilon</a:t>
            </a:r>
            <a:endParaRPr lang="en-US" sz="1250" dirty="0"/>
          </a:p>
        </p:txBody>
      </p:sp>
      <p:sp>
        <p:nvSpPr>
          <p:cNvPr id="9" name="Text 7"/>
          <p:cNvSpPr/>
          <p:nvPr/>
        </p:nvSpPr>
        <p:spPr>
          <a:xfrm>
            <a:off x="457200" y="2212848"/>
            <a:ext cx="3931920" cy="256032"/>
          </a:xfrm>
          <a:prstGeom prst="rect">
            <a:avLst/>
          </a:prstGeom>
          <a:noFill/>
          <a:ln/>
        </p:spPr>
        <p:txBody>
          <a:bodyPr wrap="square" rtlCol="0" anchor="ctr"/>
          <a:lstStyle/>
          <a:p>
            <a:pPr algn="ctr" indent="0" marL="0">
              <a:buNone/>
            </a:pPr>
            <a:r>
              <a:rPr lang="en-US" sz="1050" b="1" dirty="0">
                <a:solidFill>
                  <a:srgbClr val="7B2D8B"/>
                </a:solidFill>
              </a:rPr>
              <a:t>rho = 0.6863  ***  (z = 69.6)</a:t>
            </a:r>
            <a:endParaRPr lang="en-US" sz="1050" dirty="0"/>
          </a:p>
        </p:txBody>
      </p:sp>
      <p:sp>
        <p:nvSpPr>
          <p:cNvPr id="10" name="Text 8"/>
          <p:cNvSpPr/>
          <p:nvPr/>
        </p:nvSpPr>
        <p:spPr>
          <a:xfrm>
            <a:off x="457200" y="2487168"/>
            <a:ext cx="3931920" cy="228600"/>
          </a:xfrm>
          <a:prstGeom prst="rect">
            <a:avLst/>
          </a:prstGeom>
          <a:noFill/>
          <a:ln/>
        </p:spPr>
        <p:txBody>
          <a:bodyPr wrap="square" rtlCol="0" anchor="ctr"/>
          <a:lstStyle/>
          <a:p>
            <a:pPr algn="ctr" indent="0" marL="0">
              <a:buNone/>
            </a:pPr>
            <a:r>
              <a:rPr lang="en-US" sz="1000" dirty="0">
                <a:solidFill>
                  <a:srgbClr val="64748B"/>
                </a:solidFill>
              </a:rPr>
              <a:t>R² = 0.817</a:t>
            </a:r>
            <a:endParaRPr lang="en-US" sz="1000" dirty="0"/>
          </a:p>
        </p:txBody>
      </p:sp>
      <p:sp>
        <p:nvSpPr>
          <p:cNvPr id="11" name="Text 9"/>
          <p:cNvSpPr/>
          <p:nvPr/>
        </p:nvSpPr>
        <p:spPr>
          <a:xfrm>
            <a:off x="502920" y="2761488"/>
            <a:ext cx="3840480" cy="960120"/>
          </a:xfrm>
          <a:prstGeom prst="rect">
            <a:avLst/>
          </a:prstGeom>
          <a:noFill/>
          <a:ln/>
        </p:spPr>
        <p:txBody>
          <a:bodyPr wrap="square" rtlCol="0" anchor="ctr"/>
          <a:lstStyle/>
          <a:p>
            <a:pPr indent="0" marL="0">
              <a:buNone/>
            </a:pPr>
            <a:r>
              <a:rPr lang="en-US" sz="950" dirty="0">
                <a:solidFill>
                  <a:srgbClr val="0D1B2A"/>
                </a:solidFill>
              </a:rPr>
              <a:t>68.6% of a block group's price (beyond its own features) is explained by its neighbours' prices. This is the mathematical encoding of neighbourhood spillover effects: luxury developments pull up adjacent properties.</a:t>
            </a:r>
            <a:endParaRPr lang="en-US" sz="950" dirty="0"/>
          </a:p>
        </p:txBody>
      </p:sp>
      <p:sp>
        <p:nvSpPr>
          <p:cNvPr id="12" name="Shape 10"/>
          <p:cNvSpPr/>
          <p:nvPr/>
        </p:nvSpPr>
        <p:spPr>
          <a:xfrm>
            <a:off x="502920" y="3749040"/>
            <a:ext cx="3840480" cy="27432"/>
          </a:xfrm>
          <a:prstGeom prst="rect">
            <a:avLst/>
          </a:prstGeom>
          <a:solidFill>
            <a:srgbClr val="7B2D8B"/>
          </a:solidFill>
          <a:ln w="12700">
            <a:solidFill>
              <a:srgbClr val="7B2D8B"/>
            </a:solidFill>
            <a:prstDash val="solid"/>
          </a:ln>
        </p:spPr>
      </p:sp>
      <p:sp>
        <p:nvSpPr>
          <p:cNvPr id="13" name="Text 11"/>
          <p:cNvSpPr/>
          <p:nvPr/>
        </p:nvSpPr>
        <p:spPr>
          <a:xfrm>
            <a:off x="502920" y="3813048"/>
            <a:ext cx="3840480" cy="228600"/>
          </a:xfrm>
          <a:prstGeom prst="rect">
            <a:avLst/>
          </a:prstGeom>
          <a:noFill/>
          <a:ln/>
        </p:spPr>
        <p:txBody>
          <a:bodyPr wrap="square" rtlCol="0" anchor="ctr"/>
          <a:lstStyle/>
          <a:p>
            <a:pPr indent="0" marL="0">
              <a:buNone/>
            </a:pPr>
            <a:r>
              <a:rPr lang="en-US" sz="900" b="1" dirty="0">
                <a:solidFill>
                  <a:srgbClr val="7B2D8B"/>
                </a:solidFill>
              </a:rPr>
              <a:t>AIC: 492 vs OLS 3,477 (improvement of 2,985)</a:t>
            </a:r>
            <a:endParaRPr lang="en-US" sz="900" dirty="0"/>
          </a:p>
        </p:txBody>
      </p:sp>
      <p:sp>
        <p:nvSpPr>
          <p:cNvPr id="14" name="Text 12"/>
          <p:cNvSpPr/>
          <p:nvPr/>
        </p:nvSpPr>
        <p:spPr>
          <a:xfrm>
            <a:off x="502920" y="4069080"/>
            <a:ext cx="3840480" cy="201168"/>
          </a:xfrm>
          <a:prstGeom prst="rect">
            <a:avLst/>
          </a:prstGeom>
          <a:noFill/>
          <a:ln/>
        </p:spPr>
        <p:txBody>
          <a:bodyPr wrap="square" rtlCol="0" anchor="ctr"/>
          <a:lstStyle/>
          <a:p>
            <a:pPr indent="0" marL="0">
              <a:buNone/>
            </a:pPr>
            <a:r>
              <a:rPr lang="en-US" sz="900" i="1" dirty="0">
                <a:solidFill>
                  <a:srgbClr val="64748B"/>
                </a:solidFill>
              </a:rPr>
              <a:t>Moran's I on residuals: 0.030 (reduced from 0.439)</a:t>
            </a:r>
            <a:endParaRPr lang="en-US" sz="900" dirty="0"/>
          </a:p>
        </p:txBody>
      </p:sp>
      <p:sp>
        <p:nvSpPr>
          <p:cNvPr id="15" name="Text 13"/>
          <p:cNvSpPr/>
          <p:nvPr/>
        </p:nvSpPr>
        <p:spPr>
          <a:xfrm>
            <a:off x="502920" y="4315968"/>
            <a:ext cx="3840480" cy="228600"/>
          </a:xfrm>
          <a:prstGeom prst="rect">
            <a:avLst/>
          </a:prstGeom>
          <a:noFill/>
          <a:ln/>
        </p:spPr>
        <p:txBody>
          <a:bodyPr wrap="square" rtlCol="0" anchor="ctr"/>
          <a:lstStyle/>
          <a:p>
            <a:pPr indent="0" marL="0">
              <a:buNone/>
            </a:pPr>
            <a:r>
              <a:rPr lang="en-US" sz="850" i="1" dirty="0">
                <a:solidFill>
                  <a:srgbClr val="64748B"/>
                </a:solidFill>
              </a:rPr>
              <a:t>Use when: spatial dependence is substantive and neighbours' outcomes genuinely influence yours.</a:t>
            </a:r>
            <a:endParaRPr lang="en-US" sz="850" dirty="0"/>
          </a:p>
        </p:txBody>
      </p:sp>
      <p:sp>
        <p:nvSpPr>
          <p:cNvPr id="16" name="Shape 14"/>
          <p:cNvSpPr/>
          <p:nvPr/>
        </p:nvSpPr>
        <p:spPr>
          <a:xfrm>
            <a:off x="4800600" y="1353312"/>
            <a:ext cx="4114800" cy="3767328"/>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4800600" y="1353312"/>
            <a:ext cx="4114800" cy="457200"/>
          </a:xfrm>
          <a:prstGeom prst="rect">
            <a:avLst/>
          </a:prstGeom>
          <a:solidFill>
            <a:srgbClr val="993300"/>
          </a:solidFill>
          <a:ln w="12700">
            <a:solidFill>
              <a:srgbClr val="993300"/>
            </a:solidFill>
            <a:prstDash val="solid"/>
          </a:ln>
        </p:spPr>
      </p:sp>
      <p:sp>
        <p:nvSpPr>
          <p:cNvPr id="18" name="Text 16"/>
          <p:cNvSpPr/>
          <p:nvPr/>
        </p:nvSpPr>
        <p:spPr>
          <a:xfrm>
            <a:off x="4800600" y="1353312"/>
            <a:ext cx="4114800" cy="457200"/>
          </a:xfrm>
          <a:prstGeom prst="rect">
            <a:avLst/>
          </a:prstGeom>
          <a:noFill/>
          <a:ln/>
        </p:spPr>
        <p:txBody>
          <a:bodyPr wrap="square" lIns="0" tIns="0" rIns="0" bIns="0" rtlCol="0" anchor="ctr"/>
          <a:lstStyle/>
          <a:p>
            <a:pPr algn="ctr" indent="0" marL="0">
              <a:buNone/>
            </a:pPr>
            <a:r>
              <a:rPr lang="en-US" sz="1200" b="1" dirty="0">
                <a:solidFill>
                  <a:srgbClr val="FFFFFF"/>
                </a:solidFill>
              </a:rPr>
              <a:t>Spatial Error Model (SEM)</a:t>
            </a:r>
            <a:endParaRPr lang="en-US" sz="1200" dirty="0"/>
          </a:p>
        </p:txBody>
      </p:sp>
      <p:sp>
        <p:nvSpPr>
          <p:cNvPr id="19" name="Text 17"/>
          <p:cNvSpPr/>
          <p:nvPr/>
        </p:nvSpPr>
        <p:spPr>
          <a:xfrm>
            <a:off x="4892040" y="1874520"/>
            <a:ext cx="3931920" cy="274320"/>
          </a:xfrm>
          <a:prstGeom prst="rect">
            <a:avLst/>
          </a:prstGeom>
          <a:noFill/>
          <a:ln/>
        </p:spPr>
        <p:txBody>
          <a:bodyPr wrap="square" rtlCol="0" anchor="ctr"/>
          <a:lstStyle/>
          <a:p>
            <a:pPr algn="ctr" indent="0" marL="0">
              <a:buNone/>
            </a:pPr>
            <a:r>
              <a:rPr lang="en-US" sz="1250" dirty="0">
                <a:solidFill>
                  <a:srgbClr val="993300"/>
                </a:solidFill>
                <a:latin typeface="Consolas" pitchFamily="34" charset="0"/>
                <a:ea typeface="Consolas" pitchFamily="34" charset="-122"/>
                <a:cs typeface="Consolas" pitchFamily="34" charset="-120"/>
              </a:rPr>
              <a:t>y = X*beta + u,   u = lambda*Wu + epsilon</a:t>
            </a:r>
            <a:endParaRPr lang="en-US" sz="1250" dirty="0"/>
          </a:p>
        </p:txBody>
      </p:sp>
      <p:sp>
        <p:nvSpPr>
          <p:cNvPr id="20" name="Text 18"/>
          <p:cNvSpPr/>
          <p:nvPr/>
        </p:nvSpPr>
        <p:spPr>
          <a:xfrm>
            <a:off x="4892040" y="2212848"/>
            <a:ext cx="3931920" cy="256032"/>
          </a:xfrm>
          <a:prstGeom prst="rect">
            <a:avLst/>
          </a:prstGeom>
          <a:noFill/>
          <a:ln/>
        </p:spPr>
        <p:txBody>
          <a:bodyPr wrap="square" rtlCol="0" anchor="ctr"/>
          <a:lstStyle/>
          <a:p>
            <a:pPr algn="ctr" indent="0" marL="0">
              <a:buNone/>
            </a:pPr>
            <a:r>
              <a:rPr lang="en-US" sz="1050" b="1" dirty="0">
                <a:solidFill>
                  <a:srgbClr val="993300"/>
                </a:solidFill>
              </a:rPr>
              <a:t>lambda = 0.8236  ***</a:t>
            </a:r>
            <a:endParaRPr lang="en-US" sz="1050" dirty="0"/>
          </a:p>
        </p:txBody>
      </p:sp>
      <p:sp>
        <p:nvSpPr>
          <p:cNvPr id="21" name="Text 19"/>
          <p:cNvSpPr/>
          <p:nvPr/>
        </p:nvSpPr>
        <p:spPr>
          <a:xfrm>
            <a:off x="4892040" y="2487168"/>
            <a:ext cx="3931920" cy="228600"/>
          </a:xfrm>
          <a:prstGeom prst="rect">
            <a:avLst/>
          </a:prstGeom>
          <a:noFill/>
          <a:ln/>
        </p:spPr>
        <p:txBody>
          <a:bodyPr wrap="square" rtlCol="0" anchor="ctr"/>
          <a:lstStyle/>
          <a:p>
            <a:pPr algn="ctr" indent="0" marL="0">
              <a:buNone/>
            </a:pPr>
            <a:r>
              <a:rPr lang="en-US" sz="1000" dirty="0">
                <a:solidFill>
                  <a:srgbClr val="64748B"/>
                </a:solidFill>
              </a:rPr>
              <a:t>R² = 0.577</a:t>
            </a:r>
            <a:endParaRPr lang="en-US" sz="1000" dirty="0"/>
          </a:p>
        </p:txBody>
      </p:sp>
      <p:sp>
        <p:nvSpPr>
          <p:cNvPr id="22" name="Text 20"/>
          <p:cNvSpPr/>
          <p:nvPr/>
        </p:nvSpPr>
        <p:spPr>
          <a:xfrm>
            <a:off x="4937760" y="2761488"/>
            <a:ext cx="3840480" cy="960120"/>
          </a:xfrm>
          <a:prstGeom prst="rect">
            <a:avLst/>
          </a:prstGeom>
          <a:noFill/>
          <a:ln/>
        </p:spPr>
        <p:txBody>
          <a:bodyPr wrap="square" rtlCol="0" anchor="ctr"/>
          <a:lstStyle/>
          <a:p>
            <a:pPr indent="0" marL="0">
              <a:buNone/>
            </a:pPr>
            <a:r>
              <a:rPr lang="en-US" sz="950" dirty="0">
                <a:solidFill>
                  <a:srgbClr val="0D1B2A"/>
                </a:solidFill>
              </a:rPr>
              <a:t>82% of the residual error is spatially structured. Interpretation: omitted variables (school quality, crime index, zoning, microclimate) cluster geographically and drive this pattern. Lambda absorbs that clustering.</a:t>
            </a:r>
            <a:endParaRPr lang="en-US" sz="950" dirty="0"/>
          </a:p>
        </p:txBody>
      </p:sp>
      <p:sp>
        <p:nvSpPr>
          <p:cNvPr id="23" name="Shape 21"/>
          <p:cNvSpPr/>
          <p:nvPr/>
        </p:nvSpPr>
        <p:spPr>
          <a:xfrm>
            <a:off x="4937760" y="3749040"/>
            <a:ext cx="3840480" cy="27432"/>
          </a:xfrm>
          <a:prstGeom prst="rect">
            <a:avLst/>
          </a:prstGeom>
          <a:solidFill>
            <a:srgbClr val="993300"/>
          </a:solidFill>
          <a:ln w="12700">
            <a:solidFill>
              <a:srgbClr val="993300"/>
            </a:solidFill>
            <a:prstDash val="solid"/>
          </a:ln>
        </p:spPr>
      </p:sp>
      <p:sp>
        <p:nvSpPr>
          <p:cNvPr id="24" name="Text 22"/>
          <p:cNvSpPr/>
          <p:nvPr/>
        </p:nvSpPr>
        <p:spPr>
          <a:xfrm>
            <a:off x="4937760" y="3813048"/>
            <a:ext cx="3840480" cy="228600"/>
          </a:xfrm>
          <a:prstGeom prst="rect">
            <a:avLst/>
          </a:prstGeom>
          <a:noFill/>
          <a:ln/>
        </p:spPr>
        <p:txBody>
          <a:bodyPr wrap="square" rtlCol="0" anchor="ctr"/>
          <a:lstStyle/>
          <a:p>
            <a:pPr indent="0" marL="0">
              <a:buNone/>
            </a:pPr>
            <a:r>
              <a:rPr lang="en-US" sz="900" b="1" dirty="0">
                <a:solidFill>
                  <a:srgbClr val="993300"/>
                </a:solidFill>
              </a:rPr>
              <a:t>AIC: 407 vs OLS 3,477 (further improvement)</a:t>
            </a:r>
            <a:endParaRPr lang="en-US" sz="900" dirty="0"/>
          </a:p>
        </p:txBody>
      </p:sp>
      <p:sp>
        <p:nvSpPr>
          <p:cNvPr id="25" name="Text 23"/>
          <p:cNvSpPr/>
          <p:nvPr/>
        </p:nvSpPr>
        <p:spPr>
          <a:xfrm>
            <a:off x="4937760" y="4069080"/>
            <a:ext cx="3840480" cy="201168"/>
          </a:xfrm>
          <a:prstGeom prst="rect">
            <a:avLst/>
          </a:prstGeom>
          <a:noFill/>
          <a:ln/>
        </p:spPr>
        <p:txBody>
          <a:bodyPr wrap="square" rtlCol="0" anchor="ctr"/>
          <a:lstStyle/>
          <a:p>
            <a:pPr indent="0" marL="0">
              <a:buNone/>
            </a:pPr>
            <a:r>
              <a:rPr lang="en-US" sz="900" i="1" dirty="0">
                <a:solidFill>
                  <a:srgbClr val="64748B"/>
                </a:solidFill>
              </a:rPr>
              <a:t>Moran's I on residuals: 0.651 (less effective for this dataset)</a:t>
            </a:r>
            <a:endParaRPr lang="en-US" sz="900" dirty="0"/>
          </a:p>
        </p:txBody>
      </p:sp>
      <p:sp>
        <p:nvSpPr>
          <p:cNvPr id="26" name="Text 24"/>
          <p:cNvSpPr/>
          <p:nvPr/>
        </p:nvSpPr>
        <p:spPr>
          <a:xfrm>
            <a:off x="4937760" y="4315968"/>
            <a:ext cx="3840480" cy="228600"/>
          </a:xfrm>
          <a:prstGeom prst="rect">
            <a:avLst/>
          </a:prstGeom>
          <a:noFill/>
          <a:ln/>
        </p:spPr>
        <p:txBody>
          <a:bodyPr wrap="square" rtlCol="0" anchor="ctr"/>
          <a:lstStyle/>
          <a:p>
            <a:pPr indent="0" marL="0">
              <a:buNone/>
            </a:pPr>
            <a:r>
              <a:rPr lang="en-US" sz="850" i="1" dirty="0">
                <a:solidFill>
                  <a:srgbClr val="64748B"/>
                </a:solidFill>
              </a:rPr>
              <a:t>Use when: spatial dependence reflects omitted variables, not true spillovers.</a:t>
            </a:r>
            <a:endParaRPr lang="en-US" sz="850" dirty="0"/>
          </a:p>
        </p:txBody>
      </p:sp>
      <p:sp>
        <p:nvSpPr>
          <p:cNvPr id="27" name="Text 25"/>
          <p:cNvSpPr/>
          <p:nvPr/>
        </p:nvSpPr>
        <p:spPr>
          <a:xfrm>
            <a:off x="365760" y="5184648"/>
            <a:ext cx="8412480" cy="201168"/>
          </a:xfrm>
          <a:prstGeom prst="rect">
            <a:avLst/>
          </a:prstGeom>
          <a:noFill/>
          <a:ln/>
        </p:spPr>
        <p:txBody>
          <a:bodyPr wrap="square" rtlCol="0" anchor="ctr"/>
          <a:lstStyle/>
          <a:p>
            <a:pPr algn="ctr" indent="0" marL="0">
              <a:buNone/>
            </a:pPr>
            <a:r>
              <a:rPr lang="en-US" sz="900" i="1" dirty="0">
                <a:solidFill>
                  <a:srgbClr val="64748B"/>
                </a:solidFill>
              </a:rPr>
              <a:t>Verdict: SLM clearly outperforms SEM for this dataset (lower Moran's I on residuals, higher R²). Neighbourhood spillovers are a substantive process here, not merely an omitted-variable artefact.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GWR</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Geographically Weighted Regression (GWR)</a:t>
            </a:r>
            <a:endParaRPr lang="en-US" sz="2400" dirty="0"/>
          </a:p>
        </p:txBody>
      </p:sp>
      <p:sp>
        <p:nvSpPr>
          <p:cNvPr id="5" name="Text 3"/>
          <p:cNvSpPr/>
          <p:nvPr/>
        </p:nvSpPr>
        <p:spPr>
          <a:xfrm>
            <a:off x="365760" y="1024128"/>
            <a:ext cx="8412480" cy="246888"/>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Global R² = 0.888 on subsample  ·  Bandwidth: 57 neighbours  ·  AICc = -15.83  ·  n = 1,500  ·  Coefficients vary continuously in space</a:t>
            </a:r>
            <a:endParaRPr lang="en-US" sz="1050" dirty="0"/>
          </a:p>
        </p:txBody>
      </p:sp>
      <p:sp>
        <p:nvSpPr>
          <p:cNvPr id="6" name="Shape 4"/>
          <p:cNvSpPr/>
          <p:nvPr/>
        </p:nvSpPr>
        <p:spPr>
          <a:xfrm>
            <a:off x="365760" y="1353312"/>
            <a:ext cx="4023360" cy="35204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65760" y="1353312"/>
            <a:ext cx="4023360" cy="73152"/>
          </a:xfrm>
          <a:prstGeom prst="rect">
            <a:avLst/>
          </a:prstGeom>
          <a:solidFill>
            <a:srgbClr val="1B7A8A"/>
          </a:solidFill>
          <a:ln w="12700">
            <a:solidFill>
              <a:srgbClr val="1B7A8A"/>
            </a:solidFill>
            <a:prstDash val="solid"/>
          </a:ln>
        </p:spPr>
      </p:sp>
      <p:sp>
        <p:nvSpPr>
          <p:cNvPr id="8" name="Text 6"/>
          <p:cNvSpPr/>
          <p:nvPr/>
        </p:nvSpPr>
        <p:spPr>
          <a:xfrm>
            <a:off x="365760" y="1463040"/>
            <a:ext cx="4023360" cy="274320"/>
          </a:xfrm>
          <a:prstGeom prst="rect">
            <a:avLst/>
          </a:prstGeom>
          <a:noFill/>
          <a:ln/>
        </p:spPr>
        <p:txBody>
          <a:bodyPr wrap="square" rtlCol="0" anchor="ctr"/>
          <a:lstStyle/>
          <a:p>
            <a:pPr algn="ctr" indent="0" marL="0">
              <a:buNone/>
            </a:pPr>
            <a:r>
              <a:rPr lang="en-US" sz="1150" b="1" dirty="0">
                <a:solidFill>
                  <a:srgbClr val="0D1B2A"/>
                </a:solidFill>
              </a:rPr>
              <a:t>How GWR Works</a:t>
            </a:r>
            <a:endParaRPr lang="en-US" sz="1150" dirty="0"/>
          </a:p>
        </p:txBody>
      </p:sp>
      <p:sp>
        <p:nvSpPr>
          <p:cNvPr id="9" name="Text 7"/>
          <p:cNvSpPr/>
          <p:nvPr/>
        </p:nvSpPr>
        <p:spPr>
          <a:xfrm>
            <a:off x="502920" y="1828800"/>
            <a:ext cx="3749040" cy="320040"/>
          </a:xfrm>
          <a:prstGeom prst="rect">
            <a:avLst/>
          </a:prstGeom>
          <a:noFill/>
          <a:ln/>
        </p:spPr>
        <p:txBody>
          <a:bodyPr wrap="square" rtlCol="0" anchor="ctr"/>
          <a:lstStyle/>
          <a:p>
            <a:pPr algn="ctr" indent="0" marL="0">
              <a:buNone/>
            </a:pPr>
            <a:r>
              <a:rPr lang="en-US" sz="1100" dirty="0">
                <a:solidFill>
                  <a:srgbClr val="1B7A8A"/>
                </a:solidFill>
                <a:latin typeface="Consolas" pitchFamily="34" charset="0"/>
                <a:ea typeface="Consolas" pitchFamily="34" charset="-122"/>
                <a:cs typeface="Consolas" pitchFamily="34" charset="-120"/>
              </a:rPr>
              <a:t>yi = beta0(ui,vi) + sum_k betak(ui,vi) xik + ei</a:t>
            </a:r>
            <a:endParaRPr lang="en-US" sz="1100" dirty="0"/>
          </a:p>
        </p:txBody>
      </p:sp>
      <p:sp>
        <p:nvSpPr>
          <p:cNvPr id="10" name="Shape 8"/>
          <p:cNvSpPr/>
          <p:nvPr/>
        </p:nvSpPr>
        <p:spPr>
          <a:xfrm>
            <a:off x="502920" y="2331720"/>
            <a:ext cx="54864" cy="411480"/>
          </a:xfrm>
          <a:prstGeom prst="rect">
            <a:avLst/>
          </a:prstGeom>
          <a:solidFill>
            <a:srgbClr val="1B7A8A"/>
          </a:solidFill>
          <a:ln w="12700">
            <a:solidFill>
              <a:srgbClr val="1B7A8A"/>
            </a:solidFill>
            <a:prstDash val="solid"/>
          </a:ln>
        </p:spPr>
      </p:sp>
      <p:sp>
        <p:nvSpPr>
          <p:cNvPr id="11" name="Text 9"/>
          <p:cNvSpPr/>
          <p:nvPr/>
        </p:nvSpPr>
        <p:spPr>
          <a:xfrm>
            <a:off x="658368" y="2331720"/>
            <a:ext cx="3566160" cy="228600"/>
          </a:xfrm>
          <a:prstGeom prst="rect">
            <a:avLst/>
          </a:prstGeom>
          <a:noFill/>
          <a:ln/>
        </p:spPr>
        <p:txBody>
          <a:bodyPr wrap="square" rtlCol="0" anchor="ctr"/>
          <a:lstStyle/>
          <a:p>
            <a:pPr indent="0" marL="0">
              <a:buNone/>
            </a:pPr>
            <a:r>
              <a:rPr lang="en-US" sz="1050" b="1" dirty="0">
                <a:solidFill>
                  <a:srgbClr val="0D1B2A"/>
                </a:solidFill>
              </a:rPr>
              <a:t>Local regression</a:t>
            </a:r>
            <a:endParaRPr lang="en-US" sz="1050" dirty="0"/>
          </a:p>
        </p:txBody>
      </p:sp>
      <p:sp>
        <p:nvSpPr>
          <p:cNvPr id="12" name="Text 10"/>
          <p:cNvSpPr/>
          <p:nvPr/>
        </p:nvSpPr>
        <p:spPr>
          <a:xfrm>
            <a:off x="658368" y="2560320"/>
            <a:ext cx="3566160" cy="256032"/>
          </a:xfrm>
          <a:prstGeom prst="rect">
            <a:avLst/>
          </a:prstGeom>
          <a:noFill/>
          <a:ln/>
        </p:spPr>
        <p:txBody>
          <a:bodyPr wrap="square" rtlCol="0" anchor="ctr"/>
          <a:lstStyle/>
          <a:p>
            <a:pPr indent="0" marL="0">
              <a:buNone/>
            </a:pPr>
            <a:r>
              <a:rPr lang="en-US" sz="950" dirty="0">
                <a:solidFill>
                  <a:srgbClr val="64748B"/>
                </a:solidFill>
              </a:rPr>
              <a:t>A separate regression at each location, weighting nearby observations via an adaptive bisquare kernel.</a:t>
            </a:r>
            <a:endParaRPr lang="en-US" sz="950" dirty="0"/>
          </a:p>
        </p:txBody>
      </p:sp>
      <p:sp>
        <p:nvSpPr>
          <p:cNvPr id="13" name="Shape 11"/>
          <p:cNvSpPr/>
          <p:nvPr/>
        </p:nvSpPr>
        <p:spPr>
          <a:xfrm>
            <a:off x="502920" y="2971800"/>
            <a:ext cx="54864" cy="411480"/>
          </a:xfrm>
          <a:prstGeom prst="rect">
            <a:avLst/>
          </a:prstGeom>
          <a:solidFill>
            <a:srgbClr val="1B7A8A"/>
          </a:solidFill>
          <a:ln w="12700">
            <a:solidFill>
              <a:srgbClr val="1B7A8A"/>
            </a:solidFill>
            <a:prstDash val="solid"/>
          </a:ln>
        </p:spPr>
      </p:sp>
      <p:sp>
        <p:nvSpPr>
          <p:cNvPr id="14" name="Text 12"/>
          <p:cNvSpPr/>
          <p:nvPr/>
        </p:nvSpPr>
        <p:spPr>
          <a:xfrm>
            <a:off x="658368" y="2971800"/>
            <a:ext cx="3566160" cy="228600"/>
          </a:xfrm>
          <a:prstGeom prst="rect">
            <a:avLst/>
          </a:prstGeom>
          <a:noFill/>
          <a:ln/>
        </p:spPr>
        <p:txBody>
          <a:bodyPr wrap="square" rtlCol="0" anchor="ctr"/>
          <a:lstStyle/>
          <a:p>
            <a:pPr indent="0" marL="0">
              <a:buNone/>
            </a:pPr>
            <a:r>
              <a:rPr lang="en-US" sz="1050" b="1" dirty="0">
                <a:solidFill>
                  <a:srgbClr val="0D1B2A"/>
                </a:solidFill>
              </a:rPr>
              <a:t>Bandwidth = 57 nn</a:t>
            </a:r>
            <a:endParaRPr lang="en-US" sz="1050" dirty="0"/>
          </a:p>
        </p:txBody>
      </p:sp>
      <p:sp>
        <p:nvSpPr>
          <p:cNvPr id="15" name="Text 13"/>
          <p:cNvSpPr/>
          <p:nvPr/>
        </p:nvSpPr>
        <p:spPr>
          <a:xfrm>
            <a:off x="658368" y="3200400"/>
            <a:ext cx="3566160" cy="256032"/>
          </a:xfrm>
          <a:prstGeom prst="rect">
            <a:avLst/>
          </a:prstGeom>
          <a:noFill/>
          <a:ln/>
        </p:spPr>
        <p:txBody>
          <a:bodyPr wrap="square" rtlCol="0" anchor="ctr"/>
          <a:lstStyle/>
          <a:p>
            <a:pPr indent="0" marL="0">
              <a:buNone/>
            </a:pPr>
            <a:r>
              <a:rPr lang="en-US" sz="950" dirty="0">
                <a:solidFill>
                  <a:srgbClr val="64748B"/>
                </a:solidFill>
              </a:rPr>
              <a:t>Each local model uses its 57 nearest neighbours. Smaller bandwidth = more local variation allowed.</a:t>
            </a:r>
            <a:endParaRPr lang="en-US" sz="950" dirty="0"/>
          </a:p>
        </p:txBody>
      </p:sp>
      <p:sp>
        <p:nvSpPr>
          <p:cNvPr id="16" name="Shape 14"/>
          <p:cNvSpPr/>
          <p:nvPr/>
        </p:nvSpPr>
        <p:spPr>
          <a:xfrm>
            <a:off x="502920" y="3611880"/>
            <a:ext cx="54864" cy="411480"/>
          </a:xfrm>
          <a:prstGeom prst="rect">
            <a:avLst/>
          </a:prstGeom>
          <a:solidFill>
            <a:srgbClr val="1B7A8A"/>
          </a:solidFill>
          <a:ln w="12700">
            <a:solidFill>
              <a:srgbClr val="1B7A8A"/>
            </a:solidFill>
            <a:prstDash val="solid"/>
          </a:ln>
        </p:spPr>
      </p:sp>
      <p:sp>
        <p:nvSpPr>
          <p:cNvPr id="17" name="Text 15"/>
          <p:cNvSpPr/>
          <p:nvPr/>
        </p:nvSpPr>
        <p:spPr>
          <a:xfrm>
            <a:off x="658368" y="3611880"/>
            <a:ext cx="3566160" cy="228600"/>
          </a:xfrm>
          <a:prstGeom prst="rect">
            <a:avLst/>
          </a:prstGeom>
          <a:noFill/>
          <a:ln/>
        </p:spPr>
        <p:txBody>
          <a:bodyPr wrap="square" rtlCol="0" anchor="ctr"/>
          <a:lstStyle/>
          <a:p>
            <a:pPr indent="0" marL="0">
              <a:buNone/>
            </a:pPr>
            <a:r>
              <a:rPr lang="en-US" sz="1050" b="1" dirty="0">
                <a:solidFill>
                  <a:srgbClr val="0D1B2A"/>
                </a:solidFill>
              </a:rPr>
              <a:t>Local income coeff</a:t>
            </a:r>
            <a:endParaRPr lang="en-US" sz="1050" dirty="0"/>
          </a:p>
        </p:txBody>
      </p:sp>
      <p:sp>
        <p:nvSpPr>
          <p:cNvPr id="18" name="Text 16"/>
          <p:cNvSpPr/>
          <p:nvPr/>
        </p:nvSpPr>
        <p:spPr>
          <a:xfrm>
            <a:off x="658368" y="3840480"/>
            <a:ext cx="3566160" cy="256032"/>
          </a:xfrm>
          <a:prstGeom prst="rect">
            <a:avLst/>
          </a:prstGeom>
          <a:noFill/>
          <a:ln/>
        </p:spPr>
        <p:txBody>
          <a:bodyPr wrap="square" rtlCol="0" anchor="ctr"/>
          <a:lstStyle/>
          <a:p>
            <a:pPr indent="0" marL="0">
              <a:buNone/>
            </a:pPr>
            <a:r>
              <a:rPr lang="en-US" sz="950" dirty="0">
                <a:solidFill>
                  <a:srgbClr val="64748B"/>
                </a:solidFill>
              </a:rPr>
              <a:t>Mean beta(income) = 0.243, range [-0.228, 0.763]. The income effect is not global; Bay Area is at the high end.</a:t>
            </a:r>
            <a:endParaRPr lang="en-US" sz="950" dirty="0"/>
          </a:p>
        </p:txBody>
      </p:sp>
      <p:sp>
        <p:nvSpPr>
          <p:cNvPr id="19" name="Shape 17"/>
          <p:cNvSpPr/>
          <p:nvPr/>
        </p:nvSpPr>
        <p:spPr>
          <a:xfrm>
            <a:off x="502920" y="4251960"/>
            <a:ext cx="54864" cy="411480"/>
          </a:xfrm>
          <a:prstGeom prst="rect">
            <a:avLst/>
          </a:prstGeom>
          <a:solidFill>
            <a:srgbClr val="1B7A8A"/>
          </a:solidFill>
          <a:ln w="12700">
            <a:solidFill>
              <a:srgbClr val="1B7A8A"/>
            </a:solidFill>
            <a:prstDash val="solid"/>
          </a:ln>
        </p:spPr>
      </p:sp>
      <p:sp>
        <p:nvSpPr>
          <p:cNvPr id="20" name="Text 18"/>
          <p:cNvSpPr/>
          <p:nvPr/>
        </p:nvSpPr>
        <p:spPr>
          <a:xfrm>
            <a:off x="658368" y="4251960"/>
            <a:ext cx="3566160" cy="228600"/>
          </a:xfrm>
          <a:prstGeom prst="rect">
            <a:avLst/>
          </a:prstGeom>
          <a:noFill/>
          <a:ln/>
        </p:spPr>
        <p:txBody>
          <a:bodyPr wrap="square" rtlCol="0" anchor="ctr"/>
          <a:lstStyle/>
          <a:p>
            <a:pPr indent="0" marL="0">
              <a:buNone/>
            </a:pPr>
            <a:r>
              <a:rPr lang="en-US" sz="1050" b="1" dirty="0">
                <a:solidFill>
                  <a:srgbClr val="0D1B2A"/>
                </a:solidFill>
              </a:rPr>
              <a:t>Local R² range</a:t>
            </a:r>
            <a:endParaRPr lang="en-US" sz="1050" dirty="0"/>
          </a:p>
        </p:txBody>
      </p:sp>
      <p:sp>
        <p:nvSpPr>
          <p:cNvPr id="21" name="Text 19"/>
          <p:cNvSpPr/>
          <p:nvPr/>
        </p:nvSpPr>
        <p:spPr>
          <a:xfrm>
            <a:off x="658368" y="4480560"/>
            <a:ext cx="3566160" cy="256032"/>
          </a:xfrm>
          <a:prstGeom prst="rect">
            <a:avLst/>
          </a:prstGeom>
          <a:noFill/>
          <a:ln/>
        </p:spPr>
        <p:txBody>
          <a:bodyPr wrap="square" rtlCol="0" anchor="ctr"/>
          <a:lstStyle/>
          <a:p>
            <a:pPr indent="0" marL="0">
              <a:buNone/>
            </a:pPr>
            <a:r>
              <a:rPr lang="en-US" sz="950" dirty="0">
                <a:solidFill>
                  <a:srgbClr val="64748B"/>
                </a:solidFill>
              </a:rPr>
              <a:t>Some regions fit well (coastal), others fit poorly (inland), revealing where omitted variables matter most.</a:t>
            </a:r>
            <a:endParaRPr lang="en-US" sz="950" dirty="0"/>
          </a:p>
        </p:txBody>
      </p:sp>
      <p:sp>
        <p:nvSpPr>
          <p:cNvPr id="22" name="Shape 20"/>
          <p:cNvSpPr/>
          <p:nvPr/>
        </p:nvSpPr>
        <p:spPr>
          <a:xfrm>
            <a:off x="4572000" y="1353312"/>
            <a:ext cx="4206240" cy="35204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4572000" y="1353312"/>
            <a:ext cx="4206240" cy="73152"/>
          </a:xfrm>
          <a:prstGeom prst="rect">
            <a:avLst/>
          </a:prstGeom>
          <a:solidFill>
            <a:srgbClr val="1B7A8A"/>
          </a:solidFill>
          <a:ln w="12700">
            <a:solidFill>
              <a:srgbClr val="1B7A8A"/>
            </a:solidFill>
            <a:prstDash val="solid"/>
          </a:ln>
        </p:spPr>
      </p:sp>
      <p:sp>
        <p:nvSpPr>
          <p:cNvPr id="24" name="Text 22"/>
          <p:cNvSpPr/>
          <p:nvPr/>
        </p:nvSpPr>
        <p:spPr>
          <a:xfrm>
            <a:off x="4572000" y="1463040"/>
            <a:ext cx="4206240" cy="274320"/>
          </a:xfrm>
          <a:prstGeom prst="rect">
            <a:avLst/>
          </a:prstGeom>
          <a:noFill/>
          <a:ln/>
        </p:spPr>
        <p:txBody>
          <a:bodyPr wrap="square" rtlCol="0" anchor="ctr"/>
          <a:lstStyle/>
          <a:p>
            <a:pPr algn="ctr" indent="0" marL="0">
              <a:buNone/>
            </a:pPr>
            <a:r>
              <a:rPr lang="en-US" sz="1150" b="1" dirty="0">
                <a:solidFill>
                  <a:srgbClr val="0D1B2A"/>
                </a:solidFill>
              </a:rPr>
              <a:t>Local Coefficient Summary</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663440" y="1828800"/>
          <a:ext cx="4023360" cy="1554480"/>
        </p:xfrm>
        <a:graphic>
          <a:graphicData uri="http://schemas.openxmlformats.org/drawingml/2006/table">
            <a:tbl>
              <a:tblPr/>
              <a:tblGrid>
                <a:gridCol w="1920240"/>
                <a:gridCol w="1051560"/>
                <a:gridCol w="1051560"/>
              </a:tblGrid>
              <a:tr h="30175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Feature</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Mean beta</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Range</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median_income</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7A8A"/>
                          </a:solidFill>
                          <a:latin typeface="Calibri" pitchFamily="34" charset="0"/>
                          <a:ea typeface="Calibri" pitchFamily="34" charset="-122"/>
                          <a:cs typeface="Calibri" pitchFamily="34" charset="-120"/>
                        </a:rPr>
                        <a:t>0.243</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[-0.23, 0.76]</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housing_age</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0.001</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[-0.35, 0.30]</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rooms_per_hh</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0.052</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[-0.64, 0.74]</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0D1B2A"/>
                          </a:solidFill>
                          <a:latin typeface="Calibri" pitchFamily="34" charset="0"/>
                          <a:ea typeface="Calibri" pitchFamily="34" charset="-122"/>
                          <a:cs typeface="Calibri" pitchFamily="34" charset="-120"/>
                        </a:rPr>
                        <a:t>pop_per_hh</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D7191C"/>
                          </a:solidFill>
                          <a:latin typeface="Calibri" pitchFamily="34" charset="0"/>
                          <a:ea typeface="Calibri" pitchFamily="34" charset="-122"/>
                          <a:cs typeface="Calibri" pitchFamily="34" charset="-120"/>
                        </a:rPr>
                        <a:t>-0.120</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2A"/>
                          </a:solidFill>
                          <a:latin typeface="Calibri" pitchFamily="34" charset="0"/>
                          <a:ea typeface="Calibri" pitchFamily="34" charset="-122"/>
                          <a:cs typeface="Calibri" pitchFamily="34" charset="-120"/>
                        </a:rPr>
                        <a:t>[-0.37, 0.24]</a:t>
                      </a:r>
                      <a:endParaRPr lang="en-US" sz="100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bl>
          </a:graphicData>
        </a:graphic>
      </p:graphicFrame>
      <p:sp>
        <p:nvSpPr>
          <p:cNvPr id="26" name="Text 23"/>
          <p:cNvSpPr/>
          <p:nvPr/>
        </p:nvSpPr>
        <p:spPr>
          <a:xfrm>
            <a:off x="4663440" y="3456432"/>
            <a:ext cx="4023360" cy="1298448"/>
          </a:xfrm>
          <a:prstGeom prst="rect">
            <a:avLst/>
          </a:prstGeom>
          <a:noFill/>
          <a:ln/>
        </p:spPr>
        <p:txBody>
          <a:bodyPr wrap="square" rtlCol="0" anchor="ctr"/>
          <a:lstStyle/>
          <a:p>
            <a:pPr indent="0" marL="0">
              <a:buNone/>
            </a:pPr>
            <a:r>
              <a:rPr lang="en-US" sz="950" dirty="0">
                <a:solidFill>
                  <a:srgbClr val="0D1B2A"/>
                </a:solidFill>
              </a:rPr>
              <a:t>Key insight: the income coefficient spans from -0.23 to +0.76 across California. A single global coefficient (OLS beta approx 0.09) is a crude average hiding enormous local heterogeneity. GWR reveals that income's power is geographically contingent: strongest in coastal high-demand zones, attenuated or reversed in parts of the Central Valley.</a:t>
            </a:r>
            <a:endParaRPr lang="en-US" sz="950" dirty="0"/>
          </a:p>
        </p:txBody>
      </p:sp>
      <p:sp>
        <p:nvSpPr>
          <p:cNvPr id="27" name="Text 24"/>
          <p:cNvSpPr/>
          <p:nvPr/>
        </p:nvSpPr>
        <p:spPr>
          <a:xfrm>
            <a:off x="365760" y="4937760"/>
            <a:ext cx="8412480" cy="201168"/>
          </a:xfrm>
          <a:prstGeom prst="rect">
            <a:avLst/>
          </a:prstGeom>
          <a:noFill/>
          <a:ln/>
        </p:spPr>
        <p:txBody>
          <a:bodyPr wrap="square" rtlCol="0" anchor="ctr"/>
          <a:lstStyle/>
          <a:p>
            <a:pPr algn="ctr" indent="0" marL="0">
              <a:buNone/>
            </a:pPr>
            <a:r>
              <a:rPr lang="en-US" sz="950" i="1" dirty="0">
                <a:solidFill>
                  <a:srgbClr val="64748B"/>
                </a:solidFill>
              </a:rPr>
              <a:t>GWR: the only model that answers not just 'does income matter?' but 'where does it matter and how much?'</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ABLATION</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What If We Remove Location Coordinates?</a:t>
            </a:r>
            <a:endParaRPr lang="en-US" sz="2400" dirty="0"/>
          </a:p>
        </p:txBody>
      </p:sp>
      <p:sp>
        <p:nvSpPr>
          <p:cNvPr id="5" name="Text 3"/>
          <p:cNvSpPr/>
          <p:nvPr/>
        </p:nvSpPr>
        <p:spPr>
          <a:xfrm>
            <a:off x="365760" y="1024128"/>
            <a:ext cx="8412480" cy="246888"/>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Controlled experiment quantifying lat/lon contribution. XGBoost loses 0.184 R², the largest absolute drop of any model.</a:t>
            </a:r>
            <a:endParaRPr lang="en-US" sz="1050" dirty="0"/>
          </a:p>
        </p:txBody>
      </p:sp>
      <p:pic>
        <p:nvPicPr>
          <p:cNvPr id="6" name="Image 0" descr="preencoded.png">    </p:cNvPr>
          <p:cNvPicPr>
            <a:picLocks noChangeAspect="1"/>
          </p:cNvPicPr>
          <p:nvPr/>
        </p:nvPicPr>
        <p:blipFill>
          <a:blip r:embed="rId1"/>
          <a:stretch>
            <a:fillRect/>
          </a:stretch>
        </p:blipFill>
        <p:spPr>
          <a:xfrm>
            <a:off x="365760" y="1353312"/>
            <a:ext cx="5852160" cy="2834640"/>
          </a:xfrm>
          <a:prstGeom prst="rect">
            <a:avLst/>
          </a:prstGeom>
        </p:spPr>
      </p:pic>
      <p:sp>
        <p:nvSpPr>
          <p:cNvPr id="7" name="Shape 4"/>
          <p:cNvSpPr/>
          <p:nvPr/>
        </p:nvSpPr>
        <p:spPr>
          <a:xfrm>
            <a:off x="6355080" y="1353312"/>
            <a:ext cx="2423160" cy="28346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8" name="Shape 5"/>
          <p:cNvSpPr/>
          <p:nvPr/>
        </p:nvSpPr>
        <p:spPr>
          <a:xfrm>
            <a:off x="6355080" y="1353312"/>
            <a:ext cx="2423160" cy="73152"/>
          </a:xfrm>
          <a:prstGeom prst="rect">
            <a:avLst/>
          </a:prstGeom>
          <a:solidFill>
            <a:srgbClr val="0D1B2A"/>
          </a:solidFill>
          <a:ln w="12700">
            <a:solidFill>
              <a:srgbClr val="0D1B2A"/>
            </a:solidFill>
            <a:prstDash val="solid"/>
          </a:ln>
        </p:spPr>
      </p:sp>
      <p:sp>
        <p:nvSpPr>
          <p:cNvPr id="9" name="Text 6"/>
          <p:cNvSpPr/>
          <p:nvPr/>
        </p:nvSpPr>
        <p:spPr>
          <a:xfrm>
            <a:off x="6355080" y="1463040"/>
            <a:ext cx="2423160" cy="274320"/>
          </a:xfrm>
          <a:prstGeom prst="rect">
            <a:avLst/>
          </a:prstGeom>
          <a:noFill/>
          <a:ln/>
        </p:spPr>
        <p:txBody>
          <a:bodyPr wrap="square" rtlCol="0" anchor="ctr"/>
          <a:lstStyle/>
          <a:p>
            <a:pPr algn="ctr" indent="0" marL="0">
              <a:buNone/>
            </a:pPr>
            <a:r>
              <a:rPr lang="en-US" sz="1100" b="1" dirty="0">
                <a:solidFill>
                  <a:srgbClr val="0D1B2A"/>
                </a:solidFill>
              </a:rPr>
              <a:t>Reading the Gap</a:t>
            </a:r>
            <a:endParaRPr lang="en-US" sz="1100" dirty="0"/>
          </a:p>
        </p:txBody>
      </p:sp>
      <p:sp>
        <p:nvSpPr>
          <p:cNvPr id="10" name="Shape 7"/>
          <p:cNvSpPr/>
          <p:nvPr/>
        </p:nvSpPr>
        <p:spPr>
          <a:xfrm>
            <a:off x="6473952" y="1901952"/>
            <a:ext cx="128016" cy="128016"/>
          </a:xfrm>
          <a:prstGeom prst="ellipse">
            <a:avLst/>
          </a:prstGeom>
          <a:solidFill>
            <a:srgbClr val="D7191C"/>
          </a:solidFill>
          <a:ln w="12700">
            <a:solidFill>
              <a:srgbClr val="D7191C"/>
            </a:solidFill>
            <a:prstDash val="solid"/>
          </a:ln>
        </p:spPr>
      </p:sp>
      <p:sp>
        <p:nvSpPr>
          <p:cNvPr id="11" name="Text 8"/>
          <p:cNvSpPr/>
          <p:nvPr/>
        </p:nvSpPr>
        <p:spPr>
          <a:xfrm>
            <a:off x="6675120" y="1865376"/>
            <a:ext cx="1920240" cy="201168"/>
          </a:xfrm>
          <a:prstGeom prst="rect">
            <a:avLst/>
          </a:prstGeom>
          <a:noFill/>
          <a:ln/>
        </p:spPr>
        <p:txBody>
          <a:bodyPr wrap="square" rtlCol="0" anchor="ctr"/>
          <a:lstStyle/>
          <a:p>
            <a:pPr indent="0" marL="0">
              <a:buNone/>
            </a:pPr>
            <a:r>
              <a:rPr lang="en-US" sz="950" b="1" dirty="0">
                <a:solidFill>
                  <a:srgbClr val="D7191C"/>
                </a:solidFill>
              </a:rPr>
              <a:t>Linear models</a:t>
            </a:r>
            <a:endParaRPr lang="en-US" sz="950" dirty="0"/>
          </a:p>
        </p:txBody>
      </p:sp>
      <p:sp>
        <p:nvSpPr>
          <p:cNvPr id="12" name="Text 9"/>
          <p:cNvSpPr/>
          <p:nvPr/>
        </p:nvSpPr>
        <p:spPr>
          <a:xfrm>
            <a:off x="6675120" y="2066544"/>
            <a:ext cx="1920240" cy="310896"/>
          </a:xfrm>
          <a:prstGeom prst="rect">
            <a:avLst/>
          </a:prstGeom>
          <a:noFill/>
          <a:ln/>
        </p:spPr>
        <p:txBody>
          <a:bodyPr wrap="square" rtlCol="0" anchor="ctr"/>
          <a:lstStyle/>
          <a:p>
            <a:pPr indent="0" marL="0">
              <a:buNone/>
            </a:pPr>
            <a:r>
              <a:rPr lang="en-US" sz="850" dirty="0">
                <a:solidFill>
                  <a:srgbClr val="64748B"/>
                </a:solidFill>
              </a:rPr>
              <a:t>Drop 0.117. Coordinates were OLS's only proxy for the coastal premium.</a:t>
            </a:r>
            <a:endParaRPr lang="en-US" sz="850" dirty="0"/>
          </a:p>
        </p:txBody>
      </p:sp>
      <p:sp>
        <p:nvSpPr>
          <p:cNvPr id="13" name="Shape 10"/>
          <p:cNvSpPr/>
          <p:nvPr/>
        </p:nvSpPr>
        <p:spPr>
          <a:xfrm>
            <a:off x="6473952" y="2496312"/>
            <a:ext cx="128016" cy="128016"/>
          </a:xfrm>
          <a:prstGeom prst="ellipse">
            <a:avLst/>
          </a:prstGeom>
          <a:solidFill>
            <a:srgbClr val="1A9641"/>
          </a:solidFill>
          <a:ln w="12700">
            <a:solidFill>
              <a:srgbClr val="1A9641"/>
            </a:solidFill>
            <a:prstDash val="solid"/>
          </a:ln>
        </p:spPr>
      </p:sp>
      <p:sp>
        <p:nvSpPr>
          <p:cNvPr id="14" name="Text 11"/>
          <p:cNvSpPr/>
          <p:nvPr/>
        </p:nvSpPr>
        <p:spPr>
          <a:xfrm>
            <a:off x="6675120" y="2459736"/>
            <a:ext cx="1920240" cy="201168"/>
          </a:xfrm>
          <a:prstGeom prst="rect">
            <a:avLst/>
          </a:prstGeom>
          <a:noFill/>
          <a:ln/>
        </p:spPr>
        <p:txBody>
          <a:bodyPr wrap="square" rtlCol="0" anchor="ctr"/>
          <a:lstStyle/>
          <a:p>
            <a:pPr indent="0" marL="0">
              <a:buNone/>
            </a:pPr>
            <a:r>
              <a:rPr lang="en-US" sz="950" b="1" dirty="0">
                <a:solidFill>
                  <a:srgbClr val="1A9641"/>
                </a:solidFill>
              </a:rPr>
              <a:t>Ensembles</a:t>
            </a:r>
            <a:endParaRPr lang="en-US" sz="950" dirty="0"/>
          </a:p>
        </p:txBody>
      </p:sp>
      <p:sp>
        <p:nvSpPr>
          <p:cNvPr id="15" name="Text 12"/>
          <p:cNvSpPr/>
          <p:nvPr/>
        </p:nvSpPr>
        <p:spPr>
          <a:xfrm>
            <a:off x="6675120" y="2660904"/>
            <a:ext cx="1920240" cy="310896"/>
          </a:xfrm>
          <a:prstGeom prst="rect">
            <a:avLst/>
          </a:prstGeom>
          <a:noFill/>
          <a:ln/>
        </p:spPr>
        <p:txBody>
          <a:bodyPr wrap="square" rtlCol="0" anchor="ctr"/>
          <a:lstStyle/>
          <a:p>
            <a:pPr indent="0" marL="0">
              <a:buNone/>
            </a:pPr>
            <a:r>
              <a:rPr lang="en-US" sz="850" dirty="0">
                <a:solidFill>
                  <a:srgbClr val="64748B"/>
                </a:solidFill>
              </a:rPr>
              <a:t>Drop 0.154 to 0.184. Partial recovery from income and density features.</a:t>
            </a:r>
            <a:endParaRPr lang="en-US" sz="850" dirty="0"/>
          </a:p>
        </p:txBody>
      </p:sp>
      <p:sp>
        <p:nvSpPr>
          <p:cNvPr id="16" name="Shape 13"/>
          <p:cNvSpPr/>
          <p:nvPr/>
        </p:nvSpPr>
        <p:spPr>
          <a:xfrm>
            <a:off x="6473952" y="3090672"/>
            <a:ext cx="128016" cy="128016"/>
          </a:xfrm>
          <a:prstGeom prst="ellipse">
            <a:avLst/>
          </a:prstGeom>
          <a:solidFill>
            <a:srgbClr val="7B2D8B"/>
          </a:solidFill>
          <a:ln w="12700">
            <a:solidFill>
              <a:srgbClr val="7B2D8B"/>
            </a:solidFill>
            <a:prstDash val="solid"/>
          </a:ln>
        </p:spPr>
      </p:sp>
      <p:sp>
        <p:nvSpPr>
          <p:cNvPr id="17" name="Text 14"/>
          <p:cNvSpPr/>
          <p:nvPr/>
        </p:nvSpPr>
        <p:spPr>
          <a:xfrm>
            <a:off x="6675120" y="3054096"/>
            <a:ext cx="1920240" cy="201168"/>
          </a:xfrm>
          <a:prstGeom prst="rect">
            <a:avLst/>
          </a:prstGeom>
          <a:noFill/>
          <a:ln/>
        </p:spPr>
        <p:txBody>
          <a:bodyPr wrap="square" rtlCol="0" anchor="ctr"/>
          <a:lstStyle/>
          <a:p>
            <a:pPr indent="0" marL="0">
              <a:buNone/>
            </a:pPr>
            <a:r>
              <a:rPr lang="en-US" sz="950" b="1" dirty="0">
                <a:solidFill>
                  <a:srgbClr val="7B2D8B"/>
                </a:solidFill>
              </a:rPr>
              <a:t>Spatial models</a:t>
            </a:r>
            <a:endParaRPr lang="en-US" sz="950" dirty="0"/>
          </a:p>
        </p:txBody>
      </p:sp>
      <p:sp>
        <p:nvSpPr>
          <p:cNvPr id="18" name="Text 15"/>
          <p:cNvSpPr/>
          <p:nvPr/>
        </p:nvSpPr>
        <p:spPr>
          <a:xfrm>
            <a:off x="6675120" y="3255264"/>
            <a:ext cx="1920240" cy="310896"/>
          </a:xfrm>
          <a:prstGeom prst="rect">
            <a:avLst/>
          </a:prstGeom>
          <a:noFill/>
          <a:ln/>
        </p:spPr>
        <p:txBody>
          <a:bodyPr wrap="square" rtlCol="0" anchor="ctr"/>
          <a:lstStyle/>
          <a:p>
            <a:pPr indent="0" marL="0">
              <a:buNone/>
            </a:pPr>
            <a:r>
              <a:rPr lang="en-US" sz="850" dirty="0">
                <a:solidFill>
                  <a:srgbClr val="64748B"/>
                </a:solidFill>
              </a:rPr>
              <a:t>Ablation irrelevant. Spatial structure lives in W, not lat/lon coordinates.</a:t>
            </a:r>
            <a:endParaRPr lang="en-US" sz="850" dirty="0"/>
          </a:p>
        </p:txBody>
      </p:sp>
      <p:sp>
        <p:nvSpPr>
          <p:cNvPr id="19" name="Shape 16"/>
          <p:cNvSpPr/>
          <p:nvPr/>
        </p:nvSpPr>
        <p:spPr>
          <a:xfrm>
            <a:off x="6473952" y="3685032"/>
            <a:ext cx="128016" cy="128016"/>
          </a:xfrm>
          <a:prstGeom prst="ellipse">
            <a:avLst/>
          </a:prstGeom>
          <a:solidFill>
            <a:srgbClr val="1B7A8A"/>
          </a:solidFill>
          <a:ln w="12700">
            <a:solidFill>
              <a:srgbClr val="1B7A8A"/>
            </a:solidFill>
            <a:prstDash val="solid"/>
          </a:ln>
        </p:spPr>
      </p:sp>
      <p:sp>
        <p:nvSpPr>
          <p:cNvPr id="20" name="Text 17"/>
          <p:cNvSpPr/>
          <p:nvPr/>
        </p:nvSpPr>
        <p:spPr>
          <a:xfrm>
            <a:off x="6675120" y="3648456"/>
            <a:ext cx="1920240" cy="201168"/>
          </a:xfrm>
          <a:prstGeom prst="rect">
            <a:avLst/>
          </a:prstGeom>
          <a:noFill/>
          <a:ln/>
        </p:spPr>
        <p:txBody>
          <a:bodyPr wrap="square" rtlCol="0" anchor="ctr"/>
          <a:lstStyle/>
          <a:p>
            <a:pPr indent="0" marL="0">
              <a:buNone/>
            </a:pPr>
            <a:r>
              <a:rPr lang="en-US" sz="950" b="1" dirty="0">
                <a:solidFill>
                  <a:srgbClr val="1B7A8A"/>
                </a:solidFill>
              </a:rPr>
              <a:t>Residual gap</a:t>
            </a:r>
            <a:endParaRPr lang="en-US" sz="950" dirty="0"/>
          </a:p>
        </p:txBody>
      </p:sp>
      <p:sp>
        <p:nvSpPr>
          <p:cNvPr id="21" name="Text 18"/>
          <p:cNvSpPr/>
          <p:nvPr/>
        </p:nvSpPr>
        <p:spPr>
          <a:xfrm>
            <a:off x="6675120" y="3849624"/>
            <a:ext cx="1920240" cy="310896"/>
          </a:xfrm>
          <a:prstGeom prst="rect">
            <a:avLst/>
          </a:prstGeom>
          <a:noFill/>
          <a:ln/>
        </p:spPr>
        <p:txBody>
          <a:bodyPr wrap="square" rtlCol="0" anchor="ctr"/>
          <a:lstStyle/>
          <a:p>
            <a:pPr indent="0" marL="0">
              <a:buNone/>
            </a:pPr>
            <a:r>
              <a:rPr lang="en-US" sz="850" dirty="0">
                <a:solidFill>
                  <a:srgbClr val="64748B"/>
                </a:solidFill>
              </a:rPr>
              <a:t>What ensembles still miss: amenities, school districts, zoning (the lambda in SEM).</a:t>
            </a:r>
            <a:endParaRPr lang="en-US" sz="850" dirty="0"/>
          </a:p>
        </p:txBody>
      </p:sp>
      <p:sp>
        <p:nvSpPr>
          <p:cNvPr id="22" name="Shape 19"/>
          <p:cNvSpPr/>
          <p:nvPr/>
        </p:nvSpPr>
        <p:spPr>
          <a:xfrm>
            <a:off x="365760" y="4261104"/>
            <a:ext cx="8412480" cy="86868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23" name="Shape 20"/>
          <p:cNvSpPr/>
          <p:nvPr/>
        </p:nvSpPr>
        <p:spPr>
          <a:xfrm>
            <a:off x="365760" y="4261104"/>
            <a:ext cx="8412480" cy="54864"/>
          </a:xfrm>
          <a:prstGeom prst="rect">
            <a:avLst/>
          </a:prstGeom>
          <a:solidFill>
            <a:srgbClr val="1B7A8A"/>
          </a:solidFill>
          <a:ln w="12700">
            <a:solidFill>
              <a:srgbClr val="1B7A8A"/>
            </a:solidFill>
            <a:prstDash val="solid"/>
          </a:ln>
        </p:spPr>
      </p:sp>
      <p:sp>
        <p:nvSpPr>
          <p:cNvPr id="24" name="Text 21"/>
          <p:cNvSpPr/>
          <p:nvPr/>
        </p:nvSpPr>
        <p:spPr>
          <a:xfrm>
            <a:off x="502920" y="4361688"/>
            <a:ext cx="8138160" cy="704088"/>
          </a:xfrm>
          <a:prstGeom prst="rect">
            <a:avLst/>
          </a:prstGeom>
          <a:noFill/>
          <a:ln/>
        </p:spPr>
        <p:txBody>
          <a:bodyPr wrap="square" rtlCol="0" anchor="ctr"/>
          <a:lstStyle/>
          <a:p>
            <a:pPr indent="0" marL="0">
              <a:buNone/>
            </a:pPr>
            <a:r>
              <a:rPr lang="en-US" sz="950" dirty="0">
                <a:solidFill>
                  <a:srgbClr val="0D1B2A"/>
                </a:solidFill>
              </a:rPr>
              <a:t>Practical implication: In a privacy-constrained deployment (coordinates unavailable), XGBoost retains R² approx 0.666, substantial predictive power but measurably degraded. For spatial models the ablation is irrelevant: W encodes adjacency structure independently of the feature matrix X, which is precisely what makes spatial econometrics epistemologically distinct from simply adding lat/lon as features.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FINAL COMPARISON</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Complete Model Hierarchy: All Families on One Table</a:t>
            </a:r>
            <a:endParaRPr lang="en-US" sz="2400" dirty="0"/>
          </a:p>
        </p:txBody>
      </p:sp>
      <p:sp>
        <p:nvSpPr>
          <p:cNvPr id="5" name="Text 3"/>
          <p:cNvSpPr/>
          <p:nvPr/>
        </p:nvSpPr>
        <p:spPr>
          <a:xfrm>
            <a:off x="365760" y="1024128"/>
            <a:ext cx="8412480" cy="246888"/>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Note: spatial models fit on subsample (n approx 1,500 to 5,000). R² not directly comparable to full-dataset non-spatial models.</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8412480" cy="3337560"/>
        </p:xfrm>
        <a:graphic>
          <a:graphicData uri="http://schemas.openxmlformats.org/drawingml/2006/table">
            <a:tbl>
              <a:tblPr/>
              <a:tblGrid>
                <a:gridCol w="1828800"/>
                <a:gridCol w="1920240"/>
                <a:gridCol w="640080"/>
                <a:gridCol w="640080"/>
                <a:gridCol w="1005840"/>
                <a:gridCol w="23774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Family</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R²</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RMSE</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Dataset</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Key Strength</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274320">
                <a:tc>
                  <a:txBody>
                    <a:bodyPr/>
                    <a:lstStyle/>
                    <a:p>
                      <a:pPr indent="0" marL="0">
                        <a:buNone/>
                      </a:pPr>
                      <a:r>
                        <a:rPr lang="en-US" sz="950" b="1" dirty="0">
                          <a:solidFill>
                            <a:srgbClr val="1B7A8A"/>
                          </a:solidFill>
                          <a:latin typeface="Calibri" pitchFamily="34" charset="0"/>
                          <a:ea typeface="Calibri" pitchFamily="34" charset="-122"/>
                          <a:cs typeface="Calibri" pitchFamily="34" charset="-120"/>
                        </a:rPr>
                        <a:t>GWR</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Spatially Varying</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B7A8A"/>
                          </a:solidFill>
                          <a:latin typeface="Calibri" pitchFamily="34" charset="0"/>
                          <a:ea typeface="Calibri" pitchFamily="34" charset="-122"/>
                          <a:cs typeface="Calibri" pitchFamily="34" charset="-120"/>
                        </a:rPr>
                        <a:t>0.888</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D1B2A"/>
                          </a:solidFill>
                          <a:latin typeface="Calibri" pitchFamily="34" charset="0"/>
                          <a:ea typeface="Calibri" pitchFamily="34" charset="-122"/>
                          <a:cs typeface="Calibri" pitchFamily="34" charset="-120"/>
                        </a:rPr>
                        <a:t>n/a</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Subsample</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Where coefficients vary spatially</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274320">
                <a:tc>
                  <a:txBody>
                    <a:bodyPr/>
                    <a:lstStyle/>
                    <a:p>
                      <a:pPr indent="0" marL="0">
                        <a:buNone/>
                      </a:pPr>
                      <a:r>
                        <a:rPr lang="en-US" sz="950" b="1" dirty="0">
                          <a:solidFill>
                            <a:srgbClr val="1A9641"/>
                          </a:solidFill>
                          <a:latin typeface="Calibri" pitchFamily="34" charset="0"/>
                          <a:ea typeface="Calibri" pitchFamily="34" charset="-122"/>
                          <a:cs typeface="Calibri" pitchFamily="34" charset="-120"/>
                        </a:rPr>
                        <a:t>XGBoost</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ML Ensemble</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9641"/>
                          </a:solidFill>
                          <a:latin typeface="Calibri" pitchFamily="34" charset="0"/>
                          <a:ea typeface="Calibri" pitchFamily="34" charset="-122"/>
                          <a:cs typeface="Calibri" pitchFamily="34" charset="-120"/>
                        </a:rPr>
                        <a:t>0.851</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9641"/>
                          </a:solidFill>
                          <a:latin typeface="Calibri" pitchFamily="34" charset="0"/>
                          <a:ea typeface="Calibri" pitchFamily="34" charset="-122"/>
                          <a:cs typeface="Calibri" pitchFamily="34" charset="-120"/>
                        </a:rPr>
                        <a:t>0.220</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Full</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Pure prediction accuracy</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Grad. Boosting</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ML Ensemble</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D1B2A"/>
                          </a:solidFill>
                          <a:latin typeface="Calibri" pitchFamily="34" charset="0"/>
                          <a:ea typeface="Calibri" pitchFamily="34" charset="-122"/>
                          <a:cs typeface="Calibri" pitchFamily="34" charset="-120"/>
                        </a:rPr>
                        <a:t>0.837</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D1B2A"/>
                          </a:solidFill>
                          <a:latin typeface="Calibri" pitchFamily="34" charset="0"/>
                          <a:ea typeface="Calibri" pitchFamily="34" charset="-122"/>
                          <a:cs typeface="Calibri" pitchFamily="34" charset="-120"/>
                        </a:rPr>
                        <a:t>0.230</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Full</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Accurate and faster than XGBoost</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Random Forest</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ML Ensemble</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D1B2A"/>
                          </a:solidFill>
                          <a:latin typeface="Calibri" pitchFamily="34" charset="0"/>
                          <a:ea typeface="Calibri" pitchFamily="34" charset="-122"/>
                          <a:cs typeface="Calibri" pitchFamily="34" charset="-120"/>
                        </a:rPr>
                        <a:t>0.823</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D1B2A"/>
                          </a:solidFill>
                          <a:latin typeface="Calibri" pitchFamily="34" charset="0"/>
                          <a:ea typeface="Calibri" pitchFamily="34" charset="-122"/>
                          <a:cs typeface="Calibri" pitchFamily="34" charset="-120"/>
                        </a:rPr>
                        <a:t>0.240</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Full</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Robust; CV R² = 0.825 +/- 0.006</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274320">
                <a:tc>
                  <a:txBody>
                    <a:bodyPr/>
                    <a:lstStyle/>
                    <a:p>
                      <a:pPr indent="0" marL="0">
                        <a:buNone/>
                      </a:pPr>
                      <a:r>
                        <a:rPr lang="en-US" sz="950" b="1" dirty="0">
                          <a:solidFill>
                            <a:srgbClr val="7B2D8B"/>
                          </a:solidFill>
                          <a:latin typeface="Calibri" pitchFamily="34" charset="0"/>
                          <a:ea typeface="Calibri" pitchFamily="34" charset="-122"/>
                          <a:cs typeface="Calibri" pitchFamily="34" charset="-120"/>
                        </a:rPr>
                        <a:t>SLM</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Spatial Econometric</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7B2D8B"/>
                          </a:solidFill>
                          <a:latin typeface="Calibri" pitchFamily="34" charset="0"/>
                          <a:ea typeface="Calibri" pitchFamily="34" charset="-122"/>
                          <a:cs typeface="Calibri" pitchFamily="34" charset="-120"/>
                        </a:rPr>
                        <a:t>0.817</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D1B2A"/>
                          </a:solidFill>
                          <a:latin typeface="Calibri" pitchFamily="34" charset="0"/>
                          <a:ea typeface="Calibri" pitchFamily="34" charset="-122"/>
                          <a:cs typeface="Calibri" pitchFamily="34" charset="-120"/>
                        </a:rPr>
                        <a:t>n/a</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Subsample</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Neighbourhood spillover (rho = 0.687)</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GAM</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GNPR</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D1B2A"/>
                          </a:solidFill>
                          <a:latin typeface="Calibri" pitchFamily="34" charset="0"/>
                          <a:ea typeface="Calibri" pitchFamily="34" charset="-122"/>
                          <a:cs typeface="Calibri" pitchFamily="34" charset="-120"/>
                        </a:rPr>
                        <a:t>0.759</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D1B2A"/>
                          </a:solidFill>
                          <a:latin typeface="Calibri" pitchFamily="34" charset="0"/>
                          <a:ea typeface="Calibri" pitchFamily="34" charset="-122"/>
                          <a:cs typeface="Calibri" pitchFamily="34" charset="-120"/>
                        </a:rPr>
                        <a:t>0.280</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Full</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Interpretable smooth curves</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Neural Net (MLP)</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ML Deep</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D1B2A"/>
                          </a:solidFill>
                          <a:latin typeface="Calibri" pitchFamily="34" charset="0"/>
                          <a:ea typeface="Calibri" pitchFamily="34" charset="-122"/>
                          <a:cs typeface="Calibri" pitchFamily="34" charset="-120"/>
                        </a:rPr>
                        <a:t>0.739</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D1B2A"/>
                          </a:solidFill>
                          <a:latin typeface="Calibri" pitchFamily="34" charset="0"/>
                          <a:ea typeface="Calibri" pitchFamily="34" charset="-122"/>
                          <a:cs typeface="Calibri" pitchFamily="34" charset="-120"/>
                        </a:rPr>
                        <a:t>0.291</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Full</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Nonlinear but expensive</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Spline+Ridge</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GNPR</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D1B2A"/>
                          </a:solidFill>
                          <a:latin typeface="Calibri" pitchFamily="34" charset="0"/>
                          <a:ea typeface="Calibri" pitchFamily="34" charset="-122"/>
                          <a:cs typeface="Calibri" pitchFamily="34" charset="-120"/>
                        </a:rPr>
                        <a:t>0.718</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D1B2A"/>
                          </a:solidFill>
                          <a:latin typeface="Calibri" pitchFamily="34" charset="0"/>
                          <a:ea typeface="Calibri" pitchFamily="34" charset="-122"/>
                          <a:cs typeface="Calibri" pitchFamily="34" charset="-120"/>
                        </a:rPr>
                        <a:t>0.303</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Full</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Transparent middle ground</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Ridge / OLS</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Parametric</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7191C"/>
                          </a:solidFill>
                          <a:latin typeface="Calibri" pitchFamily="34" charset="0"/>
                          <a:ea typeface="Calibri" pitchFamily="34" charset="-122"/>
                          <a:cs typeface="Calibri" pitchFamily="34" charset="-120"/>
                        </a:rPr>
                        <a:t>0.633</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7191C"/>
                          </a:solidFill>
                          <a:latin typeface="Calibri" pitchFamily="34" charset="0"/>
                          <a:ea typeface="Calibri" pitchFamily="34" charset="-122"/>
                          <a:cs typeface="Calibri" pitchFamily="34" charset="-120"/>
                        </a:rPr>
                        <a:t>0.345</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Full</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Interpretable baseline</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r h="274320">
                <a:tc>
                  <a:txBody>
                    <a:bodyPr/>
                    <a:lstStyle/>
                    <a:p>
                      <a:pPr indent="0" marL="0">
                        <a:buNone/>
                      </a:pPr>
                      <a:r>
                        <a:rPr lang="en-US" sz="950" b="1" dirty="0">
                          <a:solidFill>
                            <a:srgbClr val="993300"/>
                          </a:solidFill>
                          <a:latin typeface="Calibri" pitchFamily="34" charset="0"/>
                          <a:ea typeface="Calibri" pitchFamily="34" charset="-122"/>
                          <a:cs typeface="Calibri" pitchFamily="34" charset="-120"/>
                        </a:rPr>
                        <a:t>SEM</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Spatial Econometric</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D1B2A"/>
                          </a:solidFill>
                          <a:latin typeface="Calibri" pitchFamily="34" charset="0"/>
                          <a:ea typeface="Calibri" pitchFamily="34" charset="-122"/>
                          <a:cs typeface="Calibri" pitchFamily="34" charset="-120"/>
                        </a:rPr>
                        <a:t>0.577</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D1B2A"/>
                          </a:solidFill>
                          <a:latin typeface="Calibri" pitchFamily="34" charset="0"/>
                          <a:ea typeface="Calibri" pitchFamily="34" charset="-122"/>
                          <a:cs typeface="Calibri" pitchFamily="34" charset="-120"/>
                        </a:rPr>
                        <a:t>n/a</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Subsample</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c>
                  <a:txBody>
                    <a:bodyPr/>
                    <a:lstStyle/>
                    <a:p>
                      <a:pPr indent="0" marL="0">
                        <a:buNone/>
                      </a:pPr>
                      <a:r>
                        <a:rPr lang="en-US" sz="950" dirty="0">
                          <a:solidFill>
                            <a:srgbClr val="0D1B2A"/>
                          </a:solidFill>
                          <a:latin typeface="Calibri" pitchFamily="34" charset="0"/>
                          <a:ea typeface="Calibri" pitchFamily="34" charset="-122"/>
                          <a:cs typeface="Calibri" pitchFamily="34" charset="-120"/>
                        </a:rPr>
                        <a:t>Omitted variable correction</a:t>
                      </a:r>
                      <a:endParaRPr lang="en-US" sz="950" dirty="0">
                        <a:latin typeface="Calibri" charset="0"/>
                        <a:ea typeface="Calibri" charset="0"/>
                        <a:cs typeface="Calibri" charset="0"/>
                      </a:endParaRPr>
                    </a:p>
                  </a:txBody>
                  <a:tcPr marL="91440" marR="91440" marT="45720" marB="45720">
                    <a:lnL w="6350" cap="flat" cmpd="sng" algn="ctr">
                      <a:solidFill>
                        <a:srgbClr val="E2EAF0"/>
                      </a:solidFill>
                      <a:prstDash val="solid"/>
                      <a:round/>
                      <a:headEnd type="none" w="med" len="med"/>
                      <a:tailEnd type="none" w="med" len="med"/>
                    </a:lnL>
                    <a:lnR w="6350" cap="flat" cmpd="sng" algn="ctr">
                      <a:solidFill>
                        <a:srgbClr val="E2EAF0"/>
                      </a:solidFill>
                      <a:prstDash val="solid"/>
                      <a:round/>
                      <a:headEnd type="none" w="med" len="med"/>
                      <a:tailEnd type="none" w="med" len="med"/>
                    </a:lnR>
                    <a:lnT w="6350" cap="flat" cmpd="sng" algn="ctr">
                      <a:solidFill>
                        <a:srgbClr val="E2EAF0"/>
                      </a:solidFill>
                      <a:prstDash val="solid"/>
                      <a:round/>
                      <a:headEnd type="none" w="med" len="med"/>
                      <a:tailEnd type="none" w="med" len="med"/>
                    </a:lnT>
                    <a:lnB w="6350" cap="flat" cmpd="sng" algn="ctr">
                      <a:solidFill>
                        <a:srgbClr val="E2EAF0"/>
                      </a:solidFill>
                      <a:prstDash val="solid"/>
                      <a:round/>
                      <a:headEnd type="none" w="med" len="med"/>
                      <a:tailEnd type="none" w="med" len="med"/>
                    </a:lnB>
                    <a:solidFill>
                      <a:srgbClr val="FFFFFF"/>
                    </a:solidFill>
                  </a:tcPr>
                </a:tc>
              </a:tr>
            </a:tbl>
          </a:graphicData>
        </a:graphic>
      </p:graphicFrame>
      <p:sp>
        <p:nvSpPr>
          <p:cNvPr id="7" name="Text 4"/>
          <p:cNvSpPr/>
          <p:nvPr/>
        </p:nvSpPr>
        <p:spPr>
          <a:xfrm>
            <a:off x="365760" y="4773168"/>
            <a:ext cx="8412480" cy="274320"/>
          </a:xfrm>
          <a:prstGeom prst="rect">
            <a:avLst/>
          </a:prstGeom>
          <a:noFill/>
          <a:ln/>
        </p:spPr>
        <p:txBody>
          <a:bodyPr wrap="square" rtlCol="0" anchor="ctr"/>
          <a:lstStyle/>
          <a:p>
            <a:pPr algn="ctr" indent="0" marL="0">
              <a:buNone/>
            </a:pPr>
            <a:r>
              <a:rPr lang="en-US" sz="1050" b="1" dirty="0">
                <a:solidFill>
                  <a:srgbClr val="0D1B2A"/>
                </a:solidFill>
              </a:rPr>
              <a:t>The verdict is not a single winner. It is a hierarchy of purposes. Choose by what you need to know, not just which R² is highest.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CONCLUSIONS</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What We Found and How We Know It</a:t>
            </a:r>
            <a:endParaRPr lang="en-US" sz="2400" dirty="0"/>
          </a:p>
        </p:txBody>
      </p:sp>
      <p:sp>
        <p:nvSpPr>
          <p:cNvPr id="5" name="Shape 3"/>
          <p:cNvSpPr/>
          <p:nvPr/>
        </p:nvSpPr>
        <p:spPr>
          <a:xfrm>
            <a:off x="365760" y="1371600"/>
            <a:ext cx="8412480" cy="1024128"/>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65760" y="1371600"/>
            <a:ext cx="548640" cy="1024128"/>
          </a:xfrm>
          <a:prstGeom prst="rect">
            <a:avLst/>
          </a:prstGeom>
          <a:solidFill>
            <a:srgbClr val="2C7BB6"/>
          </a:solidFill>
          <a:ln w="12700">
            <a:solidFill>
              <a:srgbClr val="2C7BB6"/>
            </a:solidFill>
            <a:prstDash val="solid"/>
          </a:ln>
        </p:spPr>
      </p:sp>
      <p:sp>
        <p:nvSpPr>
          <p:cNvPr id="7" name="Text 5"/>
          <p:cNvSpPr/>
          <p:nvPr/>
        </p:nvSpPr>
        <p:spPr>
          <a:xfrm>
            <a:off x="365760" y="1371600"/>
            <a:ext cx="548640" cy="1024128"/>
          </a:xfrm>
          <a:prstGeom prst="rect">
            <a:avLst/>
          </a:prstGeom>
          <a:noFill/>
          <a:ln/>
        </p:spPr>
        <p:txBody>
          <a:bodyPr wrap="square" lIns="0" tIns="0" rIns="0" bIns="0" rtlCol="0" anchor="ctr"/>
          <a:lstStyle/>
          <a:p>
            <a:pPr algn="ctr" indent="0" marL="0">
              <a:buNone/>
            </a:pPr>
            <a:r>
              <a:rPr lang="en-US" sz="1000" b="1" dirty="0">
                <a:solidFill>
                  <a:srgbClr val="FFFFFF"/>
                </a:solidFill>
              </a:rPr>
              <a:t>RQ 1</a:t>
            </a:r>
            <a:endParaRPr lang="en-US" sz="1000" dirty="0"/>
          </a:p>
        </p:txBody>
      </p:sp>
      <p:sp>
        <p:nvSpPr>
          <p:cNvPr id="8" name="Text 6"/>
          <p:cNvSpPr/>
          <p:nvPr/>
        </p:nvSpPr>
        <p:spPr>
          <a:xfrm>
            <a:off x="1051560" y="1435608"/>
            <a:ext cx="7498080" cy="274320"/>
          </a:xfrm>
          <a:prstGeom prst="rect">
            <a:avLst/>
          </a:prstGeom>
          <a:noFill/>
          <a:ln/>
        </p:spPr>
        <p:txBody>
          <a:bodyPr wrap="square" rtlCol="0" anchor="ctr"/>
          <a:lstStyle/>
          <a:p>
            <a:pPr indent="0" marL="0">
              <a:buNone/>
            </a:pPr>
            <a:r>
              <a:rPr lang="en-US" sz="1200" b="1" dirty="0">
                <a:solidFill>
                  <a:srgbClr val="2C7BB6"/>
                </a:solidFill>
              </a:rPr>
              <a:t>Yes, decisively.</a:t>
            </a:r>
            <a:endParaRPr lang="en-US" sz="1200" dirty="0"/>
          </a:p>
        </p:txBody>
      </p:sp>
      <p:sp>
        <p:nvSpPr>
          <p:cNvPr id="9" name="Text 7"/>
          <p:cNvSpPr/>
          <p:nvPr/>
        </p:nvSpPr>
        <p:spPr>
          <a:xfrm>
            <a:off x="1051560" y="1709928"/>
            <a:ext cx="7498080" cy="548640"/>
          </a:xfrm>
          <a:prstGeom prst="rect">
            <a:avLst/>
          </a:prstGeom>
          <a:noFill/>
          <a:ln/>
        </p:spPr>
        <p:txBody>
          <a:bodyPr wrap="square" rtlCol="0" anchor="ctr"/>
          <a:lstStyle/>
          <a:p>
            <a:pPr indent="0" marL="0">
              <a:buNone/>
            </a:pPr>
            <a:r>
              <a:rPr lang="en-US" sz="950" dirty="0">
                <a:solidFill>
                  <a:srgbClr val="0D1B2A"/>
                </a:solidFill>
              </a:rPr>
              <a:t>OLS R² = 0.633 to XGBoost R² = 0.851. A 0.218 gap stable across 5-fold CV (RF: 0.825 +/- 0.006). OLS residuals show curvature, heteroscedasticity, and spatial clustering. The case for linearity in this dataset is empirically refuted.</a:t>
            </a:r>
            <a:endParaRPr lang="en-US" sz="950" dirty="0"/>
          </a:p>
        </p:txBody>
      </p:sp>
      <p:sp>
        <p:nvSpPr>
          <p:cNvPr id="10" name="Shape 8"/>
          <p:cNvSpPr/>
          <p:nvPr/>
        </p:nvSpPr>
        <p:spPr>
          <a:xfrm>
            <a:off x="365760" y="2542032"/>
            <a:ext cx="8412480" cy="1024128"/>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65760" y="2542032"/>
            <a:ext cx="548640" cy="1024128"/>
          </a:xfrm>
          <a:prstGeom prst="rect">
            <a:avLst/>
          </a:prstGeom>
          <a:solidFill>
            <a:srgbClr val="1B7A8A"/>
          </a:solidFill>
          <a:ln w="12700">
            <a:solidFill>
              <a:srgbClr val="1B7A8A"/>
            </a:solidFill>
            <a:prstDash val="solid"/>
          </a:ln>
        </p:spPr>
      </p:sp>
      <p:sp>
        <p:nvSpPr>
          <p:cNvPr id="12" name="Text 10"/>
          <p:cNvSpPr/>
          <p:nvPr/>
        </p:nvSpPr>
        <p:spPr>
          <a:xfrm>
            <a:off x="365760" y="2542032"/>
            <a:ext cx="548640" cy="1024128"/>
          </a:xfrm>
          <a:prstGeom prst="rect">
            <a:avLst/>
          </a:prstGeom>
          <a:noFill/>
          <a:ln/>
        </p:spPr>
        <p:txBody>
          <a:bodyPr wrap="square" lIns="0" tIns="0" rIns="0" bIns="0" rtlCol="0" anchor="ctr"/>
          <a:lstStyle/>
          <a:p>
            <a:pPr algn="ctr" indent="0" marL="0">
              <a:buNone/>
            </a:pPr>
            <a:r>
              <a:rPr lang="en-US" sz="1000" b="1" dirty="0">
                <a:solidFill>
                  <a:srgbClr val="FFFFFF"/>
                </a:solidFill>
              </a:rPr>
              <a:t>RQ 2</a:t>
            </a:r>
            <a:endParaRPr lang="en-US" sz="1000" dirty="0"/>
          </a:p>
        </p:txBody>
      </p:sp>
      <p:sp>
        <p:nvSpPr>
          <p:cNvPr id="13" name="Text 11"/>
          <p:cNvSpPr/>
          <p:nvPr/>
        </p:nvSpPr>
        <p:spPr>
          <a:xfrm>
            <a:off x="1051560" y="2606040"/>
            <a:ext cx="7498080" cy="274320"/>
          </a:xfrm>
          <a:prstGeom prst="rect">
            <a:avLst/>
          </a:prstGeom>
          <a:noFill/>
          <a:ln/>
        </p:spPr>
        <p:txBody>
          <a:bodyPr wrap="square" rtlCol="0" anchor="ctr"/>
          <a:lstStyle/>
          <a:p>
            <a:pPr indent="0" marL="0">
              <a:buNone/>
            </a:pPr>
            <a:r>
              <a:rPr lang="en-US" sz="1200" b="1" dirty="0">
                <a:solidFill>
                  <a:srgbClr val="1B7A8A"/>
                </a:solidFill>
              </a:rPr>
              <a:t>Income x location is non-additive.</a:t>
            </a:r>
            <a:endParaRPr lang="en-US" sz="1200" dirty="0"/>
          </a:p>
        </p:txBody>
      </p:sp>
      <p:sp>
        <p:nvSpPr>
          <p:cNvPr id="14" name="Text 12"/>
          <p:cNvSpPr/>
          <p:nvPr/>
        </p:nvSpPr>
        <p:spPr>
          <a:xfrm>
            <a:off x="1051560" y="2880360"/>
            <a:ext cx="7498080" cy="548640"/>
          </a:xfrm>
          <a:prstGeom prst="rect">
            <a:avLst/>
          </a:prstGeom>
          <a:noFill/>
          <a:ln/>
        </p:spPr>
        <p:txBody>
          <a:bodyPr wrap="square" rtlCol="0" anchor="ctr"/>
          <a:lstStyle/>
          <a:p>
            <a:pPr indent="0" marL="0">
              <a:buNone/>
            </a:pPr>
            <a:r>
              <a:rPr lang="en-US" sz="950" dirty="0">
                <a:solidFill>
                  <a:srgbClr val="0D1B2A"/>
                </a:solidFill>
              </a:rPr>
              <a:t>GAM: income effect is concave and latitude shows a structural break at 37.5°. GWR: income coefficient ranges [-0.23, +0.76] across California. No global model captures this. The Bay Area income slope is 0.13 steeper per income unit than the Central Valley.</a:t>
            </a:r>
            <a:endParaRPr lang="en-US" sz="950" dirty="0"/>
          </a:p>
        </p:txBody>
      </p:sp>
      <p:sp>
        <p:nvSpPr>
          <p:cNvPr id="15" name="Shape 13"/>
          <p:cNvSpPr/>
          <p:nvPr/>
        </p:nvSpPr>
        <p:spPr>
          <a:xfrm>
            <a:off x="365760" y="3712464"/>
            <a:ext cx="8412480" cy="1024128"/>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65760" y="3712464"/>
            <a:ext cx="548640" cy="1024128"/>
          </a:xfrm>
          <a:prstGeom prst="rect">
            <a:avLst/>
          </a:prstGeom>
          <a:solidFill>
            <a:srgbClr val="7B2D8B"/>
          </a:solidFill>
          <a:ln w="12700">
            <a:solidFill>
              <a:srgbClr val="7B2D8B"/>
            </a:solidFill>
            <a:prstDash val="solid"/>
          </a:ln>
        </p:spPr>
      </p:sp>
      <p:sp>
        <p:nvSpPr>
          <p:cNvPr id="17" name="Text 15"/>
          <p:cNvSpPr/>
          <p:nvPr/>
        </p:nvSpPr>
        <p:spPr>
          <a:xfrm>
            <a:off x="365760" y="3712464"/>
            <a:ext cx="548640" cy="1024128"/>
          </a:xfrm>
          <a:prstGeom prst="rect">
            <a:avLst/>
          </a:prstGeom>
          <a:noFill/>
          <a:ln/>
        </p:spPr>
        <p:txBody>
          <a:bodyPr wrap="square" lIns="0" tIns="0" rIns="0" bIns="0" rtlCol="0" anchor="ctr"/>
          <a:lstStyle/>
          <a:p>
            <a:pPr algn="ctr" indent="0" marL="0">
              <a:buNone/>
            </a:pPr>
            <a:r>
              <a:rPr lang="en-US" sz="1000" b="1" dirty="0">
                <a:solidFill>
                  <a:srgbClr val="FFFFFF"/>
                </a:solidFill>
              </a:rPr>
              <a:t>RQ 3</a:t>
            </a:r>
            <a:endParaRPr lang="en-US" sz="1000" dirty="0"/>
          </a:p>
        </p:txBody>
      </p:sp>
      <p:sp>
        <p:nvSpPr>
          <p:cNvPr id="18" name="Text 16"/>
          <p:cNvSpPr/>
          <p:nvPr/>
        </p:nvSpPr>
        <p:spPr>
          <a:xfrm>
            <a:off x="1051560" y="3776472"/>
            <a:ext cx="7498080" cy="274320"/>
          </a:xfrm>
          <a:prstGeom prst="rect">
            <a:avLst/>
          </a:prstGeom>
          <a:noFill/>
          <a:ln/>
        </p:spPr>
        <p:txBody>
          <a:bodyPr wrap="square" rtlCol="0" anchor="ctr"/>
          <a:lstStyle/>
          <a:p>
            <a:pPr indent="0" marL="0">
              <a:buNone/>
            </a:pPr>
            <a:r>
              <a:rPr lang="en-US" sz="1200" b="1" dirty="0">
                <a:solidFill>
                  <a:srgbClr val="7B2D8B"/>
                </a:solidFill>
              </a:rPr>
              <a:t>The answer depends on purpose.</a:t>
            </a:r>
            <a:endParaRPr lang="en-US" sz="1200" dirty="0"/>
          </a:p>
        </p:txBody>
      </p:sp>
      <p:sp>
        <p:nvSpPr>
          <p:cNvPr id="19" name="Text 17"/>
          <p:cNvSpPr/>
          <p:nvPr/>
        </p:nvSpPr>
        <p:spPr>
          <a:xfrm>
            <a:off x="1051560" y="4050792"/>
            <a:ext cx="7498080" cy="548640"/>
          </a:xfrm>
          <a:prstGeom prst="rect">
            <a:avLst/>
          </a:prstGeom>
          <a:noFill/>
          <a:ln/>
        </p:spPr>
        <p:txBody>
          <a:bodyPr wrap="square" rtlCol="0" anchor="ctr"/>
          <a:lstStyle/>
          <a:p>
            <a:pPr indent="0" marL="0">
              <a:buNone/>
            </a:pPr>
            <a:r>
              <a:rPr lang="en-US" sz="950" dirty="0">
                <a:solidFill>
                  <a:srgbClr val="0D1B2A"/>
                </a:solidFill>
              </a:rPr>
              <a:t>ML ensembles lead on accuracy. GAM leads on interpretability. SLM (rho = 0.687) leads on spatial spillover estimation. GWR (R² = 0.888) leads on geographic heterogeneity. No single model wins on all dimensions simultaneously.</a:t>
            </a:r>
            <a:endParaRPr lang="en-US" sz="950" dirty="0"/>
          </a:p>
        </p:txBody>
      </p:sp>
      <p:sp>
        <p:nvSpPr>
          <p:cNvPr id="20" name="Shape 18"/>
          <p:cNvSpPr/>
          <p:nvPr/>
        </p:nvSpPr>
        <p:spPr>
          <a:xfrm>
            <a:off x="365760" y="4901184"/>
            <a:ext cx="8412480" cy="256032"/>
          </a:xfrm>
          <a:prstGeom prst="rect">
            <a:avLst/>
          </a:prstGeom>
          <a:solidFill>
            <a:srgbClr val="0D1B2A"/>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21" name="Text 19"/>
          <p:cNvSpPr/>
          <p:nvPr/>
        </p:nvSpPr>
        <p:spPr>
          <a:xfrm>
            <a:off x="502920" y="4901184"/>
            <a:ext cx="8138160" cy="256032"/>
          </a:xfrm>
          <a:prstGeom prst="rect">
            <a:avLst/>
          </a:prstGeom>
          <a:noFill/>
          <a:ln/>
        </p:spPr>
        <p:txBody>
          <a:bodyPr wrap="square" lIns="0" tIns="0" rIns="0" bIns="0" rtlCol="0" anchor="ctr"/>
          <a:lstStyle/>
          <a:p>
            <a:pPr algn="ctr" indent="0" marL="0">
              <a:buNone/>
            </a:pPr>
            <a:r>
              <a:rPr lang="en-US" sz="950" dirty="0">
                <a:solidFill>
                  <a:srgbClr val="A8DADC"/>
                </a:solidFill>
              </a:rPr>
              <a:t>The arc: Observed (EDA) &gt; Confirmed (OLS limitations) &gt; Proved (Moran's I) &gt; Modelled (SLM/SEM/GWR) &gt; Compared honestly. That arc distinguishes analysis from a collection of model outputs.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DEPLOYMENT</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From Notebook to Production</a:t>
            </a:r>
            <a:endParaRPr lang="en-US" sz="2400" dirty="0"/>
          </a:p>
        </p:txBody>
      </p:sp>
      <p:sp>
        <p:nvSpPr>
          <p:cNvPr id="5" name="Text 3"/>
          <p:cNvSpPr/>
          <p:nvPr/>
        </p:nvSpPr>
        <p:spPr>
          <a:xfrm>
            <a:off x="365760" y="1024128"/>
            <a:ext cx="8412480" cy="246888"/>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Four deployment paths, each optimised for a different user and purpose</a:t>
            </a:r>
            <a:endParaRPr lang="en-US" sz="1050" dirty="0"/>
          </a:p>
        </p:txBody>
      </p:sp>
      <p:sp>
        <p:nvSpPr>
          <p:cNvPr id="6" name="Shape 4"/>
          <p:cNvSpPr/>
          <p:nvPr/>
        </p:nvSpPr>
        <p:spPr>
          <a:xfrm>
            <a:off x="365760" y="1353312"/>
            <a:ext cx="4114800" cy="1664208"/>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65760" y="1353312"/>
            <a:ext cx="4114800" cy="411480"/>
          </a:xfrm>
          <a:prstGeom prst="rect">
            <a:avLst/>
          </a:prstGeom>
          <a:solidFill>
            <a:srgbClr val="2C7BB6"/>
          </a:solidFill>
          <a:ln w="12700">
            <a:solidFill>
              <a:srgbClr val="2C7BB6"/>
            </a:solidFill>
            <a:prstDash val="solid"/>
          </a:ln>
        </p:spPr>
      </p:sp>
      <p:sp>
        <p:nvSpPr>
          <p:cNvPr id="8" name="Text 6"/>
          <p:cNvSpPr/>
          <p:nvPr/>
        </p:nvSpPr>
        <p:spPr>
          <a:xfrm>
            <a:off x="365760" y="1353312"/>
            <a:ext cx="4114800" cy="411480"/>
          </a:xfrm>
          <a:prstGeom prst="rect">
            <a:avLst/>
          </a:prstGeom>
          <a:noFill/>
          <a:ln/>
        </p:spPr>
        <p:txBody>
          <a:bodyPr wrap="square" lIns="0" tIns="0" rIns="0" bIns="0" rtlCol="0" anchor="ctr"/>
          <a:lstStyle/>
          <a:p>
            <a:pPr algn="ctr" indent="0" marL="0">
              <a:buNone/>
            </a:pPr>
            <a:r>
              <a:rPr lang="en-US" sz="1100" b="1" dirty="0">
                <a:solidFill>
                  <a:srgbClr val="FFFFFF"/>
                </a:solidFill>
              </a:rPr>
              <a:t>REST API  ·  Real-Time Valuation</a:t>
            </a:r>
            <a:endParaRPr lang="en-US" sz="1100" dirty="0"/>
          </a:p>
        </p:txBody>
      </p:sp>
      <p:sp>
        <p:nvSpPr>
          <p:cNvPr id="9" name="Text 7"/>
          <p:cNvSpPr/>
          <p:nvPr/>
        </p:nvSpPr>
        <p:spPr>
          <a:xfrm>
            <a:off x="457200" y="1828800"/>
            <a:ext cx="3931920" cy="228600"/>
          </a:xfrm>
          <a:prstGeom prst="rect">
            <a:avLst/>
          </a:prstGeom>
          <a:noFill/>
          <a:ln/>
        </p:spPr>
        <p:txBody>
          <a:bodyPr wrap="square" rtlCol="0" anchor="ctr"/>
          <a:lstStyle/>
          <a:p>
            <a:pPr indent="0" marL="0">
              <a:buNone/>
            </a:pPr>
            <a:r>
              <a:rPr lang="en-US" sz="1000" b="1" dirty="0">
                <a:solidFill>
                  <a:srgbClr val="2C7BB6"/>
                </a:solidFill>
              </a:rPr>
              <a:t>Model: XGBoost</a:t>
            </a:r>
            <a:endParaRPr lang="en-US" sz="1000" dirty="0"/>
          </a:p>
        </p:txBody>
      </p:sp>
      <p:sp>
        <p:nvSpPr>
          <p:cNvPr id="10" name="Text 8"/>
          <p:cNvSpPr/>
          <p:nvPr/>
        </p:nvSpPr>
        <p:spPr>
          <a:xfrm>
            <a:off x="457200" y="2066544"/>
            <a:ext cx="3931920" cy="228600"/>
          </a:xfrm>
          <a:prstGeom prst="rect">
            <a:avLst/>
          </a:prstGeom>
          <a:noFill/>
          <a:ln/>
        </p:spPr>
        <p:txBody>
          <a:bodyPr wrap="square" rtlCol="0" anchor="ctr"/>
          <a:lstStyle/>
          <a:p>
            <a:pPr indent="0" marL="0">
              <a:buNone/>
            </a:pPr>
            <a:r>
              <a:rPr lang="en-US" sz="950" dirty="0">
                <a:solidFill>
                  <a:srgbClr val="0D1B2A"/>
                </a:solidFill>
              </a:rPr>
              <a:t>For: Proptech · Mortgage calculators · Portals</a:t>
            </a:r>
            <a:endParaRPr lang="en-US" sz="950" dirty="0"/>
          </a:p>
        </p:txBody>
      </p:sp>
      <p:sp>
        <p:nvSpPr>
          <p:cNvPr id="11" name="Text 9"/>
          <p:cNvSpPr/>
          <p:nvPr/>
        </p:nvSpPr>
        <p:spPr>
          <a:xfrm>
            <a:off x="457200" y="2313432"/>
            <a:ext cx="3931920" cy="566928"/>
          </a:xfrm>
          <a:prstGeom prst="rect">
            <a:avLst/>
          </a:prstGeom>
          <a:noFill/>
          <a:ln/>
        </p:spPr>
        <p:txBody>
          <a:bodyPr wrap="square" rtlCol="0" anchor="ctr"/>
          <a:lstStyle/>
          <a:p>
            <a:pPr indent="0" marL="0">
              <a:buNone/>
            </a:pPr>
            <a:r>
              <a:rPr lang="en-US" sz="900" i="1" dirty="0">
                <a:solidFill>
                  <a:srgbClr val="64748B"/>
                </a:solidFill>
              </a:rPr>
              <a:t>1ms inference · joblib serialisation · quarterly retraining · always return exp(pred)</a:t>
            </a:r>
            <a:endParaRPr lang="en-US" sz="900" dirty="0"/>
          </a:p>
        </p:txBody>
      </p:sp>
      <p:sp>
        <p:nvSpPr>
          <p:cNvPr id="12" name="Shape 10"/>
          <p:cNvSpPr/>
          <p:nvPr/>
        </p:nvSpPr>
        <p:spPr>
          <a:xfrm>
            <a:off x="4800600" y="1353312"/>
            <a:ext cx="4114800" cy="1664208"/>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4800600" y="1353312"/>
            <a:ext cx="4114800" cy="411480"/>
          </a:xfrm>
          <a:prstGeom prst="rect">
            <a:avLst/>
          </a:prstGeom>
          <a:solidFill>
            <a:srgbClr val="1B7A8A"/>
          </a:solidFill>
          <a:ln w="12700">
            <a:solidFill>
              <a:srgbClr val="1B7A8A"/>
            </a:solidFill>
            <a:prstDash val="solid"/>
          </a:ln>
        </p:spPr>
      </p:sp>
      <p:sp>
        <p:nvSpPr>
          <p:cNvPr id="14" name="Text 12"/>
          <p:cNvSpPr/>
          <p:nvPr/>
        </p:nvSpPr>
        <p:spPr>
          <a:xfrm>
            <a:off x="4800600" y="1353312"/>
            <a:ext cx="4114800" cy="411480"/>
          </a:xfrm>
          <a:prstGeom prst="rect">
            <a:avLst/>
          </a:prstGeom>
          <a:noFill/>
          <a:ln/>
        </p:spPr>
        <p:txBody>
          <a:bodyPr wrap="square" lIns="0" tIns="0" rIns="0" bIns="0" rtlCol="0" anchor="ctr"/>
          <a:lstStyle/>
          <a:p>
            <a:pPr algn="ctr" indent="0" marL="0">
              <a:buNone/>
            </a:pPr>
            <a:r>
              <a:rPr lang="en-US" sz="1100" b="1" dirty="0">
                <a:solidFill>
                  <a:srgbClr val="FFFFFF"/>
                </a:solidFill>
              </a:rPr>
              <a:t>Batch Pipeline  ·  Portfolio Scoring</a:t>
            </a:r>
            <a:endParaRPr lang="en-US" sz="1100" dirty="0"/>
          </a:p>
        </p:txBody>
      </p:sp>
      <p:sp>
        <p:nvSpPr>
          <p:cNvPr id="15" name="Text 13"/>
          <p:cNvSpPr/>
          <p:nvPr/>
        </p:nvSpPr>
        <p:spPr>
          <a:xfrm>
            <a:off x="4892040" y="1828800"/>
            <a:ext cx="3931920" cy="228600"/>
          </a:xfrm>
          <a:prstGeom prst="rect">
            <a:avLst/>
          </a:prstGeom>
          <a:noFill/>
          <a:ln/>
        </p:spPr>
        <p:txBody>
          <a:bodyPr wrap="square" rtlCol="0" anchor="ctr"/>
          <a:lstStyle/>
          <a:p>
            <a:pPr indent="0" marL="0">
              <a:buNone/>
            </a:pPr>
            <a:r>
              <a:rPr lang="en-US" sz="1000" b="1" dirty="0">
                <a:solidFill>
                  <a:srgbClr val="1B7A8A"/>
                </a:solidFill>
              </a:rPr>
              <a:t>Model: XGBoost + Conformal PI</a:t>
            </a:r>
            <a:endParaRPr lang="en-US" sz="1000" dirty="0"/>
          </a:p>
        </p:txBody>
      </p:sp>
      <p:sp>
        <p:nvSpPr>
          <p:cNvPr id="16" name="Text 14"/>
          <p:cNvSpPr/>
          <p:nvPr/>
        </p:nvSpPr>
        <p:spPr>
          <a:xfrm>
            <a:off x="4892040" y="2066544"/>
            <a:ext cx="3931920" cy="228600"/>
          </a:xfrm>
          <a:prstGeom prst="rect">
            <a:avLst/>
          </a:prstGeom>
          <a:noFill/>
          <a:ln/>
        </p:spPr>
        <p:txBody>
          <a:bodyPr wrap="square" rtlCol="0" anchor="ctr"/>
          <a:lstStyle/>
          <a:p>
            <a:pPr indent="0" marL="0">
              <a:buNone/>
            </a:pPr>
            <a:r>
              <a:rPr lang="en-US" sz="950" dirty="0">
                <a:solidFill>
                  <a:srgbClr val="0D1B2A"/>
                </a:solidFill>
              </a:rPr>
              <a:t>For: Banks · Insurance · Investment funds</a:t>
            </a:r>
            <a:endParaRPr lang="en-US" sz="950" dirty="0"/>
          </a:p>
        </p:txBody>
      </p:sp>
      <p:sp>
        <p:nvSpPr>
          <p:cNvPr id="17" name="Text 15"/>
          <p:cNvSpPr/>
          <p:nvPr/>
        </p:nvSpPr>
        <p:spPr>
          <a:xfrm>
            <a:off x="4892040" y="2313432"/>
            <a:ext cx="3931920" cy="566928"/>
          </a:xfrm>
          <a:prstGeom prst="rect">
            <a:avLst/>
          </a:prstGeom>
          <a:noFill/>
          <a:ln/>
        </p:spPr>
        <p:txBody>
          <a:bodyPr wrap="square" rtlCol="0" anchor="ctr"/>
          <a:lstStyle/>
          <a:p>
            <a:pPr indent="0" marL="0">
              <a:buNone/>
            </a:pPr>
            <a:r>
              <a:rPr lang="en-US" sz="900" i="1" dirty="0">
                <a:solidFill>
                  <a:srgbClr val="64748B"/>
                </a:solidFill>
              </a:rPr>
              <a:t>Airflow scheduling · prediction intervals essential for risk-weighted capital</a:t>
            </a:r>
            <a:endParaRPr lang="en-US" sz="900" dirty="0"/>
          </a:p>
        </p:txBody>
      </p:sp>
      <p:sp>
        <p:nvSpPr>
          <p:cNvPr id="18" name="Shape 16"/>
          <p:cNvSpPr/>
          <p:nvPr/>
        </p:nvSpPr>
        <p:spPr>
          <a:xfrm>
            <a:off x="365760" y="3163824"/>
            <a:ext cx="4114800" cy="1664208"/>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365760" y="3163824"/>
            <a:ext cx="4114800" cy="411480"/>
          </a:xfrm>
          <a:prstGeom prst="rect">
            <a:avLst/>
          </a:prstGeom>
          <a:solidFill>
            <a:srgbClr val="1A9641"/>
          </a:solidFill>
          <a:ln w="12700">
            <a:solidFill>
              <a:srgbClr val="1A9641"/>
            </a:solidFill>
            <a:prstDash val="solid"/>
          </a:ln>
        </p:spPr>
      </p:sp>
      <p:sp>
        <p:nvSpPr>
          <p:cNvPr id="20" name="Text 18"/>
          <p:cNvSpPr/>
          <p:nvPr/>
        </p:nvSpPr>
        <p:spPr>
          <a:xfrm>
            <a:off x="365760" y="3163824"/>
            <a:ext cx="4114800" cy="411480"/>
          </a:xfrm>
          <a:prstGeom prst="rect">
            <a:avLst/>
          </a:prstGeom>
          <a:noFill/>
          <a:ln/>
        </p:spPr>
        <p:txBody>
          <a:bodyPr wrap="square" lIns="0" tIns="0" rIns="0" bIns="0" rtlCol="0" anchor="ctr"/>
          <a:lstStyle/>
          <a:p>
            <a:pPr algn="ctr" indent="0" marL="0">
              <a:buNone/>
            </a:pPr>
            <a:r>
              <a:rPr lang="en-US" sz="1100" b="1" dirty="0">
                <a:solidFill>
                  <a:srgbClr val="FFFFFF"/>
                </a:solidFill>
              </a:rPr>
              <a:t>Dashboard  ·  Spatial Insight Tool</a:t>
            </a:r>
            <a:endParaRPr lang="en-US" sz="1100" dirty="0"/>
          </a:p>
        </p:txBody>
      </p:sp>
      <p:sp>
        <p:nvSpPr>
          <p:cNvPr id="21" name="Text 19"/>
          <p:cNvSpPr/>
          <p:nvPr/>
        </p:nvSpPr>
        <p:spPr>
          <a:xfrm>
            <a:off x="457200" y="3639312"/>
            <a:ext cx="3931920" cy="228600"/>
          </a:xfrm>
          <a:prstGeom prst="rect">
            <a:avLst/>
          </a:prstGeom>
          <a:noFill/>
          <a:ln/>
        </p:spPr>
        <p:txBody>
          <a:bodyPr wrap="square" rtlCol="0" anchor="ctr"/>
          <a:lstStyle/>
          <a:p>
            <a:pPr indent="0" marL="0">
              <a:buNone/>
            </a:pPr>
            <a:r>
              <a:rPr lang="en-US" sz="1000" b="1" dirty="0">
                <a:solidFill>
                  <a:srgbClr val="1A9641"/>
                </a:solidFill>
              </a:rPr>
              <a:t>Model: GAM + GWR</a:t>
            </a:r>
            <a:endParaRPr lang="en-US" sz="1000" dirty="0"/>
          </a:p>
        </p:txBody>
      </p:sp>
      <p:sp>
        <p:nvSpPr>
          <p:cNvPr id="22" name="Text 20"/>
          <p:cNvSpPr/>
          <p:nvPr/>
        </p:nvSpPr>
        <p:spPr>
          <a:xfrm>
            <a:off x="457200" y="3877056"/>
            <a:ext cx="3931920" cy="228600"/>
          </a:xfrm>
          <a:prstGeom prst="rect">
            <a:avLst/>
          </a:prstGeom>
          <a:noFill/>
          <a:ln/>
        </p:spPr>
        <p:txBody>
          <a:bodyPr wrap="square" rtlCol="0" anchor="ctr"/>
          <a:lstStyle/>
          <a:p>
            <a:pPr indent="0" marL="0">
              <a:buNone/>
            </a:pPr>
            <a:r>
              <a:rPr lang="en-US" sz="950" dirty="0">
                <a:solidFill>
                  <a:srgbClr val="0D1B2A"/>
                </a:solidFill>
              </a:rPr>
              <a:t>For: City planners · Researchers · Policy</a:t>
            </a:r>
            <a:endParaRPr lang="en-US" sz="950" dirty="0"/>
          </a:p>
        </p:txBody>
      </p:sp>
      <p:sp>
        <p:nvSpPr>
          <p:cNvPr id="23" name="Text 21"/>
          <p:cNvSpPr/>
          <p:nvPr/>
        </p:nvSpPr>
        <p:spPr>
          <a:xfrm>
            <a:off x="457200" y="4123944"/>
            <a:ext cx="3931920" cy="566928"/>
          </a:xfrm>
          <a:prstGeom prst="rect">
            <a:avLst/>
          </a:prstGeom>
          <a:noFill/>
          <a:ln/>
        </p:spPr>
        <p:txBody>
          <a:bodyPr wrap="square" rtlCol="0" anchor="ctr"/>
          <a:lstStyle/>
          <a:p>
            <a:pPr indent="0" marL="0">
              <a:buNone/>
            </a:pPr>
            <a:r>
              <a:rPr lang="en-US" sz="900" i="1" dirty="0">
                <a:solidFill>
                  <a:srgbClr val="64748B"/>
                </a:solidFill>
              </a:rPr>
              <a:t>Streamlit + Folium maps · GWR coefficient maps · GAM partial dependence curves</a:t>
            </a:r>
            <a:endParaRPr lang="en-US" sz="900" dirty="0"/>
          </a:p>
        </p:txBody>
      </p:sp>
      <p:sp>
        <p:nvSpPr>
          <p:cNvPr id="24" name="Shape 22"/>
          <p:cNvSpPr/>
          <p:nvPr/>
        </p:nvSpPr>
        <p:spPr>
          <a:xfrm>
            <a:off x="4800600" y="3163824"/>
            <a:ext cx="4114800" cy="1664208"/>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4800600" y="3163824"/>
            <a:ext cx="4114800" cy="411480"/>
          </a:xfrm>
          <a:prstGeom prst="rect">
            <a:avLst/>
          </a:prstGeom>
          <a:solidFill>
            <a:srgbClr val="7B2D8B"/>
          </a:solidFill>
          <a:ln w="12700">
            <a:solidFill>
              <a:srgbClr val="7B2D8B"/>
            </a:solidFill>
            <a:prstDash val="solid"/>
          </a:ln>
        </p:spPr>
      </p:sp>
      <p:sp>
        <p:nvSpPr>
          <p:cNvPr id="26" name="Text 24"/>
          <p:cNvSpPr/>
          <p:nvPr/>
        </p:nvSpPr>
        <p:spPr>
          <a:xfrm>
            <a:off x="4800600" y="3163824"/>
            <a:ext cx="4114800" cy="411480"/>
          </a:xfrm>
          <a:prstGeom prst="rect">
            <a:avLst/>
          </a:prstGeom>
          <a:noFill/>
          <a:ln/>
        </p:spPr>
        <p:txBody>
          <a:bodyPr wrap="square" lIns="0" tIns="0" rIns="0" bIns="0" rtlCol="0" anchor="ctr"/>
          <a:lstStyle/>
          <a:p>
            <a:pPr algn="ctr" indent="0" marL="0">
              <a:buNone/>
            </a:pPr>
            <a:r>
              <a:rPr lang="en-US" sz="1100" b="1" dirty="0">
                <a:solidFill>
                  <a:srgbClr val="FFFFFF"/>
                </a:solidFill>
              </a:rPr>
              <a:t>AVM Ensemble  ·  Automated Valuation</a:t>
            </a:r>
            <a:endParaRPr lang="en-US" sz="1100" dirty="0"/>
          </a:p>
        </p:txBody>
      </p:sp>
      <p:sp>
        <p:nvSpPr>
          <p:cNvPr id="27" name="Text 25"/>
          <p:cNvSpPr/>
          <p:nvPr/>
        </p:nvSpPr>
        <p:spPr>
          <a:xfrm>
            <a:off x="4892040" y="3639312"/>
            <a:ext cx="3931920" cy="228600"/>
          </a:xfrm>
          <a:prstGeom prst="rect">
            <a:avLst/>
          </a:prstGeom>
          <a:noFill/>
          <a:ln/>
        </p:spPr>
        <p:txBody>
          <a:bodyPr wrap="square" rtlCol="0" anchor="ctr"/>
          <a:lstStyle/>
          <a:p>
            <a:pPr indent="0" marL="0">
              <a:buNone/>
            </a:pPr>
            <a:r>
              <a:rPr lang="en-US" sz="1000" b="1" dirty="0">
                <a:solidFill>
                  <a:srgbClr val="7B2D8B"/>
                </a:solidFill>
              </a:rPr>
              <a:t>Model: XGB 50% + RF 30% + GAM 20%</a:t>
            </a:r>
            <a:endParaRPr lang="en-US" sz="1000" dirty="0"/>
          </a:p>
        </p:txBody>
      </p:sp>
      <p:sp>
        <p:nvSpPr>
          <p:cNvPr id="28" name="Text 26"/>
          <p:cNvSpPr/>
          <p:nvPr/>
        </p:nvSpPr>
        <p:spPr>
          <a:xfrm>
            <a:off x="4892040" y="3877056"/>
            <a:ext cx="3931920" cy="228600"/>
          </a:xfrm>
          <a:prstGeom prst="rect">
            <a:avLst/>
          </a:prstGeom>
          <a:noFill/>
          <a:ln/>
        </p:spPr>
        <p:txBody>
          <a:bodyPr wrap="square" rtlCol="0" anchor="ctr"/>
          <a:lstStyle/>
          <a:p>
            <a:pPr indent="0" marL="0">
              <a:buNone/>
            </a:pPr>
            <a:r>
              <a:rPr lang="en-US" sz="950" dirty="0">
                <a:solidFill>
                  <a:srgbClr val="0D1B2A"/>
                </a:solidFill>
              </a:rPr>
              <a:t>For: Appraisers · Underwriting systems</a:t>
            </a:r>
            <a:endParaRPr lang="en-US" sz="950" dirty="0"/>
          </a:p>
        </p:txBody>
      </p:sp>
      <p:sp>
        <p:nvSpPr>
          <p:cNvPr id="29" name="Text 27"/>
          <p:cNvSpPr/>
          <p:nvPr/>
        </p:nvSpPr>
        <p:spPr>
          <a:xfrm>
            <a:off x="4892040" y="4123944"/>
            <a:ext cx="3931920" cy="566928"/>
          </a:xfrm>
          <a:prstGeom prst="rect">
            <a:avLst/>
          </a:prstGeom>
          <a:noFill/>
          <a:ln/>
        </p:spPr>
        <p:txBody>
          <a:bodyPr wrap="square" rtlCol="0" anchor="ctr"/>
          <a:lstStyle/>
          <a:p>
            <a:pPr indent="0" marL="0">
              <a:buNone/>
            </a:pPr>
            <a:r>
              <a:rPr lang="en-US" sz="900" i="1" dirty="0">
                <a:solidFill>
                  <a:srgbClr val="64748B"/>
                </a:solidFill>
              </a:rPr>
              <a:t>Blended score for robustness at distribution edges · retrain every 6 to 12 months</a:t>
            </a:r>
            <a:endParaRPr lang="en-US" sz="900" dirty="0"/>
          </a:p>
        </p:txBody>
      </p:sp>
      <p:sp>
        <p:nvSpPr>
          <p:cNvPr id="30" name="Shape 28"/>
          <p:cNvSpPr/>
          <p:nvPr/>
        </p:nvSpPr>
        <p:spPr>
          <a:xfrm>
            <a:off x="365760" y="4892040"/>
            <a:ext cx="8412480" cy="256032"/>
          </a:xfrm>
          <a:prstGeom prst="rect">
            <a:avLst/>
          </a:prstGeom>
          <a:solidFill>
            <a:srgbClr val="0D1B2A"/>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31" name="Text 29"/>
          <p:cNvSpPr/>
          <p:nvPr/>
        </p:nvSpPr>
        <p:spPr>
          <a:xfrm>
            <a:off x="502920" y="4892040"/>
            <a:ext cx="8138160" cy="256032"/>
          </a:xfrm>
          <a:prstGeom prst="rect">
            <a:avLst/>
          </a:prstGeom>
          <a:noFill/>
          <a:ln/>
        </p:spPr>
        <p:txBody>
          <a:bodyPr wrap="square" lIns="0" tIns="0" rIns="0" bIns="0" rtlCol="0" anchor="ctr"/>
          <a:lstStyle/>
          <a:p>
            <a:pPr algn="ctr" indent="0" marL="0">
              <a:buNone/>
            </a:pPr>
            <a:r>
              <a:rPr lang="en-US" sz="950" dirty="0">
                <a:solidFill>
                  <a:srgbClr val="A8DADC"/>
                </a:solidFill>
              </a:rPr>
              <a:t>Recommended path: REST API &gt; add prediction intervals &gt; build dashboard. Retrain every 6 to 12 months. Model drift in housing markets is real.</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365760" y="164592"/>
            <a:ext cx="1554480" cy="256032"/>
          </a:xfrm>
          <a:prstGeom prst="rect">
            <a:avLst/>
          </a:prstGeom>
          <a:solidFill>
            <a:srgbClr val="1B7A8A"/>
          </a:solidFill>
          <a:ln w="12700">
            <a:solidFill>
              <a:srgbClr val="1B7A8A"/>
            </a:solidFill>
            <a:prstDash val="solid"/>
          </a:ln>
        </p:spPr>
      </p:sp>
      <p:sp>
        <p:nvSpPr>
          <p:cNvPr id="3" name="Text 1"/>
          <p:cNvSpPr/>
          <p:nvPr/>
        </p:nvSpPr>
        <p:spPr>
          <a:xfrm>
            <a:off x="365760" y="164592"/>
            <a:ext cx="1554480" cy="256032"/>
          </a:xfrm>
          <a:prstGeom prst="rect">
            <a:avLst/>
          </a:prstGeom>
          <a:noFill/>
          <a:ln/>
        </p:spPr>
        <p:txBody>
          <a:bodyPr wrap="square" lIns="0" tIns="0" rIns="0" bIns="0" rtlCol="0" anchor="ctr"/>
          <a:lstStyle/>
          <a:p>
            <a:pPr algn="ctr" indent="0" marL="0">
              <a:buNone/>
            </a:pPr>
            <a:r>
              <a:rPr lang="en-US" sz="750" b="1" dirty="0">
                <a:solidFill>
                  <a:srgbClr val="FFFFFF"/>
                </a:solidFill>
              </a:rPr>
              <a:t>FUTURE WORK</a:t>
            </a:r>
            <a:endParaRPr lang="en-US" sz="750" dirty="0"/>
          </a:p>
        </p:txBody>
      </p:sp>
      <p:sp>
        <p:nvSpPr>
          <p:cNvPr id="4" name="Text 2"/>
          <p:cNvSpPr/>
          <p:nvPr/>
        </p:nvSpPr>
        <p:spPr>
          <a:xfrm>
            <a:off x="365760" y="502920"/>
            <a:ext cx="8412480" cy="502920"/>
          </a:xfrm>
          <a:prstGeom prst="rect">
            <a:avLst/>
          </a:prstGeom>
          <a:noFill/>
          <a:ln/>
        </p:spPr>
        <p:txBody>
          <a:bodyPr wrap="square" rtlCol="0" anchor="ctr"/>
          <a:lstStyle/>
          <a:p>
            <a:pPr indent="0" marL="0">
              <a:buNone/>
            </a:pPr>
            <a:r>
              <a:rPr lang="en-US" sz="2400" b="1" dirty="0">
                <a:solidFill>
                  <a:srgbClr val="0D1B2A"/>
                </a:solidFill>
                <a:latin typeface="Calibri" pitchFamily="34" charset="0"/>
                <a:ea typeface="Calibri" pitchFamily="34" charset="-122"/>
                <a:cs typeface="Calibri" pitchFamily="34" charset="-120"/>
              </a:rPr>
              <a:t>Open Questions: Better Than the Ones We Answered</a:t>
            </a:r>
            <a:endParaRPr lang="en-US" sz="2400" dirty="0"/>
          </a:p>
        </p:txBody>
      </p:sp>
      <p:sp>
        <p:nvSpPr>
          <p:cNvPr id="5" name="Shape 3"/>
          <p:cNvSpPr/>
          <p:nvPr/>
        </p:nvSpPr>
        <p:spPr>
          <a:xfrm>
            <a:off x="365760" y="1371600"/>
            <a:ext cx="2743200" cy="16916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65760" y="1371600"/>
            <a:ext cx="2743200" cy="73152"/>
          </a:xfrm>
          <a:prstGeom prst="rect">
            <a:avLst/>
          </a:prstGeom>
          <a:solidFill>
            <a:srgbClr val="1B7A8A"/>
          </a:solidFill>
          <a:ln w="12700">
            <a:solidFill>
              <a:srgbClr val="1B7A8A"/>
            </a:solidFill>
            <a:prstDash val="solid"/>
          </a:ln>
        </p:spPr>
      </p:sp>
      <p:sp>
        <p:nvSpPr>
          <p:cNvPr id="7" name="Text 5"/>
          <p:cNvSpPr/>
          <p:nvPr/>
        </p:nvSpPr>
        <p:spPr>
          <a:xfrm>
            <a:off x="365760" y="1444752"/>
            <a:ext cx="457200" cy="1618488"/>
          </a:xfrm>
          <a:prstGeom prst="rect">
            <a:avLst/>
          </a:prstGeom>
          <a:noFill/>
          <a:ln/>
        </p:spPr>
        <p:txBody>
          <a:bodyPr wrap="square" rtlCol="0" anchor="t"/>
          <a:lstStyle/>
          <a:p>
            <a:pPr algn="ctr" indent="0" marL="0">
              <a:buNone/>
            </a:pPr>
            <a:r>
              <a:rPr lang="en-US" sz="2200" b="1" dirty="0">
                <a:solidFill>
                  <a:srgbClr val="1B7A8A"/>
                </a:solidFill>
              </a:rPr>
              <a:t>01</a:t>
            </a:r>
            <a:endParaRPr lang="en-US" sz="2200" dirty="0"/>
          </a:p>
        </p:txBody>
      </p:sp>
      <p:sp>
        <p:nvSpPr>
          <p:cNvPr id="8" name="Text 6"/>
          <p:cNvSpPr/>
          <p:nvPr/>
        </p:nvSpPr>
        <p:spPr>
          <a:xfrm>
            <a:off x="868680" y="1481328"/>
            <a:ext cx="2148840" cy="365760"/>
          </a:xfrm>
          <a:prstGeom prst="rect">
            <a:avLst/>
          </a:prstGeom>
          <a:noFill/>
          <a:ln/>
        </p:spPr>
        <p:txBody>
          <a:bodyPr wrap="square" rtlCol="0" anchor="ctr"/>
          <a:lstStyle/>
          <a:p>
            <a:pPr indent="0" marL="0">
              <a:buNone/>
            </a:pPr>
            <a:r>
              <a:rPr lang="en-US" sz="950" b="1" dirty="0">
                <a:solidFill>
                  <a:srgbClr val="0D1B2A"/>
                </a:solidFill>
              </a:rPr>
              <a:t>Spatial Cross-Regressive (SLX)</a:t>
            </a:r>
            <a:endParaRPr lang="en-US" sz="950" dirty="0"/>
          </a:p>
        </p:txBody>
      </p:sp>
      <p:sp>
        <p:nvSpPr>
          <p:cNvPr id="9" name="Text 7"/>
          <p:cNvSpPr/>
          <p:nvPr/>
        </p:nvSpPr>
        <p:spPr>
          <a:xfrm>
            <a:off x="868680" y="1874520"/>
            <a:ext cx="2148840" cy="1097280"/>
          </a:xfrm>
          <a:prstGeom prst="rect">
            <a:avLst/>
          </a:prstGeom>
          <a:noFill/>
          <a:ln/>
        </p:spPr>
        <p:txBody>
          <a:bodyPr wrap="square" rtlCol="0" anchor="ctr"/>
          <a:lstStyle/>
          <a:p>
            <a:pPr indent="0" marL="0">
              <a:buNone/>
            </a:pPr>
            <a:r>
              <a:rPr lang="en-US" sz="900" dirty="0">
                <a:solidFill>
                  <a:srgbClr val="64748B"/>
                </a:solidFill>
              </a:rPr>
              <a:t>y = X*beta + WX*gamma + epsilon. Adds spatially lagged independent variables: neighbours' income and density influence your price, without SLM's endogeneity problem.</a:t>
            </a:r>
            <a:endParaRPr lang="en-US" sz="900" dirty="0"/>
          </a:p>
        </p:txBody>
      </p:sp>
      <p:sp>
        <p:nvSpPr>
          <p:cNvPr id="10" name="Shape 8"/>
          <p:cNvSpPr/>
          <p:nvPr/>
        </p:nvSpPr>
        <p:spPr>
          <a:xfrm>
            <a:off x="3291840" y="1371600"/>
            <a:ext cx="2743200" cy="16916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291840" y="1371600"/>
            <a:ext cx="2743200" cy="73152"/>
          </a:xfrm>
          <a:prstGeom prst="rect">
            <a:avLst/>
          </a:prstGeom>
          <a:solidFill>
            <a:srgbClr val="2C7BB6"/>
          </a:solidFill>
          <a:ln w="12700">
            <a:solidFill>
              <a:srgbClr val="2C7BB6"/>
            </a:solidFill>
            <a:prstDash val="solid"/>
          </a:ln>
        </p:spPr>
      </p:sp>
      <p:sp>
        <p:nvSpPr>
          <p:cNvPr id="12" name="Text 10"/>
          <p:cNvSpPr/>
          <p:nvPr/>
        </p:nvSpPr>
        <p:spPr>
          <a:xfrm>
            <a:off x="3291840" y="1444752"/>
            <a:ext cx="457200" cy="1618488"/>
          </a:xfrm>
          <a:prstGeom prst="rect">
            <a:avLst/>
          </a:prstGeom>
          <a:noFill/>
          <a:ln/>
        </p:spPr>
        <p:txBody>
          <a:bodyPr wrap="square" rtlCol="0" anchor="t"/>
          <a:lstStyle/>
          <a:p>
            <a:pPr algn="ctr" indent="0" marL="0">
              <a:buNone/>
            </a:pPr>
            <a:r>
              <a:rPr lang="en-US" sz="2200" b="1" dirty="0">
                <a:solidFill>
                  <a:srgbClr val="2C7BB6"/>
                </a:solidFill>
              </a:rPr>
              <a:t>02</a:t>
            </a:r>
            <a:endParaRPr lang="en-US" sz="2200" dirty="0"/>
          </a:p>
        </p:txBody>
      </p:sp>
      <p:sp>
        <p:nvSpPr>
          <p:cNvPr id="13" name="Text 11"/>
          <p:cNvSpPr/>
          <p:nvPr/>
        </p:nvSpPr>
        <p:spPr>
          <a:xfrm>
            <a:off x="3794760" y="1481328"/>
            <a:ext cx="2148840" cy="365760"/>
          </a:xfrm>
          <a:prstGeom prst="rect">
            <a:avLst/>
          </a:prstGeom>
          <a:noFill/>
          <a:ln/>
        </p:spPr>
        <p:txBody>
          <a:bodyPr wrap="square" rtlCol="0" anchor="ctr"/>
          <a:lstStyle/>
          <a:p>
            <a:pPr indent="0" marL="0">
              <a:buNone/>
            </a:pPr>
            <a:r>
              <a:rPr lang="en-US" sz="950" b="1" dirty="0">
                <a:solidFill>
                  <a:srgbClr val="0D1B2A"/>
                </a:solidFill>
              </a:rPr>
              <a:t>Geographically Weighted RF</a:t>
            </a:r>
            <a:endParaRPr lang="en-US" sz="950" dirty="0"/>
          </a:p>
        </p:txBody>
      </p:sp>
      <p:sp>
        <p:nvSpPr>
          <p:cNvPr id="14" name="Text 12"/>
          <p:cNvSpPr/>
          <p:nvPr/>
        </p:nvSpPr>
        <p:spPr>
          <a:xfrm>
            <a:off x="3794760" y="1874520"/>
            <a:ext cx="2148840" cy="1097280"/>
          </a:xfrm>
          <a:prstGeom prst="rect">
            <a:avLst/>
          </a:prstGeom>
          <a:noFill/>
          <a:ln/>
        </p:spPr>
        <p:txBody>
          <a:bodyPr wrap="square" rtlCol="0" anchor="ctr"/>
          <a:lstStyle/>
          <a:p>
            <a:pPr indent="0" marL="0">
              <a:buNone/>
            </a:pPr>
            <a:r>
              <a:rPr lang="en-US" sz="900" dirty="0">
                <a:solidFill>
                  <a:srgbClr val="64748B"/>
                </a:solidFill>
              </a:rPr>
              <a:t>Combine GWR's spatial localisation with ensemble nonlinearity. Locally-weighted RF at each location, closing the gap between spatial econometrics and ML.</a:t>
            </a:r>
            <a:endParaRPr lang="en-US" sz="900" dirty="0"/>
          </a:p>
        </p:txBody>
      </p:sp>
      <p:sp>
        <p:nvSpPr>
          <p:cNvPr id="15" name="Shape 13"/>
          <p:cNvSpPr/>
          <p:nvPr/>
        </p:nvSpPr>
        <p:spPr>
          <a:xfrm>
            <a:off x="6217920" y="1371600"/>
            <a:ext cx="2743200" cy="16916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6217920" y="1371600"/>
            <a:ext cx="2743200" cy="73152"/>
          </a:xfrm>
          <a:prstGeom prst="rect">
            <a:avLst/>
          </a:prstGeom>
          <a:solidFill>
            <a:srgbClr val="FDAE61"/>
          </a:solidFill>
          <a:ln w="12700">
            <a:solidFill>
              <a:srgbClr val="FDAE61"/>
            </a:solidFill>
            <a:prstDash val="solid"/>
          </a:ln>
        </p:spPr>
      </p:sp>
      <p:sp>
        <p:nvSpPr>
          <p:cNvPr id="17" name="Text 15"/>
          <p:cNvSpPr/>
          <p:nvPr/>
        </p:nvSpPr>
        <p:spPr>
          <a:xfrm>
            <a:off x="6217920" y="1444752"/>
            <a:ext cx="457200" cy="1618488"/>
          </a:xfrm>
          <a:prstGeom prst="rect">
            <a:avLst/>
          </a:prstGeom>
          <a:noFill/>
          <a:ln/>
        </p:spPr>
        <p:txBody>
          <a:bodyPr wrap="square" rtlCol="0" anchor="t"/>
          <a:lstStyle/>
          <a:p>
            <a:pPr algn="ctr" indent="0" marL="0">
              <a:buNone/>
            </a:pPr>
            <a:r>
              <a:rPr lang="en-US" sz="2200" b="1" dirty="0">
                <a:solidFill>
                  <a:srgbClr val="FDAE61"/>
                </a:solidFill>
              </a:rPr>
              <a:t>03</a:t>
            </a:r>
            <a:endParaRPr lang="en-US" sz="2200" dirty="0"/>
          </a:p>
        </p:txBody>
      </p:sp>
      <p:sp>
        <p:nvSpPr>
          <p:cNvPr id="18" name="Text 16"/>
          <p:cNvSpPr/>
          <p:nvPr/>
        </p:nvSpPr>
        <p:spPr>
          <a:xfrm>
            <a:off x="6720840" y="1481328"/>
            <a:ext cx="2148840" cy="365760"/>
          </a:xfrm>
          <a:prstGeom prst="rect">
            <a:avLst/>
          </a:prstGeom>
          <a:noFill/>
          <a:ln/>
        </p:spPr>
        <p:txBody>
          <a:bodyPr wrap="square" rtlCol="0" anchor="ctr"/>
          <a:lstStyle/>
          <a:p>
            <a:pPr indent="0" marL="0">
              <a:buNone/>
            </a:pPr>
            <a:r>
              <a:rPr lang="en-US" sz="950" b="1" dirty="0">
                <a:solidFill>
                  <a:srgbClr val="0D1B2A"/>
                </a:solidFill>
              </a:rPr>
              <a:t>Moran's I on ML Residuals</a:t>
            </a:r>
            <a:endParaRPr lang="en-US" sz="950" dirty="0"/>
          </a:p>
        </p:txBody>
      </p:sp>
      <p:sp>
        <p:nvSpPr>
          <p:cNvPr id="19" name="Text 17"/>
          <p:cNvSpPr/>
          <p:nvPr/>
        </p:nvSpPr>
        <p:spPr>
          <a:xfrm>
            <a:off x="6720840" y="1874520"/>
            <a:ext cx="2148840" cy="1097280"/>
          </a:xfrm>
          <a:prstGeom prst="rect">
            <a:avLst/>
          </a:prstGeom>
          <a:noFill/>
          <a:ln/>
        </p:spPr>
        <p:txBody>
          <a:bodyPr wrap="square" rtlCol="0" anchor="ctr"/>
          <a:lstStyle/>
          <a:p>
            <a:pPr indent="0" marL="0">
              <a:buNone/>
            </a:pPr>
            <a:r>
              <a:rPr lang="en-US" sz="900" dirty="0">
                <a:solidFill>
                  <a:srgbClr val="64748B"/>
                </a:solidFill>
              </a:rPr>
              <a:t>We tested OLS. Does XGBoost fully absorb the spatial signal? If Moran's I remains significant on ensemble residuals, it quantifies the motivation for GWRF directly.</a:t>
            </a:r>
            <a:endParaRPr lang="en-US" sz="900" dirty="0"/>
          </a:p>
        </p:txBody>
      </p:sp>
      <p:sp>
        <p:nvSpPr>
          <p:cNvPr id="20" name="Shape 18"/>
          <p:cNvSpPr/>
          <p:nvPr/>
        </p:nvSpPr>
        <p:spPr>
          <a:xfrm>
            <a:off x="365760" y="3246120"/>
            <a:ext cx="2743200" cy="16916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365760" y="3246120"/>
            <a:ext cx="2743200" cy="73152"/>
          </a:xfrm>
          <a:prstGeom prst="rect">
            <a:avLst/>
          </a:prstGeom>
          <a:solidFill>
            <a:srgbClr val="1A9641"/>
          </a:solidFill>
          <a:ln w="12700">
            <a:solidFill>
              <a:srgbClr val="1A9641"/>
            </a:solidFill>
            <a:prstDash val="solid"/>
          </a:ln>
        </p:spPr>
      </p:sp>
      <p:sp>
        <p:nvSpPr>
          <p:cNvPr id="22" name="Text 20"/>
          <p:cNvSpPr/>
          <p:nvPr/>
        </p:nvSpPr>
        <p:spPr>
          <a:xfrm>
            <a:off x="365760" y="3319272"/>
            <a:ext cx="457200" cy="1618488"/>
          </a:xfrm>
          <a:prstGeom prst="rect">
            <a:avLst/>
          </a:prstGeom>
          <a:noFill/>
          <a:ln/>
        </p:spPr>
        <p:txBody>
          <a:bodyPr wrap="square" rtlCol="0" anchor="t"/>
          <a:lstStyle/>
          <a:p>
            <a:pPr algn="ctr" indent="0" marL="0">
              <a:buNone/>
            </a:pPr>
            <a:r>
              <a:rPr lang="en-US" sz="2200" b="1" dirty="0">
                <a:solidFill>
                  <a:srgbClr val="1A9641"/>
                </a:solidFill>
              </a:rPr>
              <a:t>04</a:t>
            </a:r>
            <a:endParaRPr lang="en-US" sz="2200" dirty="0"/>
          </a:p>
        </p:txBody>
      </p:sp>
      <p:sp>
        <p:nvSpPr>
          <p:cNvPr id="23" name="Text 21"/>
          <p:cNvSpPr/>
          <p:nvPr/>
        </p:nvSpPr>
        <p:spPr>
          <a:xfrm>
            <a:off x="868680" y="3355848"/>
            <a:ext cx="2148840" cy="365760"/>
          </a:xfrm>
          <a:prstGeom prst="rect">
            <a:avLst/>
          </a:prstGeom>
          <a:noFill/>
          <a:ln/>
        </p:spPr>
        <p:txBody>
          <a:bodyPr wrap="square" rtlCol="0" anchor="ctr"/>
          <a:lstStyle/>
          <a:p>
            <a:pPr indent="0" marL="0">
              <a:buNone/>
            </a:pPr>
            <a:r>
              <a:rPr lang="en-US" sz="950" b="1" dirty="0">
                <a:solidFill>
                  <a:srgbClr val="0D1B2A"/>
                </a:solidFill>
              </a:rPr>
              <a:t>Temporal Panel Analysis</a:t>
            </a:r>
            <a:endParaRPr lang="en-US" sz="950" dirty="0"/>
          </a:p>
        </p:txBody>
      </p:sp>
      <p:sp>
        <p:nvSpPr>
          <p:cNvPr id="24" name="Text 22"/>
          <p:cNvSpPr/>
          <p:nvPr/>
        </p:nvSpPr>
        <p:spPr>
          <a:xfrm>
            <a:off x="868680" y="3749040"/>
            <a:ext cx="2148840" cy="1097280"/>
          </a:xfrm>
          <a:prstGeom prst="rect">
            <a:avLst/>
          </a:prstGeom>
          <a:noFill/>
          <a:ln/>
        </p:spPr>
        <p:txBody>
          <a:bodyPr wrap="square" rtlCol="0" anchor="ctr"/>
          <a:lstStyle/>
          <a:p>
            <a:pPr indent="0" marL="0">
              <a:buNone/>
            </a:pPr>
            <a:r>
              <a:rPr lang="en-US" sz="900" dirty="0">
                <a:solidFill>
                  <a:srgbClr val="64748B"/>
                </a:solidFill>
              </a:rPr>
              <a:t>Track block groups across Census years. Do spatial autoregressive coefficients increase with gentrification? Does income-location interaction shift over time?</a:t>
            </a:r>
            <a:endParaRPr lang="en-US" sz="900" dirty="0"/>
          </a:p>
        </p:txBody>
      </p:sp>
      <p:sp>
        <p:nvSpPr>
          <p:cNvPr id="25" name="Shape 23"/>
          <p:cNvSpPr/>
          <p:nvPr/>
        </p:nvSpPr>
        <p:spPr>
          <a:xfrm>
            <a:off x="3291840" y="3246120"/>
            <a:ext cx="2743200" cy="16916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3291840" y="3246120"/>
            <a:ext cx="2743200" cy="73152"/>
          </a:xfrm>
          <a:prstGeom prst="rect">
            <a:avLst/>
          </a:prstGeom>
          <a:solidFill>
            <a:srgbClr val="D7191C"/>
          </a:solidFill>
          <a:ln w="12700">
            <a:solidFill>
              <a:srgbClr val="D7191C"/>
            </a:solidFill>
            <a:prstDash val="solid"/>
          </a:ln>
        </p:spPr>
      </p:sp>
      <p:sp>
        <p:nvSpPr>
          <p:cNvPr id="27" name="Text 25"/>
          <p:cNvSpPr/>
          <p:nvPr/>
        </p:nvSpPr>
        <p:spPr>
          <a:xfrm>
            <a:off x="3291840" y="3319272"/>
            <a:ext cx="457200" cy="1618488"/>
          </a:xfrm>
          <a:prstGeom prst="rect">
            <a:avLst/>
          </a:prstGeom>
          <a:noFill/>
          <a:ln/>
        </p:spPr>
        <p:txBody>
          <a:bodyPr wrap="square" rtlCol="0" anchor="t"/>
          <a:lstStyle/>
          <a:p>
            <a:pPr algn="ctr" indent="0" marL="0">
              <a:buNone/>
            </a:pPr>
            <a:r>
              <a:rPr lang="en-US" sz="2200" b="1" dirty="0">
                <a:solidFill>
                  <a:srgbClr val="D7191C"/>
                </a:solidFill>
              </a:rPr>
              <a:t>05</a:t>
            </a:r>
            <a:endParaRPr lang="en-US" sz="2200" dirty="0"/>
          </a:p>
        </p:txBody>
      </p:sp>
      <p:sp>
        <p:nvSpPr>
          <p:cNvPr id="28" name="Text 26"/>
          <p:cNvSpPr/>
          <p:nvPr/>
        </p:nvSpPr>
        <p:spPr>
          <a:xfrm>
            <a:off x="3794760" y="3355848"/>
            <a:ext cx="2148840" cy="365760"/>
          </a:xfrm>
          <a:prstGeom prst="rect">
            <a:avLst/>
          </a:prstGeom>
          <a:noFill/>
          <a:ln/>
        </p:spPr>
        <p:txBody>
          <a:bodyPr wrap="square" rtlCol="0" anchor="ctr"/>
          <a:lstStyle/>
          <a:p>
            <a:pPr indent="0" marL="0">
              <a:buNone/>
            </a:pPr>
            <a:r>
              <a:rPr lang="en-US" sz="950" b="1" dirty="0">
                <a:solidFill>
                  <a:srgbClr val="0D1B2A"/>
                </a:solidFill>
              </a:rPr>
              <a:t>Uncertainty Quantification</a:t>
            </a:r>
            <a:endParaRPr lang="en-US" sz="950" dirty="0"/>
          </a:p>
        </p:txBody>
      </p:sp>
      <p:sp>
        <p:nvSpPr>
          <p:cNvPr id="29" name="Text 27"/>
          <p:cNvSpPr/>
          <p:nvPr/>
        </p:nvSpPr>
        <p:spPr>
          <a:xfrm>
            <a:off x="3794760" y="3749040"/>
            <a:ext cx="2148840" cy="1097280"/>
          </a:xfrm>
          <a:prstGeom prst="rect">
            <a:avLst/>
          </a:prstGeom>
          <a:noFill/>
          <a:ln/>
        </p:spPr>
        <p:txBody>
          <a:bodyPr wrap="square" rtlCol="0" anchor="ctr"/>
          <a:lstStyle/>
          <a:p>
            <a:pPr indent="0" marL="0">
              <a:buNone/>
            </a:pPr>
            <a:r>
              <a:rPr lang="en-US" sz="900" dirty="0">
                <a:solidFill>
                  <a:srgbClr val="64748B"/>
                </a:solidFill>
              </a:rPr>
              <a:t>Every prediction here is a point estimate. Conformal prediction or quantile regression forests provide distribution-free intervals, essential for any financial deployment.</a:t>
            </a:r>
            <a:endParaRPr lang="en-US" sz="900" dirty="0"/>
          </a:p>
        </p:txBody>
      </p:sp>
      <p:sp>
        <p:nvSpPr>
          <p:cNvPr id="30" name="Shape 28"/>
          <p:cNvSpPr/>
          <p:nvPr/>
        </p:nvSpPr>
        <p:spPr>
          <a:xfrm>
            <a:off x="6217920" y="3246120"/>
            <a:ext cx="2743200" cy="1691640"/>
          </a:xfrm>
          <a:prstGeom prst="rect">
            <a:avLst/>
          </a:prstGeom>
          <a:solidFill>
            <a:srgbClr val="FFFFFF"/>
          </a:solidFill>
          <a:ln w="12700">
            <a:solidFill>
              <a:srgbClr val="E2EAF0"/>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6217920" y="3246120"/>
            <a:ext cx="2743200" cy="73152"/>
          </a:xfrm>
          <a:prstGeom prst="rect">
            <a:avLst/>
          </a:prstGeom>
          <a:solidFill>
            <a:srgbClr val="7B2D8B"/>
          </a:solidFill>
          <a:ln w="12700">
            <a:solidFill>
              <a:srgbClr val="7B2D8B"/>
            </a:solidFill>
            <a:prstDash val="solid"/>
          </a:ln>
        </p:spPr>
      </p:sp>
      <p:sp>
        <p:nvSpPr>
          <p:cNvPr id="32" name="Text 30"/>
          <p:cNvSpPr/>
          <p:nvPr/>
        </p:nvSpPr>
        <p:spPr>
          <a:xfrm>
            <a:off x="6217920" y="3319272"/>
            <a:ext cx="457200" cy="1618488"/>
          </a:xfrm>
          <a:prstGeom prst="rect">
            <a:avLst/>
          </a:prstGeom>
          <a:noFill/>
          <a:ln/>
        </p:spPr>
        <p:txBody>
          <a:bodyPr wrap="square" rtlCol="0" anchor="t"/>
          <a:lstStyle/>
          <a:p>
            <a:pPr algn="ctr" indent="0" marL="0">
              <a:buNone/>
            </a:pPr>
            <a:r>
              <a:rPr lang="en-US" sz="2200" b="1" dirty="0">
                <a:solidFill>
                  <a:srgbClr val="7B2D8B"/>
                </a:solidFill>
              </a:rPr>
              <a:t>06</a:t>
            </a:r>
            <a:endParaRPr lang="en-US" sz="2200" dirty="0"/>
          </a:p>
        </p:txBody>
      </p:sp>
      <p:sp>
        <p:nvSpPr>
          <p:cNvPr id="33" name="Text 31"/>
          <p:cNvSpPr/>
          <p:nvPr/>
        </p:nvSpPr>
        <p:spPr>
          <a:xfrm>
            <a:off x="6720840" y="3355848"/>
            <a:ext cx="2148840" cy="365760"/>
          </a:xfrm>
          <a:prstGeom prst="rect">
            <a:avLst/>
          </a:prstGeom>
          <a:noFill/>
          <a:ln/>
        </p:spPr>
        <p:txBody>
          <a:bodyPr wrap="square" rtlCol="0" anchor="ctr"/>
          <a:lstStyle/>
          <a:p>
            <a:pPr indent="0" marL="0">
              <a:buNone/>
            </a:pPr>
            <a:r>
              <a:rPr lang="en-US" sz="950" b="1" dirty="0">
                <a:solidFill>
                  <a:srgbClr val="0D1B2A"/>
                </a:solidFill>
              </a:rPr>
              <a:t>Causal Inference Extension</a:t>
            </a:r>
            <a:endParaRPr lang="en-US" sz="950" dirty="0"/>
          </a:p>
        </p:txBody>
      </p:sp>
      <p:sp>
        <p:nvSpPr>
          <p:cNvPr id="34" name="Text 32"/>
          <p:cNvSpPr/>
          <p:nvPr/>
        </p:nvSpPr>
        <p:spPr>
          <a:xfrm>
            <a:off x="6720840" y="3749040"/>
            <a:ext cx="2148840" cy="1097280"/>
          </a:xfrm>
          <a:prstGeom prst="rect">
            <a:avLst/>
          </a:prstGeom>
          <a:noFill/>
          <a:ln/>
        </p:spPr>
        <p:txBody>
          <a:bodyPr wrap="square" rtlCol="0" anchor="ctr"/>
          <a:lstStyle/>
          <a:p>
            <a:pPr indent="0" marL="0">
              <a:buNone/>
            </a:pPr>
            <a:r>
              <a:rPr lang="en-US" sz="900" dirty="0">
                <a:solidFill>
                  <a:srgbClr val="64748B"/>
                </a:solidFill>
              </a:rPr>
              <a:t>All models here are predictive, not causal. Instrumental variables (historical zoning) or regression discontinuity (school district boundaries) yield policy-relevant causal claims.</a:t>
            </a:r>
            <a:endParaRPr lang="en-US" sz="900" dirty="0"/>
          </a:p>
        </p:txBody>
      </p:sp>
      <p:sp>
        <p:nvSpPr>
          <p:cNvPr id="35" name="Text 33"/>
          <p:cNvSpPr/>
          <p:nvPr/>
        </p:nvSpPr>
        <p:spPr>
          <a:xfrm>
            <a:off x="365760" y="5010912"/>
            <a:ext cx="8412480" cy="228600"/>
          </a:xfrm>
          <a:prstGeom prst="rect">
            <a:avLst/>
          </a:prstGeom>
          <a:noFill/>
          <a:ln/>
        </p:spPr>
        <p:txBody>
          <a:bodyPr wrap="square" rtlCol="0" anchor="ctr"/>
          <a:lstStyle/>
          <a:p>
            <a:pPr algn="ctr" indent="0" marL="0">
              <a:buNone/>
            </a:pPr>
            <a:r>
              <a:rPr lang="en-US" sz="1000" i="1" dirty="0">
                <a:solidFill>
                  <a:srgbClr val="64748B"/>
                </a:solidFill>
              </a:rPr>
              <a:t>"The best analyses leave the reader with better questions than they arrived with."</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1B7A8A"/>
          </a:solidFill>
          <a:ln w="12700">
            <a:solidFill>
              <a:srgbClr val="1B7A8A"/>
            </a:solidFill>
            <a:prstDash val="solid"/>
          </a:ln>
        </p:spPr>
      </p:sp>
      <p:sp>
        <p:nvSpPr>
          <p:cNvPr id="3" name="Text 1"/>
          <p:cNvSpPr/>
          <p:nvPr/>
        </p:nvSpPr>
        <p:spPr>
          <a:xfrm>
            <a:off x="548640" y="640080"/>
            <a:ext cx="8046720" cy="164592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California housing is a nonlinear,</a:t>
            </a:r>
            <a:endParaRPr lang="en-US" sz="3200" dirty="0"/>
          </a:p>
          <a:p>
            <a:pPr indent="0" marL="0">
              <a:buNone/>
            </a:pPr>
            <a:r>
              <a:rPr lang="en-US" sz="3200" b="1" dirty="0">
                <a:solidFill>
                  <a:srgbClr val="FFFFFF"/>
                </a:solidFill>
                <a:latin typeface="Calibri" pitchFamily="34" charset="0"/>
                <a:ea typeface="Calibri" pitchFamily="34" charset="-122"/>
                <a:cs typeface="Calibri" pitchFamily="34" charset="-120"/>
              </a:rPr>
              <a:t>spatially structured world.</a:t>
            </a:r>
            <a:endParaRPr lang="en-US" sz="3200" dirty="0"/>
          </a:p>
        </p:txBody>
      </p:sp>
      <p:sp>
        <p:nvSpPr>
          <p:cNvPr id="4" name="Shape 2"/>
          <p:cNvSpPr/>
          <p:nvPr/>
        </p:nvSpPr>
        <p:spPr>
          <a:xfrm>
            <a:off x="548640" y="2377440"/>
            <a:ext cx="3200400" cy="36576"/>
          </a:xfrm>
          <a:prstGeom prst="rect">
            <a:avLst/>
          </a:prstGeom>
          <a:solidFill>
            <a:srgbClr val="1B7A8A"/>
          </a:solidFill>
          <a:ln w="12700">
            <a:solidFill>
              <a:srgbClr val="1B7A8A"/>
            </a:solidFill>
            <a:prstDash val="solid"/>
          </a:ln>
        </p:spPr>
      </p:sp>
      <p:sp>
        <p:nvSpPr>
          <p:cNvPr id="5" name="Text 3"/>
          <p:cNvSpPr/>
          <p:nvPr/>
        </p:nvSpPr>
        <p:spPr>
          <a:xfrm>
            <a:off x="548640" y="2514600"/>
            <a:ext cx="8046720" cy="548640"/>
          </a:xfrm>
          <a:prstGeom prst="rect">
            <a:avLst/>
          </a:prstGeom>
          <a:noFill/>
          <a:ln/>
        </p:spPr>
        <p:txBody>
          <a:bodyPr wrap="square" rtlCol="0" anchor="ctr"/>
          <a:lstStyle/>
          <a:p>
            <a:pPr indent="0" marL="0">
              <a:buNone/>
            </a:pPr>
            <a:r>
              <a:rPr lang="en-US" sz="1500" i="1" dirty="0">
                <a:solidFill>
                  <a:srgbClr val="A8DADC"/>
                </a:solidFill>
              </a:rPr>
              <a:t>We have mapped its contours, measured its gradients, and modelled the forces that shape it.</a:t>
            </a:r>
            <a:endParaRPr lang="en-US" sz="1500" dirty="0"/>
          </a:p>
        </p:txBody>
      </p:sp>
      <p:sp>
        <p:nvSpPr>
          <p:cNvPr id="6" name="Text 4"/>
          <p:cNvSpPr/>
          <p:nvPr/>
        </p:nvSpPr>
        <p:spPr>
          <a:xfrm>
            <a:off x="548640" y="3246120"/>
            <a:ext cx="2011680" cy="594360"/>
          </a:xfrm>
          <a:prstGeom prst="rect">
            <a:avLst/>
          </a:prstGeom>
          <a:noFill/>
          <a:ln/>
        </p:spPr>
        <p:txBody>
          <a:bodyPr wrap="square" rtlCol="0" anchor="ctr"/>
          <a:lstStyle/>
          <a:p>
            <a:pPr algn="ctr" indent="0" marL="0">
              <a:buNone/>
            </a:pPr>
            <a:r>
              <a:rPr lang="en-US" sz="2800" b="1" dirty="0">
                <a:solidFill>
                  <a:srgbClr val="1B7A8A"/>
                </a:solidFill>
              </a:rPr>
              <a:t>0.851</a:t>
            </a:r>
            <a:endParaRPr lang="en-US" sz="2800" dirty="0"/>
          </a:p>
        </p:txBody>
      </p:sp>
      <p:sp>
        <p:nvSpPr>
          <p:cNvPr id="7" name="Text 5"/>
          <p:cNvSpPr/>
          <p:nvPr/>
        </p:nvSpPr>
        <p:spPr>
          <a:xfrm>
            <a:off x="548640" y="3840480"/>
            <a:ext cx="2011680" cy="502920"/>
          </a:xfrm>
          <a:prstGeom prst="rect">
            <a:avLst/>
          </a:prstGeom>
          <a:noFill/>
          <a:ln/>
        </p:spPr>
        <p:txBody>
          <a:bodyPr wrap="square" rtlCol="0" anchor="ctr"/>
          <a:lstStyle/>
          <a:p>
            <a:pPr algn="ctr" indent="0" marL="0">
              <a:buNone/>
            </a:pPr>
            <a:r>
              <a:rPr lang="en-US" sz="850" dirty="0">
                <a:solidFill>
                  <a:srgbClr val="CADCFC"/>
                </a:solidFill>
              </a:rPr>
              <a:t>Best R²</a:t>
            </a:r>
            <a:endParaRPr lang="en-US" sz="850" dirty="0"/>
          </a:p>
          <a:p>
            <a:pPr algn="ctr" indent="0" marL="0">
              <a:buNone/>
            </a:pPr>
            <a:r>
              <a:rPr lang="en-US" sz="850" dirty="0">
                <a:solidFill>
                  <a:srgbClr val="CADCFC"/>
                </a:solidFill>
              </a:rPr>
              <a:t>(XGBoost, full)</a:t>
            </a:r>
            <a:endParaRPr lang="en-US" sz="850" dirty="0"/>
          </a:p>
        </p:txBody>
      </p:sp>
      <p:sp>
        <p:nvSpPr>
          <p:cNvPr id="8" name="Text 6"/>
          <p:cNvSpPr/>
          <p:nvPr/>
        </p:nvSpPr>
        <p:spPr>
          <a:xfrm>
            <a:off x="2697480" y="3246120"/>
            <a:ext cx="2011680" cy="594360"/>
          </a:xfrm>
          <a:prstGeom prst="rect">
            <a:avLst/>
          </a:prstGeom>
          <a:noFill/>
          <a:ln/>
        </p:spPr>
        <p:txBody>
          <a:bodyPr wrap="square" rtlCol="0" anchor="ctr"/>
          <a:lstStyle/>
          <a:p>
            <a:pPr algn="ctr" indent="0" marL="0">
              <a:buNone/>
            </a:pPr>
            <a:r>
              <a:rPr lang="en-US" sz="2800" b="1" dirty="0">
                <a:solidFill>
                  <a:srgbClr val="1B7A8A"/>
                </a:solidFill>
              </a:rPr>
              <a:t>0.687</a:t>
            </a:r>
            <a:endParaRPr lang="en-US" sz="2800" dirty="0"/>
          </a:p>
        </p:txBody>
      </p:sp>
      <p:sp>
        <p:nvSpPr>
          <p:cNvPr id="9" name="Text 7"/>
          <p:cNvSpPr/>
          <p:nvPr/>
        </p:nvSpPr>
        <p:spPr>
          <a:xfrm>
            <a:off x="2697480" y="3840480"/>
            <a:ext cx="2011680" cy="502920"/>
          </a:xfrm>
          <a:prstGeom prst="rect">
            <a:avLst/>
          </a:prstGeom>
          <a:noFill/>
          <a:ln/>
        </p:spPr>
        <p:txBody>
          <a:bodyPr wrap="square" rtlCol="0" anchor="ctr"/>
          <a:lstStyle/>
          <a:p>
            <a:pPr algn="ctr" indent="0" marL="0">
              <a:buNone/>
            </a:pPr>
            <a:r>
              <a:rPr lang="en-US" sz="850" dirty="0">
                <a:solidFill>
                  <a:srgbClr val="CADCFC"/>
                </a:solidFill>
              </a:rPr>
              <a:t>Spatial rho</a:t>
            </a:r>
            <a:endParaRPr lang="en-US" sz="850" dirty="0"/>
          </a:p>
          <a:p>
            <a:pPr algn="ctr" indent="0" marL="0">
              <a:buNone/>
            </a:pPr>
            <a:r>
              <a:rPr lang="en-US" sz="850" dirty="0">
                <a:solidFill>
                  <a:srgbClr val="CADCFC"/>
                </a:solidFill>
              </a:rPr>
              <a:t>(Neighbourhood</a:t>
            </a:r>
            <a:endParaRPr lang="en-US" sz="850" dirty="0"/>
          </a:p>
          <a:p>
            <a:pPr algn="ctr" indent="0" marL="0">
              <a:buNone/>
            </a:pPr>
            <a:r>
              <a:rPr lang="en-US" sz="850" dirty="0">
                <a:solidFill>
                  <a:srgbClr val="CADCFC"/>
                </a:solidFill>
              </a:rPr>
              <a:t>spillovers)</a:t>
            </a:r>
            <a:endParaRPr lang="en-US" sz="850" dirty="0"/>
          </a:p>
        </p:txBody>
      </p:sp>
      <p:sp>
        <p:nvSpPr>
          <p:cNvPr id="10" name="Text 8"/>
          <p:cNvSpPr/>
          <p:nvPr/>
        </p:nvSpPr>
        <p:spPr>
          <a:xfrm>
            <a:off x="4846320" y="3246120"/>
            <a:ext cx="2011680" cy="594360"/>
          </a:xfrm>
          <a:prstGeom prst="rect">
            <a:avLst/>
          </a:prstGeom>
          <a:noFill/>
          <a:ln/>
        </p:spPr>
        <p:txBody>
          <a:bodyPr wrap="square" rtlCol="0" anchor="ctr"/>
          <a:lstStyle/>
          <a:p>
            <a:pPr algn="ctr" indent="0" marL="0">
              <a:buNone/>
            </a:pPr>
            <a:r>
              <a:rPr lang="en-US" sz="2800" b="1" dirty="0">
                <a:solidFill>
                  <a:srgbClr val="1B7A8A"/>
                </a:solidFill>
              </a:rPr>
              <a:t>2,985</a:t>
            </a:r>
            <a:endParaRPr lang="en-US" sz="2800" dirty="0"/>
          </a:p>
        </p:txBody>
      </p:sp>
      <p:sp>
        <p:nvSpPr>
          <p:cNvPr id="11" name="Text 9"/>
          <p:cNvSpPr/>
          <p:nvPr/>
        </p:nvSpPr>
        <p:spPr>
          <a:xfrm>
            <a:off x="4846320" y="3840480"/>
            <a:ext cx="2011680" cy="502920"/>
          </a:xfrm>
          <a:prstGeom prst="rect">
            <a:avLst/>
          </a:prstGeom>
          <a:noFill/>
          <a:ln/>
        </p:spPr>
        <p:txBody>
          <a:bodyPr wrap="square" rtlCol="0" anchor="ctr"/>
          <a:lstStyle/>
          <a:p>
            <a:pPr algn="ctr" indent="0" marL="0">
              <a:buNone/>
            </a:pPr>
            <a:r>
              <a:rPr lang="en-US" sz="850" dirty="0">
                <a:solidFill>
                  <a:srgbClr val="CADCFC"/>
                </a:solidFill>
              </a:rPr>
              <a:t>AIC improvement</a:t>
            </a:r>
            <a:endParaRPr lang="en-US" sz="850" dirty="0"/>
          </a:p>
          <a:p>
            <a:pPr algn="ctr" indent="0" marL="0">
              <a:buNone/>
            </a:pPr>
            <a:r>
              <a:rPr lang="en-US" sz="850" dirty="0">
                <a:solidFill>
                  <a:srgbClr val="CADCFC"/>
                </a:solidFill>
              </a:rPr>
              <a:t>SLM over OLS</a:t>
            </a:r>
            <a:endParaRPr lang="en-US" sz="850" dirty="0"/>
          </a:p>
        </p:txBody>
      </p:sp>
      <p:sp>
        <p:nvSpPr>
          <p:cNvPr id="12" name="Text 10"/>
          <p:cNvSpPr/>
          <p:nvPr/>
        </p:nvSpPr>
        <p:spPr>
          <a:xfrm>
            <a:off x="6995160" y="3246120"/>
            <a:ext cx="2011680" cy="594360"/>
          </a:xfrm>
          <a:prstGeom prst="rect">
            <a:avLst/>
          </a:prstGeom>
          <a:noFill/>
          <a:ln/>
        </p:spPr>
        <p:txBody>
          <a:bodyPr wrap="square" rtlCol="0" anchor="ctr"/>
          <a:lstStyle/>
          <a:p>
            <a:pPr algn="ctr" indent="0" marL="0">
              <a:buNone/>
            </a:pPr>
            <a:r>
              <a:rPr lang="en-US" sz="2800" b="1" dirty="0">
                <a:solidFill>
                  <a:srgbClr val="1B7A8A"/>
                </a:solidFill>
              </a:rPr>
              <a:t>0.762</a:t>
            </a:r>
            <a:endParaRPr lang="en-US" sz="2800" dirty="0"/>
          </a:p>
        </p:txBody>
      </p:sp>
      <p:sp>
        <p:nvSpPr>
          <p:cNvPr id="13" name="Text 11"/>
          <p:cNvSpPr/>
          <p:nvPr/>
        </p:nvSpPr>
        <p:spPr>
          <a:xfrm>
            <a:off x="6995160" y="3840480"/>
            <a:ext cx="2011680" cy="502920"/>
          </a:xfrm>
          <a:prstGeom prst="rect">
            <a:avLst/>
          </a:prstGeom>
          <a:noFill/>
          <a:ln/>
        </p:spPr>
        <p:txBody>
          <a:bodyPr wrap="square" rtlCol="0" anchor="ctr"/>
          <a:lstStyle/>
          <a:p>
            <a:pPr algn="ctr" indent="0" marL="0">
              <a:buNone/>
            </a:pPr>
            <a:r>
              <a:rPr lang="en-US" sz="850" dirty="0">
                <a:solidFill>
                  <a:srgbClr val="CADCFC"/>
                </a:solidFill>
              </a:rPr>
              <a:t>Moran's I</a:t>
            </a:r>
            <a:endParaRPr lang="en-US" sz="850" dirty="0"/>
          </a:p>
          <a:p>
            <a:pPr algn="ctr" indent="0" marL="0">
              <a:buNone/>
            </a:pPr>
            <a:r>
              <a:rPr lang="en-US" sz="850" dirty="0">
                <a:solidFill>
                  <a:srgbClr val="CADCFC"/>
                </a:solidFill>
              </a:rPr>
              <a:t>(house values)</a:t>
            </a:r>
            <a:endParaRPr lang="en-US" sz="850" dirty="0"/>
          </a:p>
        </p:txBody>
      </p:sp>
      <p:sp>
        <p:nvSpPr>
          <p:cNvPr id="14" name="Text 12"/>
          <p:cNvSpPr/>
          <p:nvPr/>
        </p:nvSpPr>
        <p:spPr>
          <a:xfrm>
            <a:off x="548640" y="4645152"/>
            <a:ext cx="8046720" cy="274320"/>
          </a:xfrm>
          <a:prstGeom prst="rect">
            <a:avLst/>
          </a:prstGeom>
          <a:noFill/>
          <a:ln/>
        </p:spPr>
        <p:txBody>
          <a:bodyPr wrap="square" rtlCol="0" anchor="ctr"/>
          <a:lstStyle/>
          <a:p>
            <a:pPr indent="0" marL="0">
              <a:buNone/>
            </a:pPr>
            <a:r>
              <a:rPr lang="en-US" sz="1000" dirty="0">
                <a:solidFill>
                  <a:srgbClr val="CADCFC"/>
                </a:solidFill>
              </a:rPr>
              <a:t>Assumpta Mwikali  ·  Olive Mideva Muloma  ·  Trevor Anjeyo Vuhyah  ·  Valerie Jerono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Linearity</dc:title>
  <dc:subject>PptxGenJS Presentation</dc:subject>
  <dc:creator>Assumpta Mwikali · Olive Mideva Muloma · Trevor Anjeyo Vuhyah · Valerie Jerono</dc:creator>
  <cp:lastModifiedBy>Assumpta Mwikali · Olive Mideva Muloma · Trevor Anjeyo Vuhyah · Valerie Jerono</cp:lastModifiedBy>
  <cp:revision>1</cp:revision>
  <dcterms:created xsi:type="dcterms:W3CDTF">2026-06-05T10:13:32Z</dcterms:created>
  <dcterms:modified xsi:type="dcterms:W3CDTF">2026-06-05T10:13:32Z</dcterms:modified>
</cp:coreProperties>
</file>